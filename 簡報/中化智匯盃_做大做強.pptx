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5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7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0" r:id="rId5"/>
    <p:sldMasterId id="2147483663" r:id="rId6"/>
    <p:sldMasterId id="2147483668" r:id="rId7"/>
    <p:sldMasterId id="2147483680" r:id="rId8"/>
    <p:sldMasterId id="2147483683" r:id="rId9"/>
  </p:sldMasterIdLst>
  <p:notesMasterIdLst>
    <p:notesMasterId r:id="rId10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</p:sldIdLst>
  <p:sldSz cy="6858000" cx="12192000"/>
  <p:notesSz cx="6858000" cy="9144000"/>
  <p:embeddedFontLst>
    <p:embeddedFont>
      <p:font typeface="Noto Sans TC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8" roundtripDataSignature="AMtx7miB+l++veU5FQNUG726CRSOQSL8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10E4BA7-AE0F-41F9-961D-6F09CFF1A3A9}">
  <a:tblStyle styleId="{D10E4BA7-AE0F-41F9-961D-6F09CFF1A3A9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0.xml"/><Relationship Id="rId22" Type="http://schemas.openxmlformats.org/officeDocument/2006/relationships/slide" Target="slides/slide12.xml"/><Relationship Id="rId21" Type="http://schemas.openxmlformats.org/officeDocument/2006/relationships/slide" Target="slides/slide11.xml"/><Relationship Id="rId24" Type="http://schemas.openxmlformats.org/officeDocument/2006/relationships/slide" Target="slides/slide14.xml"/><Relationship Id="rId23" Type="http://schemas.openxmlformats.org/officeDocument/2006/relationships/slide" Target="slides/slide13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26" Type="http://schemas.openxmlformats.org/officeDocument/2006/relationships/font" Target="fonts/NotoSansTC-regular.fntdata"/><Relationship Id="rId25" Type="http://schemas.openxmlformats.org/officeDocument/2006/relationships/slide" Target="slides/slide15.xml"/><Relationship Id="rId28" Type="http://customschemas.google.com/relationships/presentationmetadata" Target="metadata"/><Relationship Id="rId27" Type="http://schemas.openxmlformats.org/officeDocument/2006/relationships/font" Target="fonts/NotoSansTC-bold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11" Type="http://schemas.openxmlformats.org/officeDocument/2006/relationships/slide" Target="slides/slide1.xml"/><Relationship Id="rId10" Type="http://schemas.openxmlformats.org/officeDocument/2006/relationships/notesMaster" Target="notesMasters/notesMaster1.xml"/><Relationship Id="rId13" Type="http://schemas.openxmlformats.org/officeDocument/2006/relationships/slide" Target="slides/slide3.xml"/><Relationship Id="rId12" Type="http://schemas.openxmlformats.org/officeDocument/2006/relationships/slide" Target="slides/slide2.xml"/><Relationship Id="rId15" Type="http://schemas.openxmlformats.org/officeDocument/2006/relationships/slide" Target="slides/slide5.xml"/><Relationship Id="rId14" Type="http://schemas.openxmlformats.org/officeDocument/2006/relationships/slide" Target="slides/slide4.xml"/><Relationship Id="rId17" Type="http://schemas.openxmlformats.org/officeDocument/2006/relationships/slide" Target="slides/slide7.xml"/><Relationship Id="rId16" Type="http://schemas.openxmlformats.org/officeDocument/2006/relationships/slide" Target="slides/slide6.xml"/><Relationship Id="rId19" Type="http://schemas.openxmlformats.org/officeDocument/2006/relationships/slide" Target="slides/slide9.xml"/><Relationship Id="rId18" Type="http://schemas.openxmlformats.org/officeDocument/2006/relationships/slide" Target="slides/slide8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9" name="Google Shape;189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h7efd045f0b640493_4_4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h7efd045f0b640493_4_4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4" name="Google Shape;194;h7efd045f0b640493_4_4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zh-TW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h7efd045f0b640493_12_26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h7efd045f0b640493_12_26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1" name="Google Shape;211;h7efd045f0b640493_12_26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zh-TW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h7efd045f0b640493_12_50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h7efd045f0b640493_12_5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7" name="Google Shape;237;h7efd045f0b640493_12_50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zh-TW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h7efd045f0b640493_12_60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h7efd045f0b640493_12_6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7" name="Google Shape;247;h7efd045f0b640493_12_60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zh-TW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h3723bf8c3e55f109_3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h3723bf8c3e55f109_3_7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h3a2b7a9f0de5890c_3_9:notes"/>
          <p:cNvSpPr/>
          <p:nvPr>
            <p:ph idx="2" type="sldImg"/>
          </p:nvPr>
        </p:nvSpPr>
        <p:spPr>
          <a:xfrm>
            <a:off x="1371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h3a2b7a9f0de5890c_3_9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3" name="Google Shape;333;h3a2b7a9f0de5890c_3_9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zh-TW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h7efd045f0b640493_12_126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4" name="Google Shape;344;h7efd045f0b640493_12_126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5" name="Google Shape;345;h7efd045f0b640493_12_126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zh-TW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h7efd045f0b640493_12_140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5" name="Google Shape;355;h7efd045f0b640493_12_14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6" name="Google Shape;356;h7efd045f0b640493_12_140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zh-TW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h4bebd347a54beacf_9_5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9" name="Google Shape;419;h4bebd347a54beacf_9_5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長期紀錄共 18 項，挑的都是飼主在家看得到、點一下就能記完的狀況，不需要醫療知識。免費版 8 項是每天的基礎：體重、飲食、喝水、排便、排尿、精神狀況（5 級）、餵藥狀況、異常狀況。黃金版再加 5 項身體細項，共 13 項：嘔吐、皮膚、口腔、眼鼻、耳朵。白金版再加 5 項活動與照護，共 18 項：四肢、散步、美容洗澡、看診後恢復、照片記錄。</a:t>
            </a:r>
            <a:endParaRPr/>
          </a:p>
        </p:txBody>
      </p:sp>
      <p:sp>
        <p:nvSpPr>
          <p:cNvPr id="420" name="Google Shape;420;h4bebd347a54beacf_9_5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h7efd045f0b640493_12_20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9" name="Google Shape;519;h7efd045f0b640493_12_20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0" name="Google Shape;520;h7efd045f0b640493_12_20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zh-TW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h7efd045f0b640493_12_233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9" name="Google Shape;549;h7efd045f0b640493_12_233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TW"/>
              <a:t>https://doi.org/10.1177/1098612X221083752</a:t>
            </a:r>
            <a:endParaRPr/>
          </a:p>
        </p:txBody>
      </p:sp>
      <p:sp>
        <p:nvSpPr>
          <p:cNvPr id="550" name="Google Shape;550;h7efd045f0b640493_12_233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zh-TW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h7efd045f0b640493_12_257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4" name="Google Shape;574;h7efd045f0b640493_12_257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5" name="Google Shape;575;h7efd045f0b640493_12_257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zh-TW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h7efd045f0b640493_12_337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4" name="Google Shape;654;h7efd045f0b640493_12_337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55" name="Google Shape;655;h7efd045f0b640493_12_337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zh-TW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h7efd045f0b640493_12_385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4" name="Google Shape;704;h7efd045f0b640493_12_385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05" name="Google Shape;705;h7efd045f0b640493_12_385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zh-TW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jp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jp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jp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jp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jp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jp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Georgia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5" name="Google Shape;15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內容" type="obj">
  <p:cSld name="OBJEC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標題" type="secHead">
  <p:cSld name="SECTION_HEADER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Georgia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7" name="Google Shape;27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個內容" type="twoObj">
  <p:cSld name="TWO_OBJECT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 type="twoTxTwoObj">
  <p:cSld name="TWO_OBJECTS_WITH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0" name="Google Shape;40;p2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2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2" name="Google Shape;42;p2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內容" type="objTx">
  <p:cSld name="OBJECT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eorgia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8" name="Google Shape;58;p2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9" name="Google Shape;59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圖片" type="picTx">
  <p:cSld name="PICTURE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eorgia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2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6" name="Google Shape;66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_FRAME">
  <p:cSld name="COVER_FRAME">
    <p:bg>
      <p:bgPr>
        <a:solidFill>
          <a:srgbClr val="FFFFFF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h7efd045f0b640493_4_1"/>
          <p:cNvSpPr txBox="1"/>
          <p:nvPr>
            <p:ph type="title"/>
          </p:nvPr>
        </p:nvSpPr>
        <p:spPr>
          <a:xfrm>
            <a:off x="1325880" y="1938528"/>
            <a:ext cx="576072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420"/>
              </a:buClr>
              <a:buSzPts val="5200"/>
              <a:buFont typeface="Noto Sans TC"/>
              <a:buNone/>
              <a:defRPr b="1" i="0" sz="5200" u="none" cap="none" strike="noStrike">
                <a:solidFill>
                  <a:srgbClr val="2B2420"/>
                </a:solidFill>
                <a:latin typeface="Noto Sans TC"/>
                <a:ea typeface="Noto Sans TC"/>
                <a:cs typeface="Noto Sans TC"/>
                <a:sym typeface="Noto Sans T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RAME_CONTENT">
  <p:cSld name="FRAME_CONTENT">
    <p:bg>
      <p:bgPr>
        <a:solidFill>
          <a:srgbClr val="F8F5F0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chchou\AppData\Local\Temp\claude\D------claude-code-----\1146ac34-e0b7-42eb-9b31-cb0095b690e6\scratchpad\cost_pptx\frame_beige.jpg" id="87" name="Google Shape;87;h7efd045f0b640493_12_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695" cy="6870802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h7efd045f0b640493_12_4"/>
          <p:cNvSpPr txBox="1"/>
          <p:nvPr>
            <p:ph idx="1" type="body"/>
          </p:nvPr>
        </p:nvSpPr>
        <p:spPr>
          <a:xfrm>
            <a:off x="1325880" y="804672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5"/>
                </a:solidFill>
                <a:latin typeface="Noto Sans TC"/>
                <a:ea typeface="Noto Sans TC"/>
                <a:cs typeface="Noto Sans TC"/>
                <a:sym typeface="Noto Sans TC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defRPr>
            </a:lvl9pPr>
          </a:lstStyle>
          <a:p/>
        </p:txBody>
      </p:sp>
      <p:sp>
        <p:nvSpPr>
          <p:cNvPr id="89" name="Google Shape;89;h7efd045f0b640493_12_4"/>
          <p:cNvSpPr txBox="1"/>
          <p:nvPr>
            <p:ph type="title"/>
          </p:nvPr>
        </p:nvSpPr>
        <p:spPr>
          <a:xfrm>
            <a:off x="1325880" y="1097280"/>
            <a:ext cx="95097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TC"/>
              <a:buNone/>
              <a:defRPr b="1" i="0" sz="28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RAME_BLANK">
  <p:cSld name="FRAME_BLANK">
    <p:bg>
      <p:bgPr>
        <a:solidFill>
          <a:srgbClr val="F8F5F0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chchou\AppData\Local\Temp\claude\D------claude-code-----\1146ac34-e0b7-42eb-9b31-cb0095b690e6\scratchpad\cost_pptx\frame_beige.jpg" id="91" name="Google Shape;91;h7efd045f0b640493_12_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695" cy="68708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RAME_COVER">
  <p:cSld name="FRAME_COVER">
    <p:bg>
      <p:bgPr>
        <a:solidFill>
          <a:srgbClr val="F8F5F0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chchou\AppData\Local\Temp\claude\D------claude-code-----\1146ac34-e0b7-42eb-9b31-cb0095b690e6\scratchpad\cost_pptx\frame_beige.jpg" id="93" name="Google Shape;93;h7efd045f0b640493_12_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695" cy="6870802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h7efd045f0b640493_12_1"/>
          <p:cNvSpPr txBox="1"/>
          <p:nvPr>
            <p:ph type="title"/>
          </p:nvPr>
        </p:nvSpPr>
        <p:spPr>
          <a:xfrm>
            <a:off x="1325880" y="1938528"/>
            <a:ext cx="576072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Noto Sans TC"/>
              <a:buNone/>
              <a:defRPr b="1" i="0" sz="52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內容" type="obj">
  <p:cSld name="OBJEC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h3723bf8c3e55f109_3_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h3723bf8c3e55f109_3_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6" name="Google Shape;106;h3723bf8c3e55f109_3_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h3723bf8c3e55f109_3_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h3723bf8c3e55f109_3_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type="title">
  <p:cSld name="TITLE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h3723bf8c3e55f109_3_1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h3723bf8c3e55f109_3_1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12" name="Google Shape;112;h3723bf8c3e55f109_3_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h3723bf8c3e55f109_3_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h3723bf8c3e55f109_3_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15" name="Google Shape;115;h3723bf8c3e55f109_3_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709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標題" type="secHead">
  <p:cSld name="SECTION_HEADER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h3723bf8c3e55f109_3_2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h3723bf8c3e55f109_3_2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9" name="Google Shape;119;h3723bf8c3e55f109_3_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h3723bf8c3e55f109_3_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h3723bf8c3e55f109_3_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個內容" type="twoObj">
  <p:cSld name="TWO_OBJECTS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h3723bf8c3e55f109_3_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h3723bf8c3e55f109_3_2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h3723bf8c3e55f109_3_2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h3723bf8c3e55f109_3_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h3723bf8c3e55f109_3_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h3723bf8c3e55f109_3_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 type="twoTxTwoObj">
  <p:cSld name="TWO_OBJECTS_WITH_TEX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h3723bf8c3e55f109_3_3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h3723bf8c3e55f109_3_3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32" name="Google Shape;132;h3723bf8c3e55f109_3_33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3" name="Google Shape;133;h3723bf8c3e55f109_3_3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34" name="Google Shape;134;h3723bf8c3e55f109_3_33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5" name="Google Shape;135;h3723bf8c3e55f109_3_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h3723bf8c3e55f109_3_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h3723bf8c3e55f109_3_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h3723bf8c3e55f109_3_4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h3723bf8c3e55f109_3_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h3723bf8c3e55f109_3_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h3723bf8c3e55f109_3_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h3723bf8c3e55f109_3_4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h3723bf8c3e55f109_3_4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h3723bf8c3e55f109_3_4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內容" type="objTx">
  <p:cSld name="OBJECT_WITH_CAPTION_TEXT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h3723bf8c3e55f109_3_5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h3723bf8c3e55f109_3_5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50" name="Google Shape;150;h3723bf8c3e55f109_3_5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51" name="Google Shape;151;h3723bf8c3e55f109_3_5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h3723bf8c3e55f109_3_5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h3723bf8c3e55f109_3_5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圖片" type="picTx">
  <p:cSld name="PICTURE_WITH_CAPTION_TEXT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h3723bf8c3e55f109_3_5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h3723bf8c3e55f109_3_5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57" name="Google Shape;157;h3723bf8c3e55f109_3_5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58" name="Google Shape;158;h3723bf8c3e55f109_3_5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h3723bf8c3e55f109_3_5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h3723bf8c3e55f109_3_5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h3723bf8c3e55f109_3_6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h3723bf8c3e55f109_3_6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4" name="Google Shape;164;h3723bf8c3e55f109_3_6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h3723bf8c3e55f109_3_6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h3723bf8c3e55f109_3_6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>
  <p:cSld name="直排標題及文字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h3723bf8c3e55f109_3_71"/>
          <p:cNvSpPr txBox="1"/>
          <p:nvPr>
            <p:ph type="title"/>
          </p:nvPr>
        </p:nvSpPr>
        <p:spPr>
          <a:xfrm rot="5400000">
            <a:off x="5433219" y="-4229893"/>
            <a:ext cx="1325563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h3723bf8c3e55f109_3_71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0" name="Google Shape;170;h3723bf8c3e55f109_3_7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h3723bf8c3e55f109_3_7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h3723bf8c3e55f109_3_7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RAME_CONTENT">
  <p:cSld name="FRAME_CONTENT">
    <p:bg>
      <p:bgPr>
        <a:solidFill>
          <a:srgbClr val="F8F5F0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h4bebd347a54beacf_9_1"/>
          <p:cNvSpPr txBox="1"/>
          <p:nvPr>
            <p:ph idx="1" type="body"/>
          </p:nvPr>
        </p:nvSpPr>
        <p:spPr>
          <a:xfrm>
            <a:off x="1325880" y="804672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40"/>
              </a:spcBef>
              <a:spcAft>
                <a:spcPts val="0"/>
              </a:spcAft>
              <a:buClr>
                <a:srgbClr val="B4572C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B4572C"/>
                </a:solidFill>
                <a:latin typeface="Noto Sans TC"/>
                <a:ea typeface="Noto Sans TC"/>
                <a:cs typeface="Noto Sans TC"/>
                <a:sym typeface="Noto Sans TC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defRPr>
            </a:lvl9pPr>
          </a:lstStyle>
          <a:p/>
        </p:txBody>
      </p:sp>
      <p:sp>
        <p:nvSpPr>
          <p:cNvPr id="176" name="Google Shape;176;h4bebd347a54beacf_9_1"/>
          <p:cNvSpPr txBox="1"/>
          <p:nvPr>
            <p:ph type="title"/>
          </p:nvPr>
        </p:nvSpPr>
        <p:spPr>
          <a:xfrm>
            <a:off x="1325880" y="1097280"/>
            <a:ext cx="95097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B2420"/>
              </a:buClr>
              <a:buSzPts val="2800"/>
              <a:buFont typeface="Noto Sans TC"/>
              <a:buNone/>
              <a:defRPr b="1" i="0" sz="2800" u="none" cap="none" strike="noStrike">
                <a:solidFill>
                  <a:srgbClr val="2B2420"/>
                </a:solidFill>
                <a:latin typeface="Noto Sans TC"/>
                <a:ea typeface="Noto Sans TC"/>
                <a:cs typeface="Noto Sans TC"/>
                <a:sym typeface="Noto Sans T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RAME_CONTENT">
  <p:cSld name="FRAME_CONTENT">
    <p:bg>
      <p:bgPr>
        <a:solidFill>
          <a:srgbClr val="F8F5F0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chchou\AppData\Local\Temp\claude\D------claude-code-----\1146ac34-e0b7-42eb-9b31-cb0095b690e6\scratchpad\cost_pptx\frame_beige.jpg" id="180" name="Google Shape;180;h3a2b7a9f0de5890c_3_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695" cy="6870802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h3a2b7a9f0de5890c_3_1"/>
          <p:cNvSpPr txBox="1"/>
          <p:nvPr>
            <p:ph idx="1" type="body"/>
          </p:nvPr>
        </p:nvSpPr>
        <p:spPr>
          <a:xfrm>
            <a:off x="1325880" y="804672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5"/>
                </a:solidFill>
                <a:latin typeface="Noto Sans TC"/>
                <a:ea typeface="Noto Sans TC"/>
                <a:cs typeface="Noto Sans TC"/>
                <a:sym typeface="Noto Sans TC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defRPr>
            </a:lvl9pPr>
          </a:lstStyle>
          <a:p/>
        </p:txBody>
      </p:sp>
      <p:sp>
        <p:nvSpPr>
          <p:cNvPr id="182" name="Google Shape;182;h3a2b7a9f0de5890c_3_1"/>
          <p:cNvSpPr txBox="1"/>
          <p:nvPr>
            <p:ph type="title"/>
          </p:nvPr>
        </p:nvSpPr>
        <p:spPr>
          <a:xfrm>
            <a:off x="1325880" y="1097280"/>
            <a:ext cx="95097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TC"/>
              <a:buNone/>
              <a:defRPr b="1" i="0" sz="28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RAME_COVER">
  <p:cSld name="FRAME_COVER">
    <p:bg>
      <p:bgPr>
        <a:solidFill>
          <a:srgbClr val="F8F5F0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chchou\AppData\Local\Temp\claude\D------claude-code-----\1146ac34-e0b7-42eb-9b31-cb0095b690e6\scratchpad\cost_pptx\frame_beige.jpg" id="184" name="Google Shape;184;h3a2b7a9f0de5890c_3_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695" cy="6870802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h3a2b7a9f0de5890c_3_5"/>
          <p:cNvSpPr txBox="1"/>
          <p:nvPr>
            <p:ph type="title"/>
          </p:nvPr>
        </p:nvSpPr>
        <p:spPr>
          <a:xfrm>
            <a:off x="1325880" y="1938528"/>
            <a:ext cx="576072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Noto Sans TC"/>
              <a:buNone/>
              <a:defRPr b="1" i="0" sz="52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theme" Target="../theme/theme3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theme" Target="../theme/theme4.xml"/></Relationships>
</file>

<file path=ppt/slideMasters/_rels/slideMaster4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6.xml"/><Relationship Id="rId13" Type="http://schemas.openxmlformats.org/officeDocument/2006/relationships/theme" Target="../theme/theme5.xml"/><Relationship Id="rId12" Type="http://schemas.openxmlformats.org/officeDocument/2006/relationships/slideLayout" Target="../slideLayouts/slideLayout28.xml"/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9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4.xml"/></Relationships>
</file>

<file path=ppt/slideMasters/_rels/slideMaster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theme" Target="../theme/theme7.xml"/></Relationships>
</file>

<file path=ppt/slideMasters/_rels/slideMaster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slideLayout" Target="../slideLayouts/slideLayout32.xml"/><Relationship Id="rId3" Type="http://schemas.openxmlformats.org/officeDocument/2006/relationships/slideLayout" Target="../slideLayouts/slideLayout33.xml"/><Relationship Id="rId4" Type="http://schemas.openxmlformats.org/officeDocument/2006/relationships/theme" Target="../theme/theme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eorgia"/>
              <a:buNone/>
              <a:defRPr b="0" i="0" sz="4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/>
        </p:txBody>
      </p:sp>
      <p:sp>
        <p:nvSpPr>
          <p:cNvPr id="8" name="Google Shape;8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/>
        </p:txBody>
      </p:sp>
      <p:sp>
        <p:nvSpPr>
          <p:cNvPr id="9" name="Google Shape;9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/>
        </p:txBody>
      </p:sp>
      <p:sp>
        <p:nvSpPr>
          <p:cNvPr id="10" name="Google Shape;10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1" name="Google Shape;11;p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23008" y="0"/>
            <a:ext cx="12168992" cy="6858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64" r:id="rId1"/>
    <p:sldLayoutId id="2147483665" r:id="rId2"/>
    <p:sldLayoutId id="2147483666" r:id="rId3"/>
    <p:sldLayoutId id="2147483667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h3723bf8c3e55f109_3_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8" name="Google Shape;98;h3723bf8c3e55f109_3_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9" name="Google Shape;99;h3723bf8c3e55f109_3_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0" name="Google Shape;100;h3723bf8c3e55f109_3_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1" name="Google Shape;101;h3723bf8c3e55f109_3_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02" name="Google Shape;102;h3723bf8c3e55f109_3_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-6483"/>
            <a:ext cx="12180496" cy="6864483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81" r:id="rId1"/>
    <p:sldLayoutId id="2147483682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84" r:id="rId1"/>
    <p:sldLayoutId id="2147483685" r:id="rId2"/>
    <p:sldLayoutId id="2147483686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9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5.png"/><Relationship Id="rId8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0.jpg"/><Relationship Id="rId4" Type="http://schemas.openxmlformats.org/officeDocument/2006/relationships/image" Target="../media/image48.jpg"/></Relationships>
</file>

<file path=ppt/slides/_rels/slide9.xml.rels><?xml version="1.0" encoding="UTF-8" standalone="yes"?><Relationships xmlns="http://schemas.openxmlformats.org/package/2006/relationships"><Relationship Id="rId11" Type="http://schemas.openxmlformats.org/officeDocument/2006/relationships/image" Target="../media/image22.png"/><Relationship Id="rId10" Type="http://schemas.openxmlformats.org/officeDocument/2006/relationships/image" Target="../media/image21.png"/><Relationship Id="rId13" Type="http://schemas.openxmlformats.org/officeDocument/2006/relationships/image" Target="../media/image23.png"/><Relationship Id="rId12" Type="http://schemas.openxmlformats.org/officeDocument/2006/relationships/image" Target="../media/image25.png"/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9" Type="http://schemas.openxmlformats.org/officeDocument/2006/relationships/image" Target="../media/image20.png"/><Relationship Id="rId15" Type="http://schemas.openxmlformats.org/officeDocument/2006/relationships/image" Target="../media/image39.png"/><Relationship Id="rId14" Type="http://schemas.openxmlformats.org/officeDocument/2006/relationships/image" Target="../media/image24.png"/><Relationship Id="rId17" Type="http://schemas.openxmlformats.org/officeDocument/2006/relationships/image" Target="../media/image27.png"/><Relationship Id="rId16" Type="http://schemas.openxmlformats.org/officeDocument/2006/relationships/image" Target="../media/image26.png"/><Relationship Id="rId5" Type="http://schemas.openxmlformats.org/officeDocument/2006/relationships/image" Target="../media/image16.png"/><Relationship Id="rId6" Type="http://schemas.openxmlformats.org/officeDocument/2006/relationships/image" Target="../media/image18.png"/><Relationship Id="rId18" Type="http://schemas.openxmlformats.org/officeDocument/2006/relationships/image" Target="../media/image28.png"/><Relationship Id="rId7" Type="http://schemas.openxmlformats.org/officeDocument/2006/relationships/image" Target="../media/image19.png"/><Relationship Id="rId8" Type="http://schemas.openxmlformats.org/officeDocument/2006/relationships/image" Target="../media/image36.png"/></Relationships>
</file>

<file path=ppt/slides/_rels/slide10.xml.rels><?xml version="1.0" encoding="UTF-8" standalone="yes"?><Relationships xmlns="http://schemas.openxmlformats.org/package/2006/relationships"><Relationship Id="rId20" Type="http://schemas.openxmlformats.org/officeDocument/2006/relationships/image" Target="../media/image44.png"/><Relationship Id="rId11" Type="http://schemas.openxmlformats.org/officeDocument/2006/relationships/image" Target="../media/image35.png"/><Relationship Id="rId22" Type="http://schemas.openxmlformats.org/officeDocument/2006/relationships/image" Target="../media/image47.png"/><Relationship Id="rId10" Type="http://schemas.openxmlformats.org/officeDocument/2006/relationships/image" Target="../media/image55.png"/><Relationship Id="rId21" Type="http://schemas.openxmlformats.org/officeDocument/2006/relationships/image" Target="../media/image45.png"/><Relationship Id="rId13" Type="http://schemas.openxmlformats.org/officeDocument/2006/relationships/image" Target="../media/image40.png"/><Relationship Id="rId12" Type="http://schemas.openxmlformats.org/officeDocument/2006/relationships/image" Target="../media/image41.png"/><Relationship Id="rId23" Type="http://schemas.openxmlformats.org/officeDocument/2006/relationships/image" Target="../media/image69.png"/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Relationship Id="rId4" Type="http://schemas.openxmlformats.org/officeDocument/2006/relationships/image" Target="../media/image66.png"/><Relationship Id="rId9" Type="http://schemas.openxmlformats.org/officeDocument/2006/relationships/image" Target="../media/image34.png"/><Relationship Id="rId15" Type="http://schemas.openxmlformats.org/officeDocument/2006/relationships/image" Target="../media/image37.png"/><Relationship Id="rId14" Type="http://schemas.openxmlformats.org/officeDocument/2006/relationships/image" Target="../media/image38.png"/><Relationship Id="rId17" Type="http://schemas.openxmlformats.org/officeDocument/2006/relationships/image" Target="../media/image42.png"/><Relationship Id="rId16" Type="http://schemas.openxmlformats.org/officeDocument/2006/relationships/image" Target="../media/image68.png"/><Relationship Id="rId5" Type="http://schemas.openxmlformats.org/officeDocument/2006/relationships/image" Target="../media/image31.png"/><Relationship Id="rId19" Type="http://schemas.openxmlformats.org/officeDocument/2006/relationships/image" Target="../media/image46.png"/><Relationship Id="rId6" Type="http://schemas.openxmlformats.org/officeDocument/2006/relationships/image" Target="../media/image30.png"/><Relationship Id="rId18" Type="http://schemas.openxmlformats.org/officeDocument/2006/relationships/image" Target="../media/image43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9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3.png"/><Relationship Id="rId4" Type="http://schemas.openxmlformats.org/officeDocument/2006/relationships/image" Target="../media/image70.png"/><Relationship Id="rId5" Type="http://schemas.openxmlformats.org/officeDocument/2006/relationships/hyperlink" Target="https://journals.sagepub.com/doi/10.1177/1098612X221083752" TargetMode="External"/><Relationship Id="rId6" Type="http://schemas.openxmlformats.org/officeDocument/2006/relationships/image" Target="../media/image54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6.png"/><Relationship Id="rId4" Type="http://schemas.openxmlformats.org/officeDocument/2006/relationships/image" Target="../media/image57.png"/><Relationship Id="rId5" Type="http://schemas.openxmlformats.org/officeDocument/2006/relationships/image" Target="../media/image58.png"/><Relationship Id="rId6" Type="http://schemas.openxmlformats.org/officeDocument/2006/relationships/image" Target="../media/image64.png"/><Relationship Id="rId7" Type="http://schemas.openxmlformats.org/officeDocument/2006/relationships/image" Target="../media/image62.png"/><Relationship Id="rId8" Type="http://schemas.openxmlformats.org/officeDocument/2006/relationships/image" Target="../media/image5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1.png"/><Relationship Id="rId4" Type="http://schemas.openxmlformats.org/officeDocument/2006/relationships/image" Target="../media/image71.png"/><Relationship Id="rId5" Type="http://schemas.openxmlformats.org/officeDocument/2006/relationships/image" Target="../media/image63.png"/><Relationship Id="rId6" Type="http://schemas.openxmlformats.org/officeDocument/2006/relationships/image" Target="../media/image65.png"/><Relationship Id="rId7" Type="http://schemas.openxmlformats.org/officeDocument/2006/relationships/image" Target="../media/image7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0.png"/><Relationship Id="rId4" Type="http://schemas.openxmlformats.org/officeDocument/2006/relationships/image" Target="../media/image6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chchou\AppData\Local\Temp\claude\D------claude-code-----\1146ac34-e0b7-42eb-9b31-cb0095b690e6\scratchpad\cost_pptx\frame.jpg" id="196" name="Google Shape;196;h7efd045f0b640493_4_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70802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h7efd045f0b640493_4_4"/>
          <p:cNvSpPr/>
          <p:nvPr/>
        </p:nvSpPr>
        <p:spPr>
          <a:xfrm>
            <a:off x="7269480" y="1371600"/>
            <a:ext cx="4297680" cy="4297680"/>
          </a:xfrm>
          <a:prstGeom prst="ellipse">
            <a:avLst/>
          </a:prstGeom>
          <a:solidFill>
            <a:srgbClr val="F6E3D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h7efd045f0b640493_4_4"/>
          <p:cNvSpPr/>
          <p:nvPr/>
        </p:nvSpPr>
        <p:spPr>
          <a:xfrm>
            <a:off x="10515600" y="4526280"/>
            <a:ext cx="960120" cy="960120"/>
          </a:xfrm>
          <a:prstGeom prst="ellipse">
            <a:avLst/>
          </a:prstGeom>
          <a:solidFill>
            <a:srgbClr val="D9774A">
              <a:alpha val="6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pp 畫面：就診前摘要" id="199" name="Google Shape;199;h7efd045f0b640493_4_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61120" y="914400"/>
            <a:ext cx="2286000" cy="44026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pp 畫面：AI 紀錄助理對話" id="200" name="Google Shape;200;h7efd045f0b640493_4_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89520" y="1481328"/>
            <a:ext cx="2286000" cy="4402667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h7efd045f0b640493_4_4"/>
          <p:cNvSpPr txBox="1"/>
          <p:nvPr/>
        </p:nvSpPr>
        <p:spPr>
          <a:xfrm>
            <a:off x="1325880" y="1481328"/>
            <a:ext cx="57607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572C"/>
              </a:buClr>
              <a:buSzPts val="1400"/>
              <a:buFont typeface="Noto Sans TC"/>
              <a:buNone/>
            </a:pPr>
            <a:r>
              <a:rPr b="1" i="0" lang="zh-TW" sz="1400" u="none" cap="none" strike="noStrike">
                <a:solidFill>
                  <a:srgbClr val="B4572C"/>
                </a:solidFill>
                <a:latin typeface="Noto Sans TC"/>
                <a:ea typeface="Noto Sans TC"/>
                <a:cs typeface="Noto Sans TC"/>
                <a:sym typeface="Noto Sans TC"/>
              </a:rPr>
              <a:t>中化智匯盃 · 提案簡報  提案小組 : 做大做強</a:t>
            </a:r>
            <a:endParaRPr b="0" i="0" sz="14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202" name="Google Shape;202;h7efd045f0b640493_4_4"/>
          <p:cNvSpPr txBox="1"/>
          <p:nvPr>
            <p:ph type="title"/>
          </p:nvPr>
        </p:nvSpPr>
        <p:spPr>
          <a:xfrm>
            <a:off x="1325880" y="1938528"/>
            <a:ext cx="576072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420"/>
              </a:buClr>
              <a:buSzPts val="5200"/>
              <a:buFont typeface="Noto Sans TC"/>
              <a:buNone/>
            </a:pPr>
            <a:r>
              <a:rPr b="1" lang="zh-TW" sz="5200">
                <a:solidFill>
                  <a:srgbClr val="2B2420"/>
                </a:solidFill>
              </a:rPr>
              <a:t>中化動藥</a:t>
            </a:r>
            <a:endParaRPr sz="5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5200"/>
              <a:buFont typeface="Noto Sans TC"/>
              <a:buNone/>
            </a:pPr>
            <a:r>
              <a:rPr b="1" lang="zh-TW" sz="5200">
                <a:solidFill>
                  <a:srgbClr val="C2410C"/>
                </a:solidFill>
              </a:rPr>
              <a:t>AI 問診紀錄助理</a:t>
            </a:r>
            <a:endParaRPr sz="5200"/>
          </a:p>
        </p:txBody>
      </p:sp>
      <p:sp>
        <p:nvSpPr>
          <p:cNvPr id="203" name="Google Shape;203;h7efd045f0b640493_4_4"/>
          <p:cNvSpPr/>
          <p:nvPr/>
        </p:nvSpPr>
        <p:spPr>
          <a:xfrm>
            <a:off x="1325880" y="3840480"/>
            <a:ext cx="822960" cy="64008"/>
          </a:xfrm>
          <a:prstGeom prst="rect">
            <a:avLst/>
          </a:prstGeom>
          <a:solidFill>
            <a:srgbClr val="D977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h7efd045f0b640493_4_4"/>
          <p:cNvSpPr txBox="1"/>
          <p:nvPr/>
        </p:nvSpPr>
        <p:spPr>
          <a:xfrm>
            <a:off x="1325880" y="4069080"/>
            <a:ext cx="5760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44C"/>
              </a:buClr>
              <a:buSzPts val="2000"/>
              <a:buFont typeface="Noto Sans TC"/>
              <a:buNone/>
            </a:pPr>
            <a:r>
              <a:rPr b="0" i="0" lang="zh-TW" sz="2000" u="none" cap="none" strike="noStrike">
                <a:solidFill>
                  <a:srgbClr val="5E544C"/>
                </a:solidFill>
                <a:latin typeface="Noto Sans TC"/>
                <a:ea typeface="Noto Sans TC"/>
                <a:cs typeface="Noto Sans TC"/>
                <a:sym typeface="Noto Sans TC"/>
              </a:rPr>
              <a:t>幫飼主把話講清楚，把判斷交還給獸醫</a:t>
            </a:r>
            <a:endParaRPr b="0" i="0" sz="20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cxnSp>
        <p:nvCxnSpPr>
          <p:cNvPr id="205" name="Google Shape;205;h7efd045f0b640493_4_4"/>
          <p:cNvCxnSpPr/>
          <p:nvPr/>
        </p:nvCxnSpPr>
        <p:spPr>
          <a:xfrm>
            <a:off x="1325880" y="5074920"/>
            <a:ext cx="5120640" cy="0"/>
          </a:xfrm>
          <a:prstGeom prst="straightConnector1">
            <a:avLst/>
          </a:prstGeom>
          <a:noFill/>
          <a:ln cap="flat" cmpd="sng" w="12700">
            <a:solidFill>
              <a:srgbClr val="E6DE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6" name="Google Shape;206;h7efd045f0b640493_4_4"/>
          <p:cNvSpPr txBox="1"/>
          <p:nvPr/>
        </p:nvSpPr>
        <p:spPr>
          <a:xfrm>
            <a:off x="1325880" y="5193792"/>
            <a:ext cx="5760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A817A"/>
              </a:buClr>
              <a:buSzPts val="1300"/>
              <a:buFont typeface="Noto Sans TC"/>
              <a:buNone/>
            </a:pPr>
            <a:r>
              <a:rPr b="0" i="0" lang="zh-TW" sz="1300" u="none" cap="none" strike="noStrike">
                <a:solidFill>
                  <a:srgbClr val="8A817A"/>
                </a:solidFill>
                <a:latin typeface="Noto Sans TC"/>
                <a:ea typeface="Noto Sans TC"/>
                <a:cs typeface="Noto Sans TC"/>
                <a:sym typeface="Noto Sans TC"/>
              </a:rPr>
              <a:t>東吳大學 資料科學系｜指導教授 邱嘉豪</a:t>
            </a:r>
            <a:endParaRPr b="0" i="0" sz="13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A817A"/>
              </a:buClr>
              <a:buSzPts val="1300"/>
              <a:buFont typeface="Noto Sans TC"/>
              <a:buNone/>
            </a:pPr>
            <a:r>
              <a:rPr b="0" i="0" lang="zh-TW" sz="1300" u="none" cap="none" strike="noStrike">
                <a:solidFill>
                  <a:srgbClr val="8A817A"/>
                </a:solidFill>
                <a:latin typeface="Noto Sans TC"/>
                <a:ea typeface="Noto Sans TC"/>
                <a:cs typeface="Noto Sans TC"/>
                <a:sym typeface="Noto Sans TC"/>
              </a:rPr>
              <a:t>周子謙・李承叡・林俊宇｜2026.10</a:t>
            </a:r>
            <a:endParaRPr b="0" i="0" sz="13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207" name="Google Shape;207;h7efd045f0b640493_4_4"/>
          <p:cNvSpPr txBox="1"/>
          <p:nvPr/>
        </p:nvSpPr>
        <p:spPr>
          <a:xfrm>
            <a:off x="11475725" y="6276750"/>
            <a:ext cx="38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h7efd045f0b640493_12_26"/>
          <p:cNvSpPr txBox="1"/>
          <p:nvPr>
            <p:ph idx="1" type="body"/>
          </p:nvPr>
        </p:nvSpPr>
        <p:spPr>
          <a:xfrm>
            <a:off x="1325880" y="804672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</a:pPr>
            <a:r>
              <a:rPr b="1" lang="zh-TW" sz="1200">
                <a:solidFill>
                  <a:schemeClr val="accent5"/>
                </a:solidFill>
              </a:rPr>
              <a:t>我們要解決的問題</a:t>
            </a:r>
            <a:endParaRPr sz="1200"/>
          </a:p>
        </p:txBody>
      </p:sp>
      <p:sp>
        <p:nvSpPr>
          <p:cNvPr id="214" name="Google Shape;214;h7efd045f0b640493_12_26"/>
          <p:cNvSpPr txBox="1"/>
          <p:nvPr>
            <p:ph type="title"/>
          </p:nvPr>
        </p:nvSpPr>
        <p:spPr>
          <a:xfrm>
            <a:off x="1325880" y="1097280"/>
            <a:ext cx="95097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TC"/>
              <a:buNone/>
            </a:pPr>
            <a:r>
              <a:rPr b="1" lang="zh-TW" sz="2800">
                <a:solidFill>
                  <a:schemeClr val="dk1"/>
                </a:solidFill>
              </a:rPr>
              <a:t>市場規模</a:t>
            </a:r>
            <a:endParaRPr sz="2800"/>
          </a:p>
        </p:txBody>
      </p:sp>
      <p:sp>
        <p:nvSpPr>
          <p:cNvPr id="215" name="Google Shape;215;h7efd045f0b640493_12_26"/>
          <p:cNvSpPr/>
          <p:nvPr/>
        </p:nvSpPr>
        <p:spPr>
          <a:xfrm>
            <a:off x="7255368" y="1795778"/>
            <a:ext cx="1887300" cy="1737900"/>
          </a:xfrm>
          <a:prstGeom prst="roundRect">
            <a:avLst>
              <a:gd fmla="val 5430" name="adj"/>
            </a:avLst>
          </a:prstGeom>
          <a:solidFill>
            <a:srgbClr val="FFFDFA"/>
          </a:solidFill>
          <a:ln cap="flat" cmpd="sng" w="12700">
            <a:solidFill>
              <a:srgbClr val="E6DE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h7efd045f0b640493_12_26"/>
          <p:cNvSpPr txBox="1"/>
          <p:nvPr/>
        </p:nvSpPr>
        <p:spPr>
          <a:xfrm>
            <a:off x="7412645" y="2047422"/>
            <a:ext cx="1612200" cy="2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420"/>
              </a:buClr>
              <a:buSzPts val="1100"/>
              <a:buFont typeface="Noto Sans TC"/>
              <a:buNone/>
            </a:pPr>
            <a:r>
              <a:rPr b="1" i="0" lang="zh-TW" sz="1100" u="none" cap="none" strike="noStrike">
                <a:solidFill>
                  <a:srgbClr val="2B2420"/>
                </a:solidFill>
                <a:latin typeface="Noto Sans TC"/>
                <a:ea typeface="Noto Sans TC"/>
                <a:cs typeface="Noto Sans TC"/>
                <a:sym typeface="Noto Sans TC"/>
              </a:rPr>
              <a:t>獸醫診療機構</a:t>
            </a:r>
            <a:endParaRPr b="0" i="0" sz="11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217" name="Google Shape;217;h7efd045f0b640493_12_26"/>
          <p:cNvSpPr txBox="1"/>
          <p:nvPr/>
        </p:nvSpPr>
        <p:spPr>
          <a:xfrm>
            <a:off x="7412645" y="2314793"/>
            <a:ext cx="16515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76A"/>
              </a:buClr>
              <a:buSzPts val="2300"/>
              <a:buFont typeface="Noto Sans TC"/>
              <a:buNone/>
            </a:pPr>
            <a:r>
              <a:rPr b="1" i="0" lang="zh-TW" sz="2300" u="none" cap="none" strike="noStrike">
                <a:solidFill>
                  <a:srgbClr val="00876A"/>
                </a:solidFill>
                <a:latin typeface="Noto Sans TC"/>
                <a:ea typeface="Noto Sans TC"/>
                <a:cs typeface="Noto Sans TC"/>
                <a:sym typeface="Noto Sans TC"/>
              </a:rPr>
              <a:t>2,073 家</a:t>
            </a:r>
            <a:endParaRPr b="0" i="0" sz="23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218" name="Google Shape;218;h7efd045f0b640493_12_26"/>
          <p:cNvSpPr txBox="1"/>
          <p:nvPr/>
        </p:nvSpPr>
        <p:spPr>
          <a:xfrm>
            <a:off x="7412645" y="2723712"/>
            <a:ext cx="1651500" cy="2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44C"/>
              </a:buClr>
              <a:buSzPts val="1050"/>
              <a:buFont typeface="Noto Sans TC"/>
              <a:buNone/>
            </a:pPr>
            <a:r>
              <a:rPr b="0" i="0" lang="zh-TW" sz="1050" u="none" cap="none" strike="noStrike">
                <a:solidFill>
                  <a:srgbClr val="5E544C"/>
                </a:solidFill>
                <a:latin typeface="Noto Sans TC"/>
                <a:ea typeface="Noto Sans TC"/>
                <a:cs typeface="Noto Sans TC"/>
                <a:sym typeface="Noto Sans TC"/>
              </a:rPr>
              <a:t>平均每年增加 50 家</a:t>
            </a:r>
            <a:endParaRPr b="0" i="0" sz="10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219" name="Google Shape;219;h7efd045f0b640493_12_26"/>
          <p:cNvSpPr/>
          <p:nvPr/>
        </p:nvSpPr>
        <p:spPr>
          <a:xfrm>
            <a:off x="9244920" y="1795778"/>
            <a:ext cx="1887300" cy="1737900"/>
          </a:xfrm>
          <a:prstGeom prst="roundRect">
            <a:avLst>
              <a:gd fmla="val 5430" name="adj"/>
            </a:avLst>
          </a:prstGeom>
          <a:solidFill>
            <a:srgbClr val="2B24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h7efd045f0b640493_12_26"/>
          <p:cNvSpPr txBox="1"/>
          <p:nvPr/>
        </p:nvSpPr>
        <p:spPr>
          <a:xfrm>
            <a:off x="9402197" y="2047422"/>
            <a:ext cx="1612200" cy="2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3EE"/>
              </a:buClr>
              <a:buSzPts val="1100"/>
              <a:buFont typeface="Noto Sans TC"/>
              <a:buNone/>
            </a:pPr>
            <a:r>
              <a:rPr b="1" i="0" lang="zh-TW" sz="1100" u="none" cap="none" strike="noStrike">
                <a:solidFill>
                  <a:srgbClr val="F7F3EE"/>
                </a:solidFill>
                <a:latin typeface="Noto Sans TC"/>
                <a:ea typeface="Noto Sans TC"/>
                <a:cs typeface="Noto Sans TC"/>
                <a:sym typeface="Noto Sans TC"/>
              </a:rPr>
              <a:t>寵物產業銷售額</a:t>
            </a:r>
            <a:endParaRPr b="0" i="0" sz="11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221" name="Google Shape;221;h7efd045f0b640493_12_26"/>
          <p:cNvSpPr txBox="1"/>
          <p:nvPr/>
        </p:nvSpPr>
        <p:spPr>
          <a:xfrm>
            <a:off x="9402197" y="2314793"/>
            <a:ext cx="16515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A27A"/>
              </a:buClr>
              <a:buSzPts val="2300"/>
              <a:buFont typeface="Noto Sans TC"/>
              <a:buNone/>
            </a:pPr>
            <a:r>
              <a:rPr b="1" lang="zh-TW" sz="2300">
                <a:solidFill>
                  <a:srgbClr val="F0A27A"/>
                </a:solidFill>
                <a:latin typeface="Noto Sans TC"/>
                <a:ea typeface="Noto Sans TC"/>
                <a:cs typeface="Noto Sans TC"/>
                <a:sym typeface="Noto Sans TC"/>
              </a:rPr>
              <a:t>443</a:t>
            </a:r>
            <a:r>
              <a:rPr b="1" i="0" lang="zh-TW" sz="2300" u="none" cap="none" strike="noStrike">
                <a:solidFill>
                  <a:srgbClr val="F0A27A"/>
                </a:solidFill>
                <a:latin typeface="Noto Sans TC"/>
                <a:ea typeface="Noto Sans TC"/>
                <a:cs typeface="Noto Sans TC"/>
                <a:sym typeface="Noto Sans TC"/>
              </a:rPr>
              <a:t> 億</a:t>
            </a:r>
            <a:endParaRPr b="0" i="0" sz="23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222" name="Google Shape;222;h7efd045f0b640493_12_26"/>
          <p:cNvSpPr txBox="1"/>
          <p:nvPr/>
        </p:nvSpPr>
        <p:spPr>
          <a:xfrm>
            <a:off x="9402197" y="2723712"/>
            <a:ext cx="1651500" cy="2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DCD2"/>
              </a:buClr>
              <a:buSzPts val="1050"/>
              <a:buFont typeface="Noto Sans TC"/>
              <a:buNone/>
            </a:pPr>
            <a:r>
              <a:rPr b="0" i="0" lang="zh-TW" sz="1050" u="none" cap="none" strike="noStrike">
                <a:solidFill>
                  <a:srgbClr val="E6DCD2"/>
                </a:solidFill>
                <a:latin typeface="Noto Sans TC"/>
                <a:ea typeface="Noto Sans TC"/>
                <a:cs typeface="Noto Sans TC"/>
                <a:sym typeface="Noto Sans TC"/>
              </a:rPr>
              <a:t>平均每年約 10% 成長率</a:t>
            </a:r>
            <a:endParaRPr b="0" i="0" sz="10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223" name="Google Shape;223;h7efd045f0b640493_12_26"/>
          <p:cNvSpPr/>
          <p:nvPr/>
        </p:nvSpPr>
        <p:spPr>
          <a:xfrm>
            <a:off x="7255368" y="3651645"/>
            <a:ext cx="1887300" cy="1737900"/>
          </a:xfrm>
          <a:prstGeom prst="roundRect">
            <a:avLst>
              <a:gd fmla="val 5430" name="adj"/>
            </a:avLst>
          </a:prstGeom>
          <a:solidFill>
            <a:srgbClr val="FFFDFA"/>
          </a:solidFill>
          <a:ln cap="flat" cmpd="sng" w="12700">
            <a:solidFill>
              <a:srgbClr val="E6DE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h7efd045f0b640493_12_26"/>
          <p:cNvSpPr txBox="1"/>
          <p:nvPr/>
        </p:nvSpPr>
        <p:spPr>
          <a:xfrm>
            <a:off x="7412645" y="3903288"/>
            <a:ext cx="1612200" cy="2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420"/>
              </a:buClr>
              <a:buSzPts val="1100"/>
              <a:buFont typeface="Noto Sans TC"/>
              <a:buNone/>
            </a:pPr>
            <a:r>
              <a:rPr b="1" i="0" lang="zh-TW" sz="1100" u="none" cap="none" strike="noStrike">
                <a:solidFill>
                  <a:srgbClr val="2B2420"/>
                </a:solidFill>
                <a:latin typeface="Noto Sans TC"/>
                <a:ea typeface="Noto Sans TC"/>
                <a:cs typeface="Noto Sans TC"/>
                <a:sym typeface="Noto Sans TC"/>
              </a:rPr>
              <a:t>寵物產業數量</a:t>
            </a:r>
            <a:endParaRPr b="0" i="0" sz="11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225" name="Google Shape;225;h7efd045f0b640493_12_26"/>
          <p:cNvSpPr txBox="1"/>
          <p:nvPr/>
        </p:nvSpPr>
        <p:spPr>
          <a:xfrm>
            <a:off x="7412645" y="4170659"/>
            <a:ext cx="16515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572C"/>
              </a:buClr>
              <a:buSzPts val="2300"/>
              <a:buFont typeface="Noto Sans TC"/>
              <a:buNone/>
            </a:pPr>
            <a:r>
              <a:rPr b="1" i="0" lang="zh-TW" sz="2300" u="none" cap="none" strike="noStrike">
                <a:solidFill>
                  <a:srgbClr val="B4572C"/>
                </a:solidFill>
                <a:latin typeface="Noto Sans TC"/>
                <a:ea typeface="Noto Sans TC"/>
                <a:cs typeface="Noto Sans TC"/>
                <a:sym typeface="Noto Sans TC"/>
              </a:rPr>
              <a:t>8,335 家</a:t>
            </a:r>
            <a:endParaRPr b="0" i="0" sz="23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226" name="Google Shape;226;h7efd045f0b640493_12_26"/>
          <p:cNvSpPr txBox="1"/>
          <p:nvPr/>
        </p:nvSpPr>
        <p:spPr>
          <a:xfrm>
            <a:off x="7412645" y="4579579"/>
            <a:ext cx="1651500" cy="2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44C"/>
              </a:buClr>
              <a:buSzPts val="1050"/>
              <a:buFont typeface="Noto Sans TC"/>
              <a:buNone/>
            </a:pPr>
            <a:r>
              <a:rPr b="0" i="0" lang="zh-TW" sz="1050" u="none" cap="none" strike="noStrike">
                <a:solidFill>
                  <a:srgbClr val="5E544C"/>
                </a:solidFill>
                <a:latin typeface="Noto Sans TC"/>
                <a:ea typeface="Noto Sans TC"/>
                <a:cs typeface="Noto Sans TC"/>
                <a:sym typeface="Noto Sans TC"/>
              </a:rPr>
              <a:t>平均一年增加 250 家</a:t>
            </a:r>
            <a:endParaRPr b="0" i="0" sz="10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227" name="Google Shape;227;h7efd045f0b640493_12_26"/>
          <p:cNvSpPr/>
          <p:nvPr/>
        </p:nvSpPr>
        <p:spPr>
          <a:xfrm>
            <a:off x="9244920" y="3651645"/>
            <a:ext cx="1887300" cy="1737900"/>
          </a:xfrm>
          <a:prstGeom prst="roundRect">
            <a:avLst>
              <a:gd fmla="val 5430" name="adj"/>
            </a:avLst>
          </a:prstGeom>
          <a:solidFill>
            <a:srgbClr val="FFFDFA"/>
          </a:solidFill>
          <a:ln cap="flat" cmpd="sng" w="12700">
            <a:solidFill>
              <a:srgbClr val="E6DE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h7efd045f0b640493_12_26"/>
          <p:cNvSpPr txBox="1"/>
          <p:nvPr/>
        </p:nvSpPr>
        <p:spPr>
          <a:xfrm>
            <a:off x="9402197" y="3903288"/>
            <a:ext cx="16122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420"/>
              </a:buClr>
              <a:buSzPts val="1100"/>
              <a:buFont typeface="Noto Sans TC"/>
              <a:buNone/>
            </a:pPr>
            <a:r>
              <a:rPr b="1" i="0" lang="zh-TW" sz="1100" u="none" cap="none" strike="noStrike">
                <a:solidFill>
                  <a:srgbClr val="2B2420"/>
                </a:solidFill>
                <a:latin typeface="Noto Sans TC"/>
                <a:ea typeface="Noto Sans TC"/>
                <a:cs typeface="Noto Sans TC"/>
                <a:sym typeface="Noto Sans TC"/>
              </a:rPr>
              <a:t>寵物照顧服務</a:t>
            </a:r>
            <a:endParaRPr b="0" i="0" sz="11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420"/>
              </a:buClr>
              <a:buSzPts val="1100"/>
              <a:buFont typeface="Noto Sans TC"/>
              <a:buNone/>
            </a:pPr>
            <a:r>
              <a:rPr b="1" i="0" lang="zh-TW" sz="1100" u="none" cap="none" strike="noStrike">
                <a:solidFill>
                  <a:srgbClr val="2B2420"/>
                </a:solidFill>
                <a:latin typeface="Noto Sans TC"/>
                <a:ea typeface="Noto Sans TC"/>
                <a:cs typeface="Noto Sans TC"/>
                <a:sym typeface="Noto Sans TC"/>
              </a:rPr>
              <a:t>（含獸醫服務）</a:t>
            </a:r>
            <a:endParaRPr b="0" i="0" sz="11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229" name="Google Shape;229;h7efd045f0b640493_12_26"/>
          <p:cNvSpPr txBox="1"/>
          <p:nvPr/>
        </p:nvSpPr>
        <p:spPr>
          <a:xfrm>
            <a:off x="9402197" y="4343663"/>
            <a:ext cx="16515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572C"/>
              </a:buClr>
              <a:buSzPts val="2300"/>
              <a:buFont typeface="Noto Sans TC"/>
              <a:buNone/>
            </a:pPr>
            <a:r>
              <a:rPr b="1" i="0" lang="zh-TW" sz="2300" u="none" cap="none" strike="noStrike">
                <a:solidFill>
                  <a:srgbClr val="B4572C"/>
                </a:solidFill>
                <a:latin typeface="Noto Sans TC"/>
                <a:ea typeface="Noto Sans TC"/>
                <a:cs typeface="Noto Sans TC"/>
                <a:sym typeface="Noto Sans TC"/>
              </a:rPr>
              <a:t>24.6 億</a:t>
            </a:r>
            <a:endParaRPr b="0" i="0" sz="23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230" name="Google Shape;230;h7efd045f0b640493_12_26"/>
          <p:cNvSpPr txBox="1"/>
          <p:nvPr/>
        </p:nvSpPr>
        <p:spPr>
          <a:xfrm>
            <a:off x="9402197" y="4752583"/>
            <a:ext cx="1651500" cy="2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44C"/>
              </a:buClr>
              <a:buSzPts val="1050"/>
              <a:buFont typeface="Noto Sans TC"/>
              <a:buNone/>
            </a:pPr>
            <a:r>
              <a:rPr b="0" i="0" lang="zh-TW" sz="1050" u="none" cap="none" strike="noStrike">
                <a:solidFill>
                  <a:srgbClr val="5E544C"/>
                </a:solidFill>
                <a:latin typeface="Noto Sans TC"/>
                <a:ea typeface="Noto Sans TC"/>
                <a:cs typeface="Noto Sans TC"/>
                <a:sym typeface="Noto Sans TC"/>
              </a:rPr>
              <a:t>平均每年約 9% 成長率</a:t>
            </a:r>
            <a:endParaRPr b="0" i="0" sz="10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231" name="Google Shape;231;h7efd045f0b640493_12_26"/>
          <p:cNvSpPr txBox="1"/>
          <p:nvPr/>
        </p:nvSpPr>
        <p:spPr>
          <a:xfrm>
            <a:off x="1553931" y="5557723"/>
            <a:ext cx="9357970" cy="48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44C"/>
              </a:buClr>
              <a:buSzPts val="1050"/>
              <a:buFont typeface="Noto Sans TC"/>
              <a:buNone/>
            </a:pPr>
            <a:r>
              <a:rPr b="0" i="0" lang="zh-TW" sz="1050" u="none" cap="none" strike="noStrike">
                <a:solidFill>
                  <a:srgbClr val="5E544C"/>
                </a:solidFill>
                <a:latin typeface="Noto Sans TC"/>
                <a:ea typeface="Noto Sans TC"/>
                <a:cs typeface="Noto Sans TC"/>
                <a:sym typeface="Noto Sans TC"/>
              </a:rPr>
              <a:t>資料來源：犬貓數量—農業部全國家犬貓飼養數量調查；獸醫診療機構—農業部動植物防疫檢疫署統計年報（2020–2025）；產業銷售額、家數、照顧服務—財政部統計處（202</a:t>
            </a:r>
            <a:r>
              <a:rPr lang="zh-TW" sz="1050">
                <a:solidFill>
                  <a:srgbClr val="5E544C"/>
                </a:solidFill>
                <a:latin typeface="Noto Sans TC"/>
                <a:ea typeface="Noto Sans TC"/>
                <a:cs typeface="Noto Sans TC"/>
                <a:sym typeface="Noto Sans TC"/>
              </a:rPr>
              <a:t>5</a:t>
            </a:r>
            <a:r>
              <a:rPr b="0" i="0" lang="zh-TW" sz="1050" u="none" cap="none" strike="noStrike">
                <a:solidFill>
                  <a:srgbClr val="5E544C"/>
                </a:solidFill>
                <a:latin typeface="Noto Sans TC"/>
                <a:ea typeface="Noto Sans TC"/>
                <a:cs typeface="Noto Sans TC"/>
                <a:sym typeface="Noto Sans TC"/>
              </a:rPr>
              <a:t>）財政統計通報第 3 號（2018–202</a:t>
            </a:r>
            <a:r>
              <a:rPr lang="zh-TW" sz="1050">
                <a:solidFill>
                  <a:srgbClr val="5E544C"/>
                </a:solidFill>
                <a:latin typeface="Noto Sans TC"/>
                <a:ea typeface="Noto Sans TC"/>
                <a:cs typeface="Noto Sans TC"/>
                <a:sym typeface="Noto Sans TC"/>
              </a:rPr>
              <a:t>4</a:t>
            </a:r>
            <a:r>
              <a:rPr b="0" i="0" lang="zh-TW" sz="1050" u="none" cap="none" strike="noStrike">
                <a:solidFill>
                  <a:srgbClr val="5E544C"/>
                </a:solidFill>
                <a:latin typeface="Noto Sans TC"/>
                <a:ea typeface="Noto Sans TC"/>
                <a:cs typeface="Noto Sans TC"/>
                <a:sym typeface="Noto Sans TC"/>
              </a:rPr>
              <a:t>）。</a:t>
            </a:r>
            <a:endParaRPr b="0" i="0" sz="10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232" name="Google Shape;232;h7efd045f0b640493_12_26"/>
          <p:cNvSpPr txBox="1"/>
          <p:nvPr/>
        </p:nvSpPr>
        <p:spPr>
          <a:xfrm>
            <a:off x="11487475" y="6270775"/>
            <a:ext cx="38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3</a:t>
            </a:r>
            <a:endParaRPr/>
          </a:p>
        </p:txBody>
      </p:sp>
      <p:pic>
        <p:nvPicPr>
          <p:cNvPr id="233" name="Google Shape;233;h7efd045f0b640493_12_26" title="圖_寵物犬貓_新生兒_銷售額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8350" y="1627687"/>
            <a:ext cx="6074772" cy="381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h7efd045f0b640493_12_50"/>
          <p:cNvSpPr txBox="1"/>
          <p:nvPr/>
        </p:nvSpPr>
        <p:spPr>
          <a:xfrm>
            <a:off x="1161600" y="1036750"/>
            <a:ext cx="7141800" cy="10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zh-TW" sz="28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rPr>
              <a:t>當代飼主與獸醫痛點，不容忽視的事態</a:t>
            </a:r>
            <a:endParaRPr b="1" i="0" sz="1200" u="none" cap="none" strike="noStrike">
              <a:solidFill>
                <a:schemeClr val="accent5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240" name="Google Shape;240;h7efd045f0b640493_12_50"/>
          <p:cNvSpPr txBox="1"/>
          <p:nvPr/>
        </p:nvSpPr>
        <p:spPr>
          <a:xfrm>
            <a:off x="1221400" y="792400"/>
            <a:ext cx="51735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zh-TW" sz="1200" u="none" cap="none" strike="noStrike">
                <a:solidFill>
                  <a:schemeClr val="accent5"/>
                </a:solidFill>
                <a:latin typeface="Noto Sans TC"/>
                <a:ea typeface="Noto Sans TC"/>
                <a:cs typeface="Noto Sans TC"/>
                <a:sym typeface="Noto Sans TC"/>
              </a:rPr>
              <a:t>市場遇到的問題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1" name="Google Shape;241;h7efd045f0b640493_12_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76577" y="1676376"/>
            <a:ext cx="5477900" cy="4460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h7efd045f0b640493_12_50"/>
          <p:cNvPicPr preferRelativeResize="0"/>
          <p:nvPr/>
        </p:nvPicPr>
        <p:blipFill rotWithShape="1">
          <a:blip r:embed="rId4">
            <a:alphaModFix/>
          </a:blip>
          <a:srcRect b="0" l="1778" r="0" t="0"/>
          <a:stretch/>
        </p:blipFill>
        <p:spPr>
          <a:xfrm>
            <a:off x="1001020" y="1762050"/>
            <a:ext cx="4975556" cy="437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h7efd045f0b640493_12_50"/>
          <p:cNvSpPr txBox="1"/>
          <p:nvPr/>
        </p:nvSpPr>
        <p:spPr>
          <a:xfrm>
            <a:off x="11506900" y="6294350"/>
            <a:ext cx="38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h7efd045f0b640493_12_60"/>
          <p:cNvSpPr txBox="1"/>
          <p:nvPr>
            <p:ph idx="1" type="body"/>
          </p:nvPr>
        </p:nvSpPr>
        <p:spPr>
          <a:xfrm>
            <a:off x="1325880" y="804672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</a:pPr>
            <a:r>
              <a:rPr b="1" lang="zh-TW" sz="1200">
                <a:solidFill>
                  <a:schemeClr val="accent5"/>
                </a:solidFill>
              </a:rPr>
              <a:t>痛點與解法</a:t>
            </a:r>
            <a:endParaRPr sz="1200"/>
          </a:p>
        </p:txBody>
      </p:sp>
      <p:sp>
        <p:nvSpPr>
          <p:cNvPr id="250" name="Google Shape;250;h7efd045f0b640493_12_60"/>
          <p:cNvSpPr txBox="1"/>
          <p:nvPr>
            <p:ph type="title"/>
          </p:nvPr>
        </p:nvSpPr>
        <p:spPr>
          <a:xfrm>
            <a:off x="1325880" y="1097280"/>
            <a:ext cx="95097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TC"/>
              <a:buNone/>
            </a:pPr>
            <a:r>
              <a:rPr b="1" lang="zh-TW" sz="2800">
                <a:solidFill>
                  <a:schemeClr val="dk1"/>
                </a:solidFill>
              </a:rPr>
              <a:t>四個斷點，App 一路接起來</a:t>
            </a:r>
            <a:endParaRPr sz="2800"/>
          </a:p>
        </p:txBody>
      </p:sp>
      <p:cxnSp>
        <p:nvCxnSpPr>
          <p:cNvPr id="251" name="Google Shape;251;h7efd045f0b640493_12_60"/>
          <p:cNvCxnSpPr/>
          <p:nvPr/>
        </p:nvCxnSpPr>
        <p:spPr>
          <a:xfrm>
            <a:off x="2442545" y="2018995"/>
            <a:ext cx="7305507" cy="0"/>
          </a:xfrm>
          <a:prstGeom prst="straightConnector1">
            <a:avLst/>
          </a:prstGeom>
          <a:noFill/>
          <a:ln cap="flat" cmpd="sng" w="19050">
            <a:solidFill>
              <a:srgbClr val="D9CFC4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52" name="Google Shape;252;h7efd045f0b640493_12_60"/>
          <p:cNvSpPr/>
          <p:nvPr/>
        </p:nvSpPr>
        <p:spPr>
          <a:xfrm>
            <a:off x="1852757" y="1838127"/>
            <a:ext cx="1179576" cy="361737"/>
          </a:xfrm>
          <a:prstGeom prst="roundRect">
            <a:avLst>
              <a:gd fmla="val 50000" name="adj"/>
            </a:avLst>
          </a:prstGeom>
          <a:solidFill>
            <a:srgbClr val="F2CDB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582E"/>
              </a:buClr>
              <a:buSzPts val="1200"/>
              <a:buFont typeface="Noto Sans TC"/>
              <a:buNone/>
            </a:pPr>
            <a:r>
              <a:rPr b="1" i="0" lang="zh-TW" sz="1200" u="none" cap="none" strike="noStrike">
                <a:solidFill>
                  <a:srgbClr val="B8582E"/>
                </a:solidFill>
                <a:latin typeface="Noto Sans TC"/>
                <a:ea typeface="Noto Sans TC"/>
                <a:cs typeface="Noto Sans TC"/>
                <a:sym typeface="Noto Sans TC"/>
              </a:rPr>
              <a:t>01 看診</a:t>
            </a:r>
            <a:endParaRPr b="0" i="0" sz="12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253" name="Google Shape;253;h7efd045f0b640493_12_60"/>
          <p:cNvSpPr/>
          <p:nvPr/>
        </p:nvSpPr>
        <p:spPr>
          <a:xfrm>
            <a:off x="1325880" y="2372868"/>
            <a:ext cx="2233331" cy="1454810"/>
          </a:xfrm>
          <a:prstGeom prst="roundRect">
            <a:avLst>
              <a:gd fmla="val 6486" name="adj"/>
            </a:avLst>
          </a:prstGeom>
          <a:solidFill>
            <a:srgbClr val="FFFFFF"/>
          </a:solidFill>
          <a:ln cap="flat" cmpd="sng" w="9525">
            <a:solidFill>
              <a:srgbClr val="EDE5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講不清楚" id="254" name="Google Shape;254;h7efd045f0b640493_12_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46068" y="2593056"/>
            <a:ext cx="330281" cy="330281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h7efd045f0b640493_12_60"/>
          <p:cNvSpPr txBox="1"/>
          <p:nvPr/>
        </p:nvSpPr>
        <p:spPr>
          <a:xfrm>
            <a:off x="1546068" y="3001975"/>
            <a:ext cx="1887322" cy="4325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420"/>
              </a:buClr>
              <a:buSzPts val="2250"/>
              <a:buFont typeface="Noto Sans TC"/>
              <a:buNone/>
            </a:pPr>
            <a:r>
              <a:rPr b="1" i="0" lang="zh-TW" sz="2250" u="none" cap="none" strike="noStrike">
                <a:solidFill>
                  <a:srgbClr val="2B2420"/>
                </a:solidFill>
                <a:latin typeface="Noto Sans TC"/>
                <a:ea typeface="Noto Sans TC"/>
                <a:cs typeface="Noto Sans TC"/>
                <a:sym typeface="Noto Sans TC"/>
              </a:rPr>
              <a:t>講不清楚</a:t>
            </a:r>
            <a:endParaRPr b="0" i="0" sz="22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256" name="Google Shape;256;h7efd045f0b640493_12_60"/>
          <p:cNvSpPr txBox="1"/>
          <p:nvPr/>
        </p:nvSpPr>
        <p:spPr>
          <a:xfrm>
            <a:off x="1546068" y="3434486"/>
            <a:ext cx="1965960" cy="2830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655C"/>
              </a:buClr>
              <a:buSzPts val="1100"/>
              <a:buFont typeface="Noto Sans TC"/>
              <a:buNone/>
            </a:pPr>
            <a:r>
              <a:rPr lang="zh-TW" sz="1100">
                <a:solidFill>
                  <a:srgbClr val="6E655C"/>
                </a:solidFill>
                <a:latin typeface="Noto Sans TC"/>
                <a:ea typeface="Noto Sans TC"/>
                <a:cs typeface="Noto Sans TC"/>
                <a:sym typeface="Noto Sans TC"/>
              </a:rPr>
              <a:t>3</a:t>
            </a:r>
            <a:r>
              <a:rPr b="0" i="0" lang="zh-TW" sz="1100" u="none" cap="none" strike="noStrike">
                <a:solidFill>
                  <a:srgbClr val="6E655C"/>
                </a:solidFill>
                <a:latin typeface="Noto Sans TC"/>
                <a:ea typeface="Noto Sans TC"/>
                <a:cs typeface="Noto Sans TC"/>
                <a:sym typeface="Noto Sans TC"/>
              </a:rPr>
              <a:t>5% </a:t>
            </a:r>
            <a:r>
              <a:rPr lang="zh-TW" sz="1100">
                <a:solidFill>
                  <a:srgbClr val="6E655C"/>
                </a:solidFill>
                <a:latin typeface="Noto Sans TC"/>
                <a:ea typeface="Noto Sans TC"/>
                <a:cs typeface="Noto Sans TC"/>
                <a:sym typeface="Noto Sans TC"/>
              </a:rPr>
              <a:t>的資訊在看診中流失</a:t>
            </a:r>
            <a:endParaRPr b="0" i="0" sz="11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pic>
        <p:nvPicPr>
          <p:cNvPr descr="往下" id="257" name="Google Shape;257;h7efd045f0b640493_12_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5268" y="3874861"/>
            <a:ext cx="314554" cy="314554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h7efd045f0b640493_12_60"/>
          <p:cNvSpPr/>
          <p:nvPr/>
        </p:nvSpPr>
        <p:spPr>
          <a:xfrm>
            <a:off x="1325880" y="4220870"/>
            <a:ext cx="2233331" cy="1454810"/>
          </a:xfrm>
          <a:prstGeom prst="roundRect">
            <a:avLst>
              <a:gd fmla="val 6486" name="adj"/>
            </a:avLst>
          </a:prstGeom>
          <a:solidFill>
            <a:srgbClr val="2B24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h7efd045f0b640493_12_60"/>
          <p:cNvSpPr txBox="1"/>
          <p:nvPr/>
        </p:nvSpPr>
        <p:spPr>
          <a:xfrm>
            <a:off x="1546068" y="4378147"/>
            <a:ext cx="1808683" cy="235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A679"/>
              </a:buClr>
              <a:buSzPts val="1050"/>
              <a:buFont typeface="Noto Sans TC"/>
              <a:buNone/>
            </a:pPr>
            <a:r>
              <a:rPr b="1" i="0" lang="zh-TW" sz="1050" u="none" cap="none" strike="noStrike">
                <a:solidFill>
                  <a:srgbClr val="F0A679"/>
                </a:solidFill>
                <a:latin typeface="Noto Sans TC"/>
                <a:ea typeface="Noto Sans TC"/>
                <a:cs typeface="Noto Sans TC"/>
                <a:sym typeface="Noto Sans TC"/>
              </a:rPr>
              <a:t>App 解法</a:t>
            </a:r>
            <a:endParaRPr b="0" i="0" sz="10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pic>
        <p:nvPicPr>
          <p:cNvPr descr="勾選" id="260" name="Google Shape;260;h7efd045f0b640493_12_6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46068" y="4755612"/>
            <a:ext cx="157277" cy="157277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h7efd045f0b640493_12_60"/>
          <p:cNvSpPr txBox="1"/>
          <p:nvPr/>
        </p:nvSpPr>
        <p:spPr>
          <a:xfrm>
            <a:off x="1766255" y="4692701"/>
            <a:ext cx="1730045" cy="2830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Noto Sans TC"/>
              <a:buNone/>
            </a:pPr>
            <a:r>
              <a:rPr b="0" i="0" lang="zh-TW" sz="1300" u="none" cap="none" strike="noStrike">
                <a:solidFill>
                  <a:srgbClr val="FFFFFF"/>
                </a:solidFill>
                <a:latin typeface="Noto Sans TC"/>
                <a:ea typeface="Noto Sans TC"/>
                <a:cs typeface="Noto Sans TC"/>
                <a:sym typeface="Noto Sans TC"/>
              </a:rPr>
              <a:t>AI 看診前報告</a:t>
            </a:r>
            <a:endParaRPr b="0" i="0" sz="13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pic>
        <p:nvPicPr>
          <p:cNvPr descr="勾選" id="262" name="Google Shape;262;h7efd045f0b640493_12_6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46068" y="5038710"/>
            <a:ext cx="157277" cy="157277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h7efd045f0b640493_12_60"/>
          <p:cNvSpPr txBox="1"/>
          <p:nvPr/>
        </p:nvSpPr>
        <p:spPr>
          <a:xfrm>
            <a:off x="1766255" y="4975799"/>
            <a:ext cx="1730045" cy="2830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Noto Sans TC"/>
              <a:buNone/>
            </a:pPr>
            <a:r>
              <a:rPr b="0" i="0" lang="zh-TW" sz="1300" u="none" cap="none" strike="noStrike">
                <a:solidFill>
                  <a:srgbClr val="FFFFFF"/>
                </a:solidFill>
                <a:latin typeface="Noto Sans TC"/>
                <a:ea typeface="Noto Sans TC"/>
                <a:cs typeface="Noto Sans TC"/>
                <a:sym typeface="Noto Sans TC"/>
              </a:rPr>
              <a:t>紀錄帶去</a:t>
            </a:r>
            <a:r>
              <a:rPr lang="zh-TW" sz="1300">
                <a:solidFill>
                  <a:srgbClr val="FFFFFF"/>
                </a:solidFill>
                <a:latin typeface="Noto Sans TC"/>
                <a:ea typeface="Noto Sans TC"/>
                <a:cs typeface="Noto Sans TC"/>
                <a:sym typeface="Noto Sans TC"/>
              </a:rPr>
              <a:t>獸</a:t>
            </a:r>
            <a:r>
              <a:rPr b="0" i="0" lang="zh-TW" sz="1300" u="none" cap="none" strike="noStrike">
                <a:solidFill>
                  <a:srgbClr val="FFFFFF"/>
                </a:solidFill>
                <a:latin typeface="Noto Sans TC"/>
                <a:ea typeface="Noto Sans TC"/>
                <a:cs typeface="Noto Sans TC"/>
                <a:sym typeface="Noto Sans TC"/>
              </a:rPr>
              <a:t>醫院</a:t>
            </a:r>
            <a:endParaRPr b="0" i="0" sz="13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264" name="Google Shape;264;h7efd045f0b640493_12_60"/>
          <p:cNvSpPr/>
          <p:nvPr/>
        </p:nvSpPr>
        <p:spPr>
          <a:xfrm>
            <a:off x="4285043" y="1838127"/>
            <a:ext cx="1179576" cy="361737"/>
          </a:xfrm>
          <a:prstGeom prst="roundRect">
            <a:avLst>
              <a:gd fmla="val 50000" name="adj"/>
            </a:avLst>
          </a:prstGeom>
          <a:solidFill>
            <a:srgbClr val="F2CDB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582E"/>
              </a:buClr>
              <a:buSzPts val="1200"/>
              <a:buFont typeface="Noto Sans TC"/>
              <a:buNone/>
            </a:pPr>
            <a:r>
              <a:rPr b="1" i="0" lang="zh-TW" sz="1200" u="none" cap="none" strike="noStrike">
                <a:solidFill>
                  <a:srgbClr val="B8582E"/>
                </a:solidFill>
                <a:latin typeface="Noto Sans TC"/>
                <a:ea typeface="Noto Sans TC"/>
                <a:cs typeface="Noto Sans TC"/>
                <a:sym typeface="Noto Sans TC"/>
              </a:rPr>
              <a:t>02 回家</a:t>
            </a:r>
            <a:endParaRPr b="0" i="0" sz="12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265" name="Google Shape;265;h7efd045f0b640493_12_60"/>
          <p:cNvSpPr/>
          <p:nvPr/>
        </p:nvSpPr>
        <p:spPr>
          <a:xfrm>
            <a:off x="3758166" y="2372868"/>
            <a:ext cx="2233331" cy="1454810"/>
          </a:xfrm>
          <a:prstGeom prst="roundRect">
            <a:avLst>
              <a:gd fmla="val 6486" name="adj"/>
            </a:avLst>
          </a:prstGeom>
          <a:solidFill>
            <a:srgbClr val="FFFFFF"/>
          </a:solidFill>
          <a:ln cap="flat" cmpd="sng" w="9525">
            <a:solidFill>
              <a:srgbClr val="EDE5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不會餵" id="266" name="Google Shape;266;h7efd045f0b640493_12_6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78353" y="2593056"/>
            <a:ext cx="330281" cy="330281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h7efd045f0b640493_12_60"/>
          <p:cNvSpPr txBox="1"/>
          <p:nvPr/>
        </p:nvSpPr>
        <p:spPr>
          <a:xfrm>
            <a:off x="3978353" y="3001975"/>
            <a:ext cx="1887322" cy="4325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420"/>
              </a:buClr>
              <a:buSzPts val="2250"/>
              <a:buFont typeface="Noto Sans TC"/>
              <a:buNone/>
            </a:pPr>
            <a:r>
              <a:rPr b="1" i="0" lang="zh-TW" sz="2250" u="none" cap="none" strike="noStrike">
                <a:solidFill>
                  <a:srgbClr val="2B2420"/>
                </a:solidFill>
                <a:latin typeface="Noto Sans TC"/>
                <a:ea typeface="Noto Sans TC"/>
                <a:cs typeface="Noto Sans TC"/>
                <a:sym typeface="Noto Sans TC"/>
              </a:rPr>
              <a:t>不會餵</a:t>
            </a:r>
            <a:endParaRPr b="0" i="0" sz="22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268" name="Google Shape;268;h7efd045f0b640493_12_60"/>
          <p:cNvSpPr txBox="1"/>
          <p:nvPr/>
        </p:nvSpPr>
        <p:spPr>
          <a:xfrm>
            <a:off x="3978353" y="3434486"/>
            <a:ext cx="1965960" cy="2830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655C"/>
              </a:buClr>
              <a:buSzPts val="1100"/>
              <a:buFont typeface="Noto Sans TC"/>
              <a:buNone/>
            </a:pPr>
            <a:r>
              <a:rPr b="0" i="0" lang="zh-TW" sz="1100" u="none" cap="none" strike="noStrike">
                <a:solidFill>
                  <a:srgbClr val="6E655C"/>
                </a:solidFill>
                <a:latin typeface="Noto Sans TC"/>
                <a:ea typeface="Noto Sans TC"/>
                <a:cs typeface="Noto Sans TC"/>
                <a:sym typeface="Noto Sans TC"/>
              </a:rPr>
              <a:t>近半數沒人示範怎麼餵</a:t>
            </a:r>
            <a:endParaRPr b="0" i="0" sz="11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pic>
        <p:nvPicPr>
          <p:cNvPr descr="往下" id="269" name="Google Shape;269;h7efd045f0b640493_12_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17554" y="3874861"/>
            <a:ext cx="314554" cy="314554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h7efd045f0b640493_12_60"/>
          <p:cNvSpPr/>
          <p:nvPr/>
        </p:nvSpPr>
        <p:spPr>
          <a:xfrm>
            <a:off x="3758166" y="4220870"/>
            <a:ext cx="2233331" cy="1454810"/>
          </a:xfrm>
          <a:prstGeom prst="roundRect">
            <a:avLst>
              <a:gd fmla="val 6486" name="adj"/>
            </a:avLst>
          </a:prstGeom>
          <a:solidFill>
            <a:srgbClr val="2B24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h7efd045f0b640493_12_60"/>
          <p:cNvSpPr txBox="1"/>
          <p:nvPr/>
        </p:nvSpPr>
        <p:spPr>
          <a:xfrm>
            <a:off x="3978353" y="4378147"/>
            <a:ext cx="1808683" cy="235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A679"/>
              </a:buClr>
              <a:buSzPts val="1050"/>
              <a:buFont typeface="Noto Sans TC"/>
              <a:buNone/>
            </a:pPr>
            <a:r>
              <a:rPr b="1" i="0" lang="zh-TW" sz="1050" u="none" cap="none" strike="noStrike">
                <a:solidFill>
                  <a:srgbClr val="F0A679"/>
                </a:solidFill>
                <a:latin typeface="Noto Sans TC"/>
                <a:ea typeface="Noto Sans TC"/>
                <a:cs typeface="Noto Sans TC"/>
                <a:sym typeface="Noto Sans TC"/>
              </a:rPr>
              <a:t>App 解法</a:t>
            </a:r>
            <a:endParaRPr b="0" i="0" sz="10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pic>
        <p:nvPicPr>
          <p:cNvPr descr="勾選" id="272" name="Google Shape;272;h7efd045f0b640493_12_6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78353" y="4755612"/>
            <a:ext cx="157277" cy="157277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h7efd045f0b640493_12_60"/>
          <p:cNvSpPr txBox="1"/>
          <p:nvPr/>
        </p:nvSpPr>
        <p:spPr>
          <a:xfrm>
            <a:off x="4198541" y="4692701"/>
            <a:ext cx="1730045" cy="2830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Noto Sans TC"/>
              <a:buNone/>
            </a:pPr>
            <a:r>
              <a:rPr lang="zh-TW" sz="1300">
                <a:solidFill>
                  <a:srgbClr val="FFFFFF"/>
                </a:solidFill>
                <a:latin typeface="Noto Sans TC"/>
                <a:ea typeface="Noto Sans TC"/>
                <a:cs typeface="Noto Sans TC"/>
                <a:sym typeface="Noto Sans TC"/>
              </a:rPr>
              <a:t>產品教學影片</a:t>
            </a:r>
            <a:endParaRPr b="0" i="0" sz="13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pic>
        <p:nvPicPr>
          <p:cNvPr descr="勾選" id="274" name="Google Shape;274;h7efd045f0b640493_12_6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78353" y="5038710"/>
            <a:ext cx="157277" cy="157277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h7efd045f0b640493_12_60"/>
          <p:cNvSpPr txBox="1"/>
          <p:nvPr/>
        </p:nvSpPr>
        <p:spPr>
          <a:xfrm>
            <a:off x="4198541" y="4975799"/>
            <a:ext cx="1730045" cy="2830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Noto Sans TC"/>
              <a:buNone/>
            </a:pPr>
            <a:r>
              <a:rPr b="0" i="0" lang="zh-TW" sz="1300" u="none" cap="none" strike="noStrike">
                <a:solidFill>
                  <a:srgbClr val="FFFFFF"/>
                </a:solidFill>
                <a:latin typeface="Noto Sans TC"/>
                <a:ea typeface="Noto Sans TC"/>
                <a:cs typeface="Noto Sans TC"/>
                <a:sym typeface="Noto Sans TC"/>
              </a:rPr>
              <a:t>記錄吐出・拒吃</a:t>
            </a:r>
            <a:endParaRPr b="0" i="0" sz="13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276" name="Google Shape;276;h7efd045f0b640493_12_60"/>
          <p:cNvSpPr/>
          <p:nvPr/>
        </p:nvSpPr>
        <p:spPr>
          <a:xfrm>
            <a:off x="6717329" y="1838127"/>
            <a:ext cx="1179576" cy="361737"/>
          </a:xfrm>
          <a:prstGeom prst="roundRect">
            <a:avLst>
              <a:gd fmla="val 50000" name="adj"/>
            </a:avLst>
          </a:prstGeom>
          <a:solidFill>
            <a:srgbClr val="F2CDB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582E"/>
              </a:buClr>
              <a:buSzPts val="1200"/>
              <a:buFont typeface="Noto Sans TC"/>
              <a:buNone/>
            </a:pPr>
            <a:r>
              <a:rPr b="1" i="0" lang="zh-TW" sz="1200" u="none" cap="none" strike="noStrike">
                <a:solidFill>
                  <a:srgbClr val="B8582E"/>
                </a:solidFill>
                <a:latin typeface="Noto Sans TC"/>
                <a:ea typeface="Noto Sans TC"/>
                <a:cs typeface="Noto Sans TC"/>
                <a:sym typeface="Noto Sans TC"/>
              </a:rPr>
              <a:t>03 每天</a:t>
            </a:r>
            <a:endParaRPr b="0" i="0" sz="12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277" name="Google Shape;277;h7efd045f0b640493_12_60"/>
          <p:cNvSpPr/>
          <p:nvPr/>
        </p:nvSpPr>
        <p:spPr>
          <a:xfrm>
            <a:off x="6190451" y="2372868"/>
            <a:ext cx="2233331" cy="1454810"/>
          </a:xfrm>
          <a:prstGeom prst="roundRect">
            <a:avLst>
              <a:gd fmla="val 6486" name="adj"/>
            </a:avLst>
          </a:prstGeom>
          <a:solidFill>
            <a:srgbClr val="FFFFFF"/>
          </a:solidFill>
          <a:ln cap="flat" cmpd="sng" w="9525">
            <a:solidFill>
              <a:srgbClr val="EDE5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容易漏餵" id="278" name="Google Shape;278;h7efd045f0b640493_12_6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10639" y="2593056"/>
            <a:ext cx="330281" cy="330281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h7efd045f0b640493_12_60"/>
          <p:cNvSpPr txBox="1"/>
          <p:nvPr/>
        </p:nvSpPr>
        <p:spPr>
          <a:xfrm>
            <a:off x="6410639" y="3001975"/>
            <a:ext cx="1887322" cy="4325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420"/>
              </a:buClr>
              <a:buSzPts val="2250"/>
              <a:buFont typeface="Noto Sans TC"/>
              <a:buNone/>
            </a:pPr>
            <a:r>
              <a:rPr b="1" i="0" lang="zh-TW" sz="2250" u="none" cap="none" strike="noStrike">
                <a:solidFill>
                  <a:srgbClr val="2B2420"/>
                </a:solidFill>
                <a:latin typeface="Noto Sans TC"/>
                <a:ea typeface="Noto Sans TC"/>
                <a:cs typeface="Noto Sans TC"/>
                <a:sym typeface="Noto Sans TC"/>
              </a:rPr>
              <a:t>容易漏餵</a:t>
            </a:r>
            <a:endParaRPr b="0" i="0" sz="22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280" name="Google Shape;280;h7efd045f0b640493_12_60"/>
          <p:cNvSpPr txBox="1"/>
          <p:nvPr/>
        </p:nvSpPr>
        <p:spPr>
          <a:xfrm>
            <a:off x="6410639" y="3434486"/>
            <a:ext cx="1965960" cy="2830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655C"/>
              </a:buClr>
              <a:buSzPts val="1100"/>
              <a:buFont typeface="Noto Sans TC"/>
              <a:buNone/>
            </a:pPr>
            <a:r>
              <a:rPr b="0" i="0" lang="zh-TW" sz="1100" u="none" cap="none" strike="noStrike">
                <a:solidFill>
                  <a:srgbClr val="6E655C"/>
                </a:solidFill>
                <a:latin typeface="Noto Sans TC"/>
                <a:ea typeface="Noto Sans TC"/>
                <a:cs typeface="Noto Sans TC"/>
                <a:sym typeface="Noto Sans TC"/>
              </a:rPr>
              <a:t>只有 53% 完全照醫囑</a:t>
            </a:r>
            <a:endParaRPr b="0" i="0" sz="11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pic>
        <p:nvPicPr>
          <p:cNvPr descr="往下" id="281" name="Google Shape;281;h7efd045f0b640493_12_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49840" y="3874861"/>
            <a:ext cx="314554" cy="314554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h7efd045f0b640493_12_60"/>
          <p:cNvSpPr/>
          <p:nvPr/>
        </p:nvSpPr>
        <p:spPr>
          <a:xfrm>
            <a:off x="6190451" y="4220870"/>
            <a:ext cx="2233331" cy="1454810"/>
          </a:xfrm>
          <a:prstGeom prst="roundRect">
            <a:avLst>
              <a:gd fmla="val 6486" name="adj"/>
            </a:avLst>
          </a:prstGeom>
          <a:solidFill>
            <a:srgbClr val="2B24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h7efd045f0b640493_12_60"/>
          <p:cNvSpPr txBox="1"/>
          <p:nvPr/>
        </p:nvSpPr>
        <p:spPr>
          <a:xfrm>
            <a:off x="6410639" y="4378147"/>
            <a:ext cx="1808683" cy="235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A679"/>
              </a:buClr>
              <a:buSzPts val="1050"/>
              <a:buFont typeface="Noto Sans TC"/>
              <a:buNone/>
            </a:pPr>
            <a:r>
              <a:rPr b="1" i="0" lang="zh-TW" sz="1050" u="none" cap="none" strike="noStrike">
                <a:solidFill>
                  <a:srgbClr val="F0A679"/>
                </a:solidFill>
                <a:latin typeface="Noto Sans TC"/>
                <a:ea typeface="Noto Sans TC"/>
                <a:cs typeface="Noto Sans TC"/>
                <a:sym typeface="Noto Sans TC"/>
              </a:rPr>
              <a:t>App 解法</a:t>
            </a:r>
            <a:endParaRPr b="0" i="0" sz="10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pic>
        <p:nvPicPr>
          <p:cNvPr descr="勾選" id="284" name="Google Shape;284;h7efd045f0b640493_12_6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10639" y="4755612"/>
            <a:ext cx="157277" cy="157277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h7efd045f0b640493_12_60"/>
          <p:cNvSpPr txBox="1"/>
          <p:nvPr/>
        </p:nvSpPr>
        <p:spPr>
          <a:xfrm>
            <a:off x="6630826" y="4692701"/>
            <a:ext cx="1730045" cy="2830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Noto Sans TC"/>
              <a:buNone/>
            </a:pPr>
            <a:r>
              <a:rPr b="0" i="0" lang="zh-TW" sz="1300" u="none" cap="none" strike="noStrike">
                <a:solidFill>
                  <a:srgbClr val="FFFFFF"/>
                </a:solidFill>
                <a:latin typeface="Noto Sans TC"/>
                <a:ea typeface="Noto Sans TC"/>
                <a:cs typeface="Noto Sans TC"/>
                <a:sym typeface="Noto Sans TC"/>
              </a:rPr>
              <a:t>定時用藥提醒</a:t>
            </a:r>
            <a:endParaRPr b="0" i="0" sz="13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pic>
        <p:nvPicPr>
          <p:cNvPr descr="勾選" id="286" name="Google Shape;286;h7efd045f0b640493_12_6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10639" y="5038710"/>
            <a:ext cx="157277" cy="157277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h7efd045f0b640493_12_60"/>
          <p:cNvSpPr txBox="1"/>
          <p:nvPr/>
        </p:nvSpPr>
        <p:spPr>
          <a:xfrm>
            <a:off x="6630826" y="4975799"/>
            <a:ext cx="1730045" cy="2830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Noto Sans TC"/>
              <a:buNone/>
            </a:pPr>
            <a:r>
              <a:rPr b="0" i="0" lang="zh-TW" sz="1300" u="none" cap="none" strike="noStrike">
                <a:solidFill>
                  <a:srgbClr val="FFFFFF"/>
                </a:solidFill>
                <a:latin typeface="Noto Sans TC"/>
                <a:ea typeface="Noto Sans TC"/>
                <a:cs typeface="Noto Sans TC"/>
                <a:sym typeface="Noto Sans TC"/>
              </a:rPr>
              <a:t>餵完</a:t>
            </a:r>
            <a:r>
              <a:rPr lang="zh-TW" sz="1300">
                <a:solidFill>
                  <a:srgbClr val="FFFFFF"/>
                </a:solidFill>
                <a:latin typeface="Noto Sans TC"/>
                <a:ea typeface="Noto Sans TC"/>
                <a:cs typeface="Noto Sans TC"/>
                <a:sym typeface="Noto Sans TC"/>
              </a:rPr>
              <a:t>紀錄</a:t>
            </a:r>
            <a:r>
              <a:rPr b="0" i="0" lang="zh-TW" sz="1300" u="none" cap="none" strike="noStrike">
                <a:solidFill>
                  <a:srgbClr val="FFFFFF"/>
                </a:solidFill>
                <a:latin typeface="Noto Sans TC"/>
                <a:ea typeface="Noto Sans TC"/>
                <a:cs typeface="Noto Sans TC"/>
                <a:sym typeface="Noto Sans TC"/>
              </a:rPr>
              <a:t>・家人同步</a:t>
            </a:r>
            <a:endParaRPr b="0" i="0" sz="13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288" name="Google Shape;288;h7efd045f0b640493_12_60"/>
          <p:cNvSpPr/>
          <p:nvPr/>
        </p:nvSpPr>
        <p:spPr>
          <a:xfrm>
            <a:off x="9149614" y="1838127"/>
            <a:ext cx="1179576" cy="361737"/>
          </a:xfrm>
          <a:prstGeom prst="roundRect">
            <a:avLst>
              <a:gd fmla="val 50000" name="adj"/>
            </a:avLst>
          </a:prstGeom>
          <a:solidFill>
            <a:srgbClr val="F2CDB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582E"/>
              </a:buClr>
              <a:buSzPts val="1200"/>
              <a:buFont typeface="Noto Sans TC"/>
              <a:buNone/>
            </a:pPr>
            <a:r>
              <a:rPr b="1" i="0" lang="zh-TW" sz="1200" u="none" cap="none" strike="noStrike">
                <a:solidFill>
                  <a:srgbClr val="B8582E"/>
                </a:solidFill>
                <a:latin typeface="Noto Sans TC"/>
                <a:ea typeface="Noto Sans TC"/>
                <a:cs typeface="Noto Sans TC"/>
                <a:sym typeface="Noto Sans TC"/>
              </a:rPr>
              <a:t>04 用藥</a:t>
            </a:r>
            <a:endParaRPr b="0" i="0" sz="12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289" name="Google Shape;289;h7efd045f0b640493_12_60"/>
          <p:cNvSpPr/>
          <p:nvPr/>
        </p:nvSpPr>
        <p:spPr>
          <a:xfrm>
            <a:off x="8622737" y="2372868"/>
            <a:ext cx="2233331" cy="1454810"/>
          </a:xfrm>
          <a:prstGeom prst="roundRect">
            <a:avLst>
              <a:gd fmla="val 6486" name="adj"/>
            </a:avLst>
          </a:prstGeom>
          <a:solidFill>
            <a:srgbClr val="FFFFFF"/>
          </a:solidFill>
          <a:ln cap="flat" cmpd="sng" w="9525">
            <a:solidFill>
              <a:srgbClr val="EDE5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容易用錯" id="290" name="Google Shape;290;h7efd045f0b640493_12_6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842925" y="2593056"/>
            <a:ext cx="330281" cy="330281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h7efd045f0b640493_12_60"/>
          <p:cNvSpPr txBox="1"/>
          <p:nvPr/>
        </p:nvSpPr>
        <p:spPr>
          <a:xfrm>
            <a:off x="8842925" y="3001975"/>
            <a:ext cx="1887322" cy="4325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420"/>
              </a:buClr>
              <a:buSzPts val="2250"/>
              <a:buFont typeface="Noto Sans TC"/>
              <a:buNone/>
            </a:pPr>
            <a:r>
              <a:rPr b="1" i="0" lang="zh-TW" sz="2250" u="none" cap="none" strike="noStrike">
                <a:solidFill>
                  <a:srgbClr val="2B2420"/>
                </a:solidFill>
                <a:latin typeface="Noto Sans TC"/>
                <a:ea typeface="Noto Sans TC"/>
                <a:cs typeface="Noto Sans TC"/>
                <a:sym typeface="Noto Sans TC"/>
              </a:rPr>
              <a:t>容易用錯</a:t>
            </a:r>
            <a:endParaRPr b="0" i="0" sz="22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292" name="Google Shape;292;h7efd045f0b640493_12_60"/>
          <p:cNvSpPr txBox="1"/>
          <p:nvPr/>
        </p:nvSpPr>
        <p:spPr>
          <a:xfrm>
            <a:off x="8842925" y="3434486"/>
            <a:ext cx="1965960" cy="2830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655C"/>
              </a:buClr>
              <a:buSzPts val="1100"/>
              <a:buFont typeface="Noto Sans TC"/>
              <a:buNone/>
            </a:pPr>
            <a:r>
              <a:rPr b="0" i="0" lang="zh-TW" sz="1100" u="none" cap="none" strike="noStrike">
                <a:solidFill>
                  <a:srgbClr val="6E655C"/>
                </a:solidFill>
                <a:latin typeface="Noto Sans TC"/>
                <a:ea typeface="Noto Sans TC"/>
                <a:cs typeface="Noto Sans TC"/>
                <a:sym typeface="Noto Sans TC"/>
              </a:rPr>
              <a:t>滴劑誤用，已有新聞案例</a:t>
            </a:r>
            <a:endParaRPr b="0" i="0" sz="11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pic>
        <p:nvPicPr>
          <p:cNvPr descr="往下" id="293" name="Google Shape;293;h7efd045f0b640493_12_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82126" y="3874861"/>
            <a:ext cx="314554" cy="314554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h7efd045f0b640493_12_60"/>
          <p:cNvSpPr/>
          <p:nvPr/>
        </p:nvSpPr>
        <p:spPr>
          <a:xfrm>
            <a:off x="8622737" y="4220870"/>
            <a:ext cx="2233331" cy="1454810"/>
          </a:xfrm>
          <a:prstGeom prst="roundRect">
            <a:avLst>
              <a:gd fmla="val 6486" name="adj"/>
            </a:avLst>
          </a:prstGeom>
          <a:solidFill>
            <a:srgbClr val="2B24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h7efd045f0b640493_12_60"/>
          <p:cNvSpPr txBox="1"/>
          <p:nvPr/>
        </p:nvSpPr>
        <p:spPr>
          <a:xfrm>
            <a:off x="8842925" y="4378147"/>
            <a:ext cx="1808683" cy="235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A679"/>
              </a:buClr>
              <a:buSzPts val="1050"/>
              <a:buFont typeface="Noto Sans TC"/>
              <a:buNone/>
            </a:pPr>
            <a:r>
              <a:rPr b="1" i="0" lang="zh-TW" sz="1050" u="none" cap="none" strike="noStrike">
                <a:solidFill>
                  <a:srgbClr val="F0A679"/>
                </a:solidFill>
                <a:latin typeface="Noto Sans TC"/>
                <a:ea typeface="Noto Sans TC"/>
                <a:cs typeface="Noto Sans TC"/>
                <a:sym typeface="Noto Sans TC"/>
              </a:rPr>
              <a:t>App 解法</a:t>
            </a:r>
            <a:endParaRPr b="0" i="0" sz="10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pic>
        <p:nvPicPr>
          <p:cNvPr descr="勾選" id="296" name="Google Shape;296;h7efd045f0b640493_12_6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42925" y="4755612"/>
            <a:ext cx="157277" cy="157277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h7efd045f0b640493_12_60"/>
          <p:cNvSpPr txBox="1"/>
          <p:nvPr/>
        </p:nvSpPr>
        <p:spPr>
          <a:xfrm>
            <a:off x="9063112" y="4692701"/>
            <a:ext cx="1730045" cy="2830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Noto Sans TC"/>
              <a:buNone/>
            </a:pPr>
            <a:r>
              <a:rPr b="0" i="0" lang="zh-TW" sz="1300" u="none" cap="none" strike="noStrike">
                <a:solidFill>
                  <a:srgbClr val="FFFFFF"/>
                </a:solidFill>
                <a:latin typeface="Noto Sans TC"/>
                <a:ea typeface="Noto Sans TC"/>
                <a:cs typeface="Noto Sans TC"/>
                <a:sym typeface="Noto Sans TC"/>
              </a:rPr>
              <a:t>照提醒餵就不會錯</a:t>
            </a:r>
            <a:endParaRPr b="0" i="0" sz="13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pic>
        <p:nvPicPr>
          <p:cNvPr descr="勾選" id="298" name="Google Shape;298;h7efd045f0b640493_12_6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42925" y="5038710"/>
            <a:ext cx="157277" cy="157277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h7efd045f0b640493_12_60"/>
          <p:cNvSpPr txBox="1"/>
          <p:nvPr/>
        </p:nvSpPr>
        <p:spPr>
          <a:xfrm>
            <a:off x="9063112" y="4975799"/>
            <a:ext cx="1730045" cy="2830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Noto Sans TC"/>
              <a:buNone/>
            </a:pPr>
            <a:r>
              <a:rPr b="0" i="0" lang="zh-TW" sz="1300" u="none" cap="none" strike="noStrike">
                <a:solidFill>
                  <a:srgbClr val="FFFFFF"/>
                </a:solidFill>
                <a:latin typeface="Noto Sans TC"/>
                <a:ea typeface="Noto Sans TC"/>
                <a:cs typeface="Noto Sans TC"/>
                <a:sym typeface="Noto Sans TC"/>
              </a:rPr>
              <a:t>提醒設定指定藥品</a:t>
            </a:r>
            <a:endParaRPr b="0" i="0" sz="13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300" name="Google Shape;300;h7efd045f0b640493_12_60"/>
          <p:cNvSpPr txBox="1"/>
          <p:nvPr/>
        </p:nvSpPr>
        <p:spPr>
          <a:xfrm>
            <a:off x="1325880" y="5817230"/>
            <a:ext cx="9538838" cy="235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44C"/>
              </a:buClr>
              <a:buSzPts val="950"/>
              <a:buFont typeface="Noto Sans TC"/>
              <a:buNone/>
            </a:pPr>
            <a:r>
              <a:rPr b="0" i="0" lang="zh-TW" sz="950" u="none" cap="none" strike="noStrike">
                <a:solidFill>
                  <a:srgbClr val="5E544C"/>
                </a:solidFill>
                <a:latin typeface="Noto Sans TC"/>
                <a:ea typeface="Noto Sans TC"/>
                <a:cs typeface="Noto Sans TC"/>
                <a:sym typeface="Noto Sans TC"/>
              </a:rPr>
              <a:t>資料來源：Dysart et al. (2011)；Odom et al. (2024)；新聞案例（香港 SPCA、2026/10 寵物展滴劑事件）</a:t>
            </a:r>
            <a:endParaRPr b="0" i="0" sz="9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301" name="Google Shape;301;h7efd045f0b640493_12_60"/>
          <p:cNvSpPr txBox="1"/>
          <p:nvPr/>
        </p:nvSpPr>
        <p:spPr>
          <a:xfrm>
            <a:off x="11487475" y="6245275"/>
            <a:ext cx="38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h3723bf8c3e55f109_3_77"/>
          <p:cNvSpPr txBox="1"/>
          <p:nvPr/>
        </p:nvSpPr>
        <p:spPr>
          <a:xfrm>
            <a:off x="868680" y="685800"/>
            <a:ext cx="5486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TW" sz="1400" u="none" cap="none" strike="noStrike">
                <a:solidFill>
                  <a:srgbClr val="B4572C"/>
                </a:solidFill>
                <a:latin typeface="Noto Sans TC"/>
                <a:ea typeface="Noto Sans TC"/>
                <a:cs typeface="Noto Sans TC"/>
                <a:sym typeface="Noto Sans TC"/>
              </a:rPr>
              <a:t>App 定位</a:t>
            </a:r>
            <a:endParaRPr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307" name="Google Shape;307;h3723bf8c3e55f109_3_77"/>
          <p:cNvSpPr txBox="1"/>
          <p:nvPr/>
        </p:nvSpPr>
        <p:spPr>
          <a:xfrm>
            <a:off x="868680" y="960120"/>
            <a:ext cx="10424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TW" sz="2800" u="none" cap="none" strike="noStrike">
                <a:solidFill>
                  <a:srgbClr val="2B2420"/>
                </a:solidFill>
                <a:latin typeface="Noto Sans TC"/>
                <a:ea typeface="Noto Sans TC"/>
                <a:cs typeface="Noto Sans TC"/>
                <a:sym typeface="Noto Sans TC"/>
              </a:rPr>
              <a:t>以社群和遊戲為基底</a:t>
            </a:r>
            <a:r>
              <a:rPr b="1" lang="zh-TW" sz="2800">
                <a:solidFill>
                  <a:srgbClr val="2B2420"/>
                </a:solidFill>
                <a:latin typeface="Noto Sans TC"/>
                <a:ea typeface="Noto Sans TC"/>
                <a:cs typeface="Noto Sans TC"/>
                <a:sym typeface="Noto Sans TC"/>
              </a:rPr>
              <a:t>包裝動物app</a:t>
            </a:r>
            <a:r>
              <a:rPr b="1" i="0" lang="zh-TW" sz="2800" u="none" cap="none" strike="noStrike">
                <a:solidFill>
                  <a:srgbClr val="2B2420"/>
                </a:solidFill>
                <a:latin typeface="Noto Sans TC"/>
                <a:ea typeface="Noto Sans TC"/>
                <a:cs typeface="Noto Sans TC"/>
                <a:sym typeface="Noto Sans TC"/>
              </a:rPr>
              <a:t>，AI 是我們的創新</a:t>
            </a:r>
            <a:endParaRPr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308" name="Google Shape;308;h3723bf8c3e55f109_3_77"/>
          <p:cNvSpPr/>
          <p:nvPr/>
        </p:nvSpPr>
        <p:spPr>
          <a:xfrm>
            <a:off x="868680" y="1645920"/>
            <a:ext cx="10469880" cy="1691640"/>
          </a:xfrm>
          <a:prstGeom prst="roundRect">
            <a:avLst>
              <a:gd fmla="val 6000" name="adj"/>
            </a:avLst>
          </a:prstGeom>
          <a:solidFill>
            <a:srgbClr val="2B24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8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309" name="Google Shape;309;h3723bf8c3e55f109_3_77"/>
          <p:cNvSpPr/>
          <p:nvPr/>
        </p:nvSpPr>
        <p:spPr>
          <a:xfrm>
            <a:off x="1188720" y="1874519"/>
            <a:ext cx="1737360" cy="384048"/>
          </a:xfrm>
          <a:prstGeom prst="roundRect">
            <a:avLst>
              <a:gd fmla="val 50000" name="adj"/>
            </a:avLst>
          </a:prstGeom>
          <a:solidFill>
            <a:srgbClr val="B4572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TW" sz="1400" u="none" cap="none" strike="noStrike">
                <a:solidFill>
                  <a:srgbClr val="FFFFFF"/>
                </a:solidFill>
                <a:latin typeface="Noto Sans TC"/>
                <a:ea typeface="Noto Sans TC"/>
                <a:cs typeface="Noto Sans TC"/>
                <a:sym typeface="Noto Sans TC"/>
              </a:rPr>
              <a:t>亮點與創新</a:t>
            </a:r>
            <a:endParaRPr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310" name="Google Shape;310;h3723bf8c3e55f109_3_77"/>
          <p:cNvSpPr txBox="1"/>
          <p:nvPr/>
        </p:nvSpPr>
        <p:spPr>
          <a:xfrm>
            <a:off x="1188720" y="2377440"/>
            <a:ext cx="3017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TW" sz="4000" u="none" cap="none" strike="noStrike">
                <a:solidFill>
                  <a:srgbClr val="FFFFFF"/>
                </a:solidFill>
                <a:latin typeface="Noto Sans TC"/>
                <a:ea typeface="Noto Sans TC"/>
                <a:cs typeface="Noto Sans TC"/>
                <a:sym typeface="Noto Sans TC"/>
              </a:rPr>
              <a:t>AI</a:t>
            </a:r>
            <a:r>
              <a:rPr b="1" lang="zh-TW" sz="4000">
                <a:solidFill>
                  <a:srgbClr val="FFFFFF"/>
                </a:solidFill>
                <a:latin typeface="Noto Sans TC"/>
                <a:ea typeface="Noto Sans TC"/>
                <a:cs typeface="Noto Sans TC"/>
                <a:sym typeface="Noto Sans TC"/>
              </a:rPr>
              <a:t> 紀錄助理</a:t>
            </a:r>
            <a:endParaRPr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311" name="Google Shape;311;h3723bf8c3e55f109_3_77"/>
          <p:cNvSpPr txBox="1"/>
          <p:nvPr/>
        </p:nvSpPr>
        <p:spPr>
          <a:xfrm>
            <a:off x="4480560" y="1783080"/>
            <a:ext cx="7315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TW" sz="2200" u="none" cap="none" strike="noStrike">
                <a:solidFill>
                  <a:srgbClr val="F0A27A"/>
                </a:solidFill>
                <a:latin typeface="Noto Sans TC"/>
                <a:ea typeface="Noto Sans TC"/>
                <a:cs typeface="Noto Sans TC"/>
                <a:sym typeface="Noto Sans TC"/>
              </a:rPr>
              <a:t>✓  </a:t>
            </a:r>
            <a:r>
              <a:rPr b="1" lang="zh-TW" sz="2200">
                <a:solidFill>
                  <a:srgbClr val="FFFFFF"/>
                </a:solidFill>
                <a:latin typeface="Noto Sans TC"/>
                <a:ea typeface="Noto Sans TC"/>
                <a:cs typeface="Noto Sans TC"/>
                <a:sym typeface="Noto Sans TC"/>
              </a:rPr>
              <a:t>用追問讓飼主了解問題</a:t>
            </a:r>
            <a:endParaRPr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312" name="Google Shape;312;h3723bf8c3e55f109_3_77"/>
          <p:cNvSpPr txBox="1"/>
          <p:nvPr/>
        </p:nvSpPr>
        <p:spPr>
          <a:xfrm>
            <a:off x="4480560" y="2286000"/>
            <a:ext cx="7315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TW" sz="2200" u="none" cap="none" strike="noStrike">
                <a:solidFill>
                  <a:srgbClr val="F0A27A"/>
                </a:solidFill>
                <a:latin typeface="Noto Sans TC"/>
                <a:ea typeface="Noto Sans TC"/>
                <a:cs typeface="Noto Sans TC"/>
                <a:sym typeface="Noto Sans TC"/>
              </a:rPr>
              <a:t>✓  </a:t>
            </a:r>
            <a:r>
              <a:rPr b="1" lang="zh-TW" sz="2200">
                <a:solidFill>
                  <a:srgbClr val="FFFFFF"/>
                </a:solidFill>
                <a:latin typeface="Noto Sans TC"/>
                <a:ea typeface="Noto Sans TC"/>
                <a:cs typeface="Noto Sans TC"/>
                <a:sym typeface="Noto Sans TC"/>
              </a:rPr>
              <a:t>生成看診前報告</a:t>
            </a:r>
            <a:endParaRPr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313" name="Google Shape;313;h3723bf8c3e55f109_3_77"/>
          <p:cNvSpPr txBox="1"/>
          <p:nvPr/>
        </p:nvSpPr>
        <p:spPr>
          <a:xfrm>
            <a:off x="4480560" y="2788920"/>
            <a:ext cx="7315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TW" sz="1800" u="none" cap="none" strike="noStrike">
                <a:solidFill>
                  <a:srgbClr val="F0A27A"/>
                </a:solidFill>
                <a:latin typeface="Noto Sans TC"/>
                <a:ea typeface="Noto Sans TC"/>
                <a:cs typeface="Noto Sans TC"/>
                <a:sym typeface="Noto Sans TC"/>
              </a:rPr>
              <a:t>市場上目前都沒有人做</a:t>
            </a:r>
            <a:endParaRPr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314" name="Google Shape;314;h3723bf8c3e55f109_3_77"/>
          <p:cNvSpPr/>
          <p:nvPr/>
        </p:nvSpPr>
        <p:spPr>
          <a:xfrm>
            <a:off x="868680" y="3520440"/>
            <a:ext cx="5120640" cy="1737360"/>
          </a:xfrm>
          <a:prstGeom prst="roundRect">
            <a:avLst>
              <a:gd fmla="val 6000" name="adj"/>
            </a:avLst>
          </a:prstGeom>
          <a:solidFill>
            <a:srgbClr val="ECE5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8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315" name="Google Shape;315;h3723bf8c3e55f109_3_77"/>
          <p:cNvSpPr/>
          <p:nvPr/>
        </p:nvSpPr>
        <p:spPr>
          <a:xfrm>
            <a:off x="1143000" y="3749039"/>
            <a:ext cx="2103120" cy="402336"/>
          </a:xfrm>
          <a:prstGeom prst="roundRect">
            <a:avLst>
              <a:gd fmla="val 50000" name="adj"/>
            </a:avLst>
          </a:prstGeom>
          <a:solidFill>
            <a:srgbClr val="F6E3D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TW" sz="1600" u="none" cap="none" strike="noStrike">
                <a:solidFill>
                  <a:srgbClr val="B4572C"/>
                </a:solidFill>
                <a:latin typeface="Noto Sans TC"/>
                <a:ea typeface="Noto Sans TC"/>
                <a:cs typeface="Noto Sans TC"/>
                <a:sym typeface="Noto Sans TC"/>
              </a:rPr>
              <a:t>基底 01｜社群</a:t>
            </a:r>
            <a:endParaRPr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316" name="Google Shape;316;h3723bf8c3e55f109_3_77"/>
          <p:cNvSpPr txBox="1"/>
          <p:nvPr/>
        </p:nvSpPr>
        <p:spPr>
          <a:xfrm>
            <a:off x="3429000" y="3749039"/>
            <a:ext cx="2651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TW" sz="1800" u="none" cap="none" strike="noStrike">
                <a:solidFill>
                  <a:srgbClr val="2B2420"/>
                </a:solidFill>
                <a:latin typeface="Noto Sans TC"/>
                <a:ea typeface="Noto Sans TC"/>
                <a:cs typeface="Noto Sans TC"/>
                <a:sym typeface="Noto Sans TC"/>
              </a:rPr>
              <a:t>把飼主帶進來</a:t>
            </a:r>
            <a:endParaRPr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317" name="Google Shape;317;h3723bf8c3e55f109_3_77"/>
          <p:cNvSpPr/>
          <p:nvPr/>
        </p:nvSpPr>
        <p:spPr>
          <a:xfrm>
            <a:off x="1097280" y="4434840"/>
            <a:ext cx="1554480" cy="59436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TW" sz="1800" u="none" cap="none" strike="noStrike">
                <a:solidFill>
                  <a:srgbClr val="2B2420"/>
                </a:solidFill>
                <a:latin typeface="Noto Sans TC"/>
                <a:ea typeface="Noto Sans TC"/>
                <a:cs typeface="Noto Sans TC"/>
                <a:sym typeface="Noto Sans TC"/>
              </a:rPr>
              <a:t>網紅入駐</a:t>
            </a:r>
            <a:endParaRPr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318" name="Google Shape;318;h3723bf8c3e55f109_3_77"/>
          <p:cNvSpPr/>
          <p:nvPr/>
        </p:nvSpPr>
        <p:spPr>
          <a:xfrm>
            <a:off x="2697480" y="4434840"/>
            <a:ext cx="1554480" cy="59436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TW" sz="1800" u="none" cap="none" strike="noStrike">
                <a:solidFill>
                  <a:srgbClr val="2B2420"/>
                </a:solidFill>
                <a:latin typeface="Noto Sans TC"/>
                <a:ea typeface="Noto Sans TC"/>
                <a:cs typeface="Noto Sans TC"/>
                <a:sym typeface="Noto Sans TC"/>
              </a:rPr>
              <a:t>貼文交流</a:t>
            </a:r>
            <a:endParaRPr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319" name="Google Shape;319;h3723bf8c3e55f109_3_77"/>
          <p:cNvSpPr/>
          <p:nvPr/>
        </p:nvSpPr>
        <p:spPr>
          <a:xfrm>
            <a:off x="4297680" y="4434840"/>
            <a:ext cx="1554480" cy="59436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TW" sz="1800" u="none" cap="none" strike="noStrike">
                <a:solidFill>
                  <a:srgbClr val="2B2420"/>
                </a:solidFill>
                <a:latin typeface="Noto Sans TC"/>
                <a:ea typeface="Noto Sans TC"/>
                <a:cs typeface="Noto Sans TC"/>
                <a:sym typeface="Noto Sans TC"/>
              </a:rPr>
              <a:t>社交全免費</a:t>
            </a:r>
            <a:endParaRPr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320" name="Google Shape;320;h3723bf8c3e55f109_3_77"/>
          <p:cNvSpPr/>
          <p:nvPr/>
        </p:nvSpPr>
        <p:spPr>
          <a:xfrm>
            <a:off x="6217920" y="3520440"/>
            <a:ext cx="5120640" cy="1737360"/>
          </a:xfrm>
          <a:prstGeom prst="roundRect">
            <a:avLst>
              <a:gd fmla="val 6000" name="adj"/>
            </a:avLst>
          </a:prstGeom>
          <a:solidFill>
            <a:srgbClr val="ECE5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8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321" name="Google Shape;321;h3723bf8c3e55f109_3_77"/>
          <p:cNvSpPr/>
          <p:nvPr/>
        </p:nvSpPr>
        <p:spPr>
          <a:xfrm>
            <a:off x="6492240" y="3749039"/>
            <a:ext cx="2103120" cy="402336"/>
          </a:xfrm>
          <a:prstGeom prst="roundRect">
            <a:avLst>
              <a:gd fmla="val 50000" name="adj"/>
            </a:avLst>
          </a:prstGeom>
          <a:solidFill>
            <a:srgbClr val="F6E3D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TW" sz="1600" u="none" cap="none" strike="noStrike">
                <a:solidFill>
                  <a:srgbClr val="B4572C"/>
                </a:solidFill>
                <a:latin typeface="Noto Sans TC"/>
                <a:ea typeface="Noto Sans TC"/>
                <a:cs typeface="Noto Sans TC"/>
                <a:sym typeface="Noto Sans TC"/>
              </a:rPr>
              <a:t>基底 02｜遊戲</a:t>
            </a:r>
            <a:endParaRPr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322" name="Google Shape;322;h3723bf8c3e55f109_3_77"/>
          <p:cNvSpPr txBox="1"/>
          <p:nvPr/>
        </p:nvSpPr>
        <p:spPr>
          <a:xfrm>
            <a:off x="8778240" y="3749039"/>
            <a:ext cx="2651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TW" sz="1800" u="none" cap="none" strike="noStrike">
                <a:solidFill>
                  <a:srgbClr val="2B2420"/>
                </a:solidFill>
                <a:latin typeface="Noto Sans TC"/>
                <a:ea typeface="Noto Sans TC"/>
                <a:cs typeface="Noto Sans TC"/>
                <a:sym typeface="Noto Sans TC"/>
              </a:rPr>
              <a:t>讓飼主每天回來</a:t>
            </a:r>
            <a:endParaRPr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323" name="Google Shape;323;h3723bf8c3e55f109_3_77"/>
          <p:cNvSpPr/>
          <p:nvPr/>
        </p:nvSpPr>
        <p:spPr>
          <a:xfrm>
            <a:off x="6446520" y="4434840"/>
            <a:ext cx="1554480" cy="59436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TW" sz="1800" u="none" cap="none" strike="noStrike">
                <a:solidFill>
                  <a:srgbClr val="2B2420"/>
                </a:solidFill>
                <a:latin typeface="Noto Sans TC"/>
                <a:ea typeface="Noto Sans TC"/>
                <a:cs typeface="Noto Sans TC"/>
                <a:sym typeface="Noto Sans TC"/>
              </a:rPr>
              <a:t>每日任務</a:t>
            </a:r>
            <a:endParaRPr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324" name="Google Shape;324;h3723bf8c3e55f109_3_77"/>
          <p:cNvSpPr/>
          <p:nvPr/>
        </p:nvSpPr>
        <p:spPr>
          <a:xfrm>
            <a:off x="8046720" y="4434840"/>
            <a:ext cx="1554480" cy="59436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TW" sz="1800" u="none" cap="none" strike="noStrike">
                <a:solidFill>
                  <a:srgbClr val="2B2420"/>
                </a:solidFill>
                <a:latin typeface="Noto Sans TC"/>
                <a:ea typeface="Noto Sans TC"/>
                <a:cs typeface="Noto Sans TC"/>
                <a:sym typeface="Noto Sans TC"/>
              </a:rPr>
              <a:t>連續完成獎勵</a:t>
            </a:r>
            <a:endParaRPr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325" name="Google Shape;325;h3723bf8c3e55f109_3_77"/>
          <p:cNvSpPr/>
          <p:nvPr/>
        </p:nvSpPr>
        <p:spPr>
          <a:xfrm>
            <a:off x="9646920" y="4434840"/>
            <a:ext cx="1554480" cy="59436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TW" sz="1800" u="none" cap="none" strike="noStrike">
                <a:solidFill>
                  <a:srgbClr val="2B2420"/>
                </a:solidFill>
                <a:latin typeface="Noto Sans TC"/>
                <a:ea typeface="Noto Sans TC"/>
                <a:cs typeface="Noto Sans TC"/>
                <a:sym typeface="Noto Sans TC"/>
              </a:rPr>
              <a:t>餵完打勾</a:t>
            </a:r>
            <a:endParaRPr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326" name="Google Shape;326;h3723bf8c3e55f109_3_77"/>
          <p:cNvSpPr/>
          <p:nvPr/>
        </p:nvSpPr>
        <p:spPr>
          <a:xfrm>
            <a:off x="1325880" y="5440680"/>
            <a:ext cx="10012680" cy="502920"/>
          </a:xfrm>
          <a:prstGeom prst="rect">
            <a:avLst/>
          </a:prstGeom>
          <a:solidFill>
            <a:srgbClr val="ECE5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8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327" name="Google Shape;327;h3723bf8c3e55f109_3_77"/>
          <p:cNvSpPr/>
          <p:nvPr/>
        </p:nvSpPr>
        <p:spPr>
          <a:xfrm>
            <a:off x="1325880" y="5440680"/>
            <a:ext cx="73152" cy="502920"/>
          </a:xfrm>
          <a:prstGeom prst="rect">
            <a:avLst/>
          </a:prstGeom>
          <a:solidFill>
            <a:srgbClr val="B4572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8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328" name="Google Shape;328;h3723bf8c3e55f109_3_77"/>
          <p:cNvSpPr txBox="1"/>
          <p:nvPr/>
        </p:nvSpPr>
        <p:spPr>
          <a:xfrm>
            <a:off x="1600200" y="5553543"/>
            <a:ext cx="9601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TW" sz="1800" u="none" cap="none" strike="noStrike">
                <a:solidFill>
                  <a:srgbClr val="B4572C"/>
                </a:solidFill>
                <a:latin typeface="Noto Sans TC"/>
                <a:ea typeface="Noto Sans TC"/>
                <a:cs typeface="Noto Sans TC"/>
                <a:sym typeface="Noto Sans TC"/>
              </a:rPr>
              <a:t>社群＋遊戲</a:t>
            </a:r>
            <a:r>
              <a:rPr i="0" lang="zh-TW" sz="1800" u="none" cap="none" strike="noStrike">
                <a:solidFill>
                  <a:srgbClr val="2B2420"/>
                </a:solidFill>
                <a:latin typeface="Noto Sans TC"/>
                <a:ea typeface="Noto Sans TC"/>
                <a:cs typeface="Noto Sans TC"/>
                <a:sym typeface="Noto Sans TC"/>
              </a:rPr>
              <a:t>讓飼主天天打開 App；</a:t>
            </a:r>
            <a:r>
              <a:rPr b="1" i="0" lang="zh-TW" sz="1800" u="none" cap="none" strike="noStrike">
                <a:solidFill>
                  <a:srgbClr val="B4572C"/>
                </a:solidFill>
                <a:latin typeface="Noto Sans TC"/>
                <a:ea typeface="Noto Sans TC"/>
                <a:cs typeface="Noto Sans TC"/>
                <a:sym typeface="Noto Sans TC"/>
              </a:rPr>
              <a:t>AI 與手冊</a:t>
            </a:r>
            <a:r>
              <a:rPr i="0" lang="zh-TW" sz="1800" u="none" cap="none" strike="noStrike">
                <a:solidFill>
                  <a:srgbClr val="2B2420"/>
                </a:solidFill>
                <a:latin typeface="Noto Sans TC"/>
                <a:ea typeface="Noto Sans TC"/>
                <a:cs typeface="Noto Sans TC"/>
                <a:sym typeface="Noto Sans TC"/>
              </a:rPr>
              <a:t>讓我們和其他寵物 App 不一樣。</a:t>
            </a:r>
            <a:endParaRPr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329" name="Google Shape;329;h3723bf8c3e55f109_3_77"/>
          <p:cNvSpPr txBox="1"/>
          <p:nvPr/>
        </p:nvSpPr>
        <p:spPr>
          <a:xfrm>
            <a:off x="11471900" y="6255750"/>
            <a:ext cx="38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h3a2b7a9f0de5890c_3_9"/>
          <p:cNvSpPr txBox="1"/>
          <p:nvPr>
            <p:ph idx="1" type="body"/>
          </p:nvPr>
        </p:nvSpPr>
        <p:spPr>
          <a:xfrm>
            <a:off x="1325880" y="804672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</a:pPr>
            <a:r>
              <a:rPr b="1" lang="zh-TW" sz="1200">
                <a:solidFill>
                  <a:schemeClr val="accent5"/>
                </a:solidFill>
              </a:rPr>
              <a:t>競品分析</a:t>
            </a:r>
            <a:endParaRPr sz="1200"/>
          </a:p>
        </p:txBody>
      </p:sp>
      <p:sp>
        <p:nvSpPr>
          <p:cNvPr id="336" name="Google Shape;336;h3a2b7a9f0de5890c_3_9"/>
          <p:cNvSpPr txBox="1"/>
          <p:nvPr>
            <p:ph type="title"/>
          </p:nvPr>
        </p:nvSpPr>
        <p:spPr>
          <a:xfrm>
            <a:off x="1325880" y="1097280"/>
            <a:ext cx="95097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TC"/>
              <a:buNone/>
            </a:pPr>
            <a:r>
              <a:rPr b="1" lang="zh-TW" sz="2800">
                <a:solidFill>
                  <a:schemeClr val="dk1"/>
                </a:solidFill>
              </a:rPr>
              <a:t>市場上使用人數最多的動物飼養 App</a:t>
            </a:r>
            <a:endParaRPr sz="2800"/>
          </a:p>
        </p:txBody>
      </p:sp>
      <p:graphicFrame>
        <p:nvGraphicFramePr>
          <p:cNvPr id="337" name="Google Shape;337;h3a2b7a9f0de5890c_3_9"/>
          <p:cNvGraphicFramePr/>
          <p:nvPr/>
        </p:nvGraphicFramePr>
        <p:xfrm>
          <a:off x="1325880" y="186171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{D10E4BA7-AE0F-41F9-961D-6F09CFF1A3A9}</a:tableStyleId>
              </a:tblPr>
              <a:tblGrid>
                <a:gridCol w="2005275"/>
                <a:gridCol w="1506725"/>
                <a:gridCol w="1506725"/>
                <a:gridCol w="1506725"/>
                <a:gridCol w="1506725"/>
                <a:gridCol w="1506725"/>
              </a:tblGrid>
              <a:tr h="613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Noto Sans TC"/>
                        <a:buNone/>
                      </a:pPr>
                      <a:r>
                        <a:rPr b="1" lang="zh-TW" sz="1300" u="none" cap="none" strike="noStrike">
                          <a:solidFill>
                            <a:srgbClr val="FFFFFF"/>
                          </a:solidFill>
                        </a:rPr>
                        <a:t>App</a:t>
                      </a:r>
                      <a:endParaRPr sz="1300" u="none" cap="none" strike="noStrike"/>
                    </a:p>
                  </a:txBody>
                  <a:tcPr marT="0" marB="0" marR="157275" marL="157275" anchor="ctr">
                    <a:lnL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B24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Noto Sans TC"/>
                        <a:buNone/>
                      </a:pPr>
                      <a:r>
                        <a:rPr b="1" lang="zh-TW" sz="1300" u="none" cap="none" strike="noStrike">
                          <a:solidFill>
                            <a:srgbClr val="FFFFFF"/>
                          </a:solidFill>
                        </a:rPr>
                        <a:t>AI 健康</a:t>
                      </a:r>
                      <a:endParaRPr sz="13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Noto Sans TC"/>
                        <a:buNone/>
                      </a:pPr>
                      <a:r>
                        <a:rPr b="1" lang="zh-TW" sz="1300" u="none" cap="none" strike="noStrike">
                          <a:solidFill>
                            <a:srgbClr val="FFFFFF"/>
                          </a:solidFill>
                        </a:rPr>
                        <a:t>問答</a:t>
                      </a:r>
                      <a:endParaRPr sz="1300" u="none" cap="none" strike="noStrike"/>
                    </a:p>
                  </a:txBody>
                  <a:tcPr marT="0" marB="0" marR="39325" marL="39325" anchor="ctr">
                    <a:lnL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B24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Noto Sans TC"/>
                        <a:buNone/>
                      </a:pPr>
                      <a:r>
                        <a:rPr b="1" lang="zh-TW" sz="1300" u="none" cap="none" strike="noStrike">
                          <a:solidFill>
                            <a:srgbClr val="FFFFFF"/>
                          </a:solidFill>
                        </a:rPr>
                        <a:t>用藥提醒</a:t>
                      </a:r>
                      <a:endParaRPr sz="1300" u="none" cap="none" strike="noStrike"/>
                    </a:p>
                  </a:txBody>
                  <a:tcPr marT="0" marB="0" marR="39325" marL="39325" anchor="ctr">
                    <a:lnL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B24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Noto Sans TC"/>
                        <a:buNone/>
                      </a:pPr>
                      <a:r>
                        <a:rPr b="1" lang="zh-TW" sz="1300" u="none" cap="none" strike="noStrike">
                          <a:solidFill>
                            <a:srgbClr val="FFFFFF"/>
                          </a:solidFill>
                        </a:rPr>
                        <a:t>家人共享</a:t>
                      </a:r>
                      <a:endParaRPr sz="1300" u="none" cap="none" strike="noStrike"/>
                    </a:p>
                  </a:txBody>
                  <a:tcPr marT="0" marB="0" marR="39325" marL="39325" anchor="ctr">
                    <a:lnL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B24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Noto Sans TC"/>
                        <a:buNone/>
                      </a:pPr>
                      <a:r>
                        <a:rPr b="1" lang="zh-TW" sz="1300" u="none" cap="none" strike="noStrike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AI 看診前</a:t>
                      </a:r>
                      <a:endParaRPr b="1" sz="1300" u="none" cap="none" strike="noStrike">
                        <a:latin typeface="Noto Sans TC"/>
                        <a:ea typeface="Noto Sans TC"/>
                        <a:cs typeface="Noto Sans TC"/>
                        <a:sym typeface="Noto Sans TC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Noto Sans TC"/>
                        <a:buNone/>
                      </a:pPr>
                      <a:r>
                        <a:rPr b="1" lang="zh-TW" sz="130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紀錄與報告</a:t>
                      </a:r>
                      <a:endParaRPr b="1" sz="1300" u="none" cap="none" strike="noStrike">
                        <a:latin typeface="Noto Sans TC"/>
                        <a:ea typeface="Noto Sans TC"/>
                        <a:cs typeface="Noto Sans TC"/>
                        <a:sym typeface="Noto Sans TC"/>
                      </a:endParaRPr>
                    </a:p>
                  </a:txBody>
                  <a:tcPr marT="0" marB="0" marR="39325" marL="39325" anchor="ctr">
                    <a:lnL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572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Noto Sans TC"/>
                        <a:buNone/>
                      </a:pPr>
                      <a:r>
                        <a:rPr b="1" lang="zh-TW" sz="1300" u="none" cap="none" strike="noStrike">
                          <a:solidFill>
                            <a:srgbClr val="FFFFFF"/>
                          </a:solidFill>
                        </a:rPr>
                        <a:t>具備</a:t>
                      </a:r>
                      <a:endParaRPr sz="1300" u="none" cap="none" strike="noStrike"/>
                    </a:p>
                  </a:txBody>
                  <a:tcPr marT="0" marB="0" marR="39325" marL="39325" anchor="ctr">
                    <a:lnL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B2420"/>
                    </a:solidFill>
                  </a:tcPr>
                </a:tc>
              </a:tr>
              <a:tr h="519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420"/>
                        </a:buClr>
                        <a:buSzPts val="1400"/>
                        <a:buFont typeface="Noto Sans TC"/>
                        <a:buNone/>
                      </a:pPr>
                      <a:r>
                        <a:rPr b="1" lang="zh-TW" sz="1400" u="none" cap="none" strike="noStrike">
                          <a:solidFill>
                            <a:srgbClr val="2B2420"/>
                          </a:solidFill>
                        </a:rPr>
                        <a:t>Memoark</a:t>
                      </a:r>
                      <a:endParaRPr sz="1400" u="none" cap="none" strike="noStrike"/>
                    </a:p>
                  </a:txBody>
                  <a:tcPr marT="0" marB="0" marR="157275" marL="157275" anchor="ctr">
                    <a:lnL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876A"/>
                        </a:buClr>
                        <a:buSzPts val="1900"/>
                        <a:buFont typeface="Noto Sans TC"/>
                        <a:buNone/>
                      </a:pPr>
                      <a:r>
                        <a:rPr b="1" lang="zh-TW" sz="1900" u="none" cap="none" strike="noStrike">
                          <a:solidFill>
                            <a:srgbClr val="00876A"/>
                          </a:solidFill>
                        </a:rPr>
                        <a:t>✓</a:t>
                      </a:r>
                      <a:endParaRPr sz="1900" u="none" cap="none" strike="noStrike"/>
                    </a:p>
                  </a:txBody>
                  <a:tcPr marT="0" marB="0" marR="157275" marL="157275" anchor="ctr">
                    <a:lnL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876A"/>
                        </a:buClr>
                        <a:buSzPts val="1900"/>
                        <a:buFont typeface="Noto Sans TC"/>
                        <a:buNone/>
                      </a:pPr>
                      <a:r>
                        <a:rPr b="1" lang="zh-TW" sz="1900" u="none" cap="none" strike="noStrike">
                          <a:solidFill>
                            <a:srgbClr val="00876A"/>
                          </a:solidFill>
                        </a:rPr>
                        <a:t>✓</a:t>
                      </a:r>
                      <a:endParaRPr sz="1900" u="none" cap="none" strike="noStrike"/>
                    </a:p>
                  </a:txBody>
                  <a:tcPr marT="0" marB="0" marR="157275" marL="157275" anchor="ctr">
                    <a:lnL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5ABA1"/>
                        </a:buClr>
                        <a:buSzPts val="1300"/>
                        <a:buFont typeface="Noto Sans TC"/>
                        <a:buNone/>
                      </a:pPr>
                      <a:r>
                        <a:rPr lang="zh-TW" sz="1300" u="none" cap="none" strike="noStrike">
                          <a:solidFill>
                            <a:srgbClr val="B5ABA1"/>
                          </a:solidFill>
                        </a:rPr>
                        <a:t>—</a:t>
                      </a:r>
                      <a:endParaRPr sz="1300" u="none" cap="none" strike="noStrike"/>
                    </a:p>
                  </a:txBody>
                  <a:tcPr marT="0" marB="0" marR="157275" marL="157275" anchor="ctr">
                    <a:lnL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5ABA1"/>
                        </a:buClr>
                        <a:buSzPts val="1300"/>
                        <a:buFont typeface="Noto Sans TC"/>
                        <a:buNone/>
                      </a:pPr>
                      <a:r>
                        <a:rPr lang="zh-TW" sz="1300" u="none" cap="none" strike="noStrike">
                          <a:solidFill>
                            <a:srgbClr val="B5ABA1"/>
                          </a:solidFill>
                        </a:rPr>
                        <a:t>—</a:t>
                      </a:r>
                      <a:endParaRPr sz="1300" u="none" cap="none" strike="noStrike"/>
                    </a:p>
                  </a:txBody>
                  <a:tcPr marT="0" marB="0" marR="157275" marL="157275" anchor="ctr">
                    <a:lnL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420"/>
                        </a:buClr>
                        <a:buSzPts val="1400"/>
                        <a:buFont typeface="Noto Sans TC"/>
                        <a:buNone/>
                      </a:pPr>
                      <a:r>
                        <a:rPr b="1" lang="zh-TW" sz="1400" u="none" cap="none" strike="noStrike">
                          <a:solidFill>
                            <a:srgbClr val="2B2420"/>
                          </a:solidFill>
                        </a:rPr>
                        <a:t>2 / 4</a:t>
                      </a:r>
                      <a:endParaRPr sz="1400" u="none" cap="none" strike="noStrike"/>
                    </a:p>
                  </a:txBody>
                  <a:tcPr marT="0" marB="0" marR="157275" marL="157275" anchor="ctr">
                    <a:lnL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A"/>
                    </a:solidFill>
                  </a:tcPr>
                </a:tc>
              </a:tr>
              <a:tr h="519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420"/>
                        </a:buClr>
                        <a:buSzPts val="1400"/>
                        <a:buFont typeface="Noto Sans TC"/>
                        <a:buNone/>
                      </a:pPr>
                      <a:r>
                        <a:rPr b="1" lang="zh-TW" sz="1400" u="none" cap="none" strike="noStrike">
                          <a:solidFill>
                            <a:srgbClr val="2B2420"/>
                          </a:solidFill>
                        </a:rPr>
                        <a:t>PetnotePlus</a:t>
                      </a:r>
                      <a:endParaRPr sz="1400" u="none" cap="none" strike="noStrike"/>
                    </a:p>
                  </a:txBody>
                  <a:tcPr marT="0" marB="0" marR="157275" marL="157275" anchor="ctr">
                    <a:lnL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5ABA1"/>
                        </a:buClr>
                        <a:buSzPts val="1300"/>
                        <a:buFont typeface="Noto Sans TC"/>
                        <a:buNone/>
                      </a:pPr>
                      <a:r>
                        <a:rPr lang="zh-TW" sz="1300" u="none" cap="none" strike="noStrike">
                          <a:solidFill>
                            <a:srgbClr val="B5ABA1"/>
                          </a:solidFill>
                        </a:rPr>
                        <a:t>—</a:t>
                      </a:r>
                      <a:endParaRPr sz="1300" u="none" cap="none" strike="noStrike"/>
                    </a:p>
                  </a:txBody>
                  <a:tcPr marT="0" marB="0" marR="157275" marL="157275" anchor="ctr">
                    <a:lnL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876A"/>
                        </a:buClr>
                        <a:buSzPts val="1900"/>
                        <a:buFont typeface="Noto Sans TC"/>
                        <a:buNone/>
                      </a:pPr>
                      <a:r>
                        <a:rPr b="1" lang="zh-TW" sz="1900" u="none" cap="none" strike="noStrike">
                          <a:solidFill>
                            <a:srgbClr val="00876A"/>
                          </a:solidFill>
                        </a:rPr>
                        <a:t>✓</a:t>
                      </a:r>
                      <a:endParaRPr sz="1900" u="none" cap="none" strike="noStrike"/>
                    </a:p>
                  </a:txBody>
                  <a:tcPr marT="0" marB="0" marR="157275" marL="157275" anchor="ctr">
                    <a:lnL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876A"/>
                        </a:buClr>
                        <a:buSzPts val="1900"/>
                        <a:buFont typeface="Noto Sans TC"/>
                        <a:buNone/>
                      </a:pPr>
                      <a:r>
                        <a:rPr b="1" lang="zh-TW" sz="1900" u="none" cap="none" strike="noStrike">
                          <a:solidFill>
                            <a:srgbClr val="00876A"/>
                          </a:solidFill>
                        </a:rPr>
                        <a:t>✓</a:t>
                      </a:r>
                      <a:endParaRPr sz="1900" u="none" cap="none" strike="noStrike"/>
                    </a:p>
                  </a:txBody>
                  <a:tcPr marT="0" marB="0" marR="157275" marL="157275" anchor="ctr">
                    <a:lnL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5ABA1"/>
                        </a:buClr>
                        <a:buSzPts val="1300"/>
                        <a:buFont typeface="Noto Sans TC"/>
                        <a:buNone/>
                      </a:pPr>
                      <a:r>
                        <a:rPr lang="zh-TW" sz="1300" u="none" cap="none" strike="noStrike">
                          <a:solidFill>
                            <a:srgbClr val="B5ABA1"/>
                          </a:solidFill>
                        </a:rPr>
                        <a:t>—</a:t>
                      </a:r>
                      <a:endParaRPr sz="1300" u="none" cap="none" strike="noStrike"/>
                    </a:p>
                  </a:txBody>
                  <a:tcPr marT="0" marB="0" marR="157275" marL="157275" anchor="ctr">
                    <a:lnL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420"/>
                        </a:buClr>
                        <a:buSzPts val="1400"/>
                        <a:buFont typeface="Noto Sans TC"/>
                        <a:buNone/>
                      </a:pPr>
                      <a:r>
                        <a:rPr b="1" lang="zh-TW" sz="1400" u="none" cap="none" strike="noStrike">
                          <a:solidFill>
                            <a:srgbClr val="2B2420"/>
                          </a:solidFill>
                        </a:rPr>
                        <a:t>2 / 4</a:t>
                      </a:r>
                      <a:endParaRPr sz="1400" u="none" cap="none" strike="noStrike"/>
                    </a:p>
                  </a:txBody>
                  <a:tcPr marT="0" marB="0" marR="157275" marL="157275" anchor="ctr">
                    <a:lnL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EE7"/>
                    </a:solidFill>
                  </a:tcPr>
                </a:tc>
              </a:tr>
              <a:tr h="519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420"/>
                        </a:buClr>
                        <a:buSzPts val="1400"/>
                        <a:buFont typeface="Noto Sans TC"/>
                        <a:buNone/>
                      </a:pPr>
                      <a:r>
                        <a:rPr b="1" lang="zh-TW" sz="1400" u="none" cap="none" strike="noStrike">
                          <a:solidFill>
                            <a:srgbClr val="2B2420"/>
                          </a:solidFill>
                        </a:rPr>
                        <a:t>Petdocs</a:t>
                      </a:r>
                      <a:endParaRPr sz="1400" u="none" cap="none" strike="noStrike"/>
                    </a:p>
                  </a:txBody>
                  <a:tcPr marT="0" marB="0" marR="157275" marL="157275" anchor="ctr">
                    <a:lnL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876A"/>
                        </a:buClr>
                        <a:buSzPts val="1900"/>
                        <a:buFont typeface="Noto Sans TC"/>
                        <a:buNone/>
                      </a:pPr>
                      <a:r>
                        <a:rPr b="1" lang="zh-TW" sz="1900" u="none" cap="none" strike="noStrike">
                          <a:solidFill>
                            <a:srgbClr val="00876A"/>
                          </a:solidFill>
                        </a:rPr>
                        <a:t>✓</a:t>
                      </a:r>
                      <a:endParaRPr sz="1900" u="none" cap="none" strike="noStrike"/>
                    </a:p>
                  </a:txBody>
                  <a:tcPr marT="0" marB="0" marR="157275" marL="157275" anchor="ctr">
                    <a:lnL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5ABA1"/>
                        </a:buClr>
                        <a:buSzPts val="1300"/>
                        <a:buFont typeface="Noto Sans TC"/>
                        <a:buNone/>
                      </a:pPr>
                      <a:r>
                        <a:rPr lang="zh-TW" sz="1300" u="none" cap="none" strike="noStrike">
                          <a:solidFill>
                            <a:srgbClr val="B5ABA1"/>
                          </a:solidFill>
                        </a:rPr>
                        <a:t>—</a:t>
                      </a:r>
                      <a:endParaRPr sz="1300" u="none" cap="none" strike="noStrike"/>
                    </a:p>
                  </a:txBody>
                  <a:tcPr marT="0" marB="0" marR="157275" marL="157275" anchor="ctr">
                    <a:lnL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5ABA1"/>
                        </a:buClr>
                        <a:buSzPts val="1300"/>
                        <a:buFont typeface="Noto Sans TC"/>
                        <a:buNone/>
                      </a:pPr>
                      <a:r>
                        <a:rPr lang="zh-TW" sz="1300" u="none" cap="none" strike="noStrike">
                          <a:solidFill>
                            <a:srgbClr val="B5ABA1"/>
                          </a:solidFill>
                        </a:rPr>
                        <a:t>—</a:t>
                      </a:r>
                      <a:endParaRPr sz="1300" u="none" cap="none" strike="noStrike"/>
                    </a:p>
                  </a:txBody>
                  <a:tcPr marT="0" marB="0" marR="157275" marL="157275" anchor="ctr">
                    <a:lnL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5ABA1"/>
                        </a:buClr>
                        <a:buSzPts val="1300"/>
                        <a:buFont typeface="Noto Sans TC"/>
                        <a:buNone/>
                      </a:pPr>
                      <a:r>
                        <a:rPr lang="zh-TW" sz="1300" u="none" cap="none" strike="noStrike">
                          <a:solidFill>
                            <a:srgbClr val="B5ABA1"/>
                          </a:solidFill>
                        </a:rPr>
                        <a:t>—</a:t>
                      </a:r>
                      <a:endParaRPr sz="1300" u="none" cap="none" strike="noStrike"/>
                    </a:p>
                  </a:txBody>
                  <a:tcPr marT="0" marB="0" marR="157275" marL="157275" anchor="ctr">
                    <a:lnL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420"/>
                        </a:buClr>
                        <a:buSzPts val="1400"/>
                        <a:buFont typeface="Noto Sans TC"/>
                        <a:buNone/>
                      </a:pPr>
                      <a:r>
                        <a:rPr b="1" lang="zh-TW" sz="1400" u="none" cap="none" strike="noStrike">
                          <a:solidFill>
                            <a:srgbClr val="2B2420"/>
                          </a:solidFill>
                        </a:rPr>
                        <a:t>1 / 4</a:t>
                      </a:r>
                      <a:endParaRPr sz="1400" u="none" cap="none" strike="noStrike"/>
                    </a:p>
                  </a:txBody>
                  <a:tcPr marT="0" marB="0" marR="157275" marL="157275" anchor="ctr">
                    <a:lnL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A"/>
                    </a:solidFill>
                  </a:tcPr>
                </a:tc>
              </a:tr>
              <a:tr h="566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2410C"/>
                        </a:buClr>
                        <a:buSzPts val="1550"/>
                        <a:buFont typeface="Noto Sans TC"/>
                        <a:buNone/>
                      </a:pPr>
                      <a:r>
                        <a:rPr b="1" lang="zh-TW" sz="1550" u="none" cap="none" strike="noStrike">
                          <a:solidFill>
                            <a:srgbClr val="C2410C"/>
                          </a:solidFill>
                        </a:rPr>
                        <a:t>本團隊 App</a:t>
                      </a:r>
                      <a:endParaRPr sz="1550" u="none" cap="none" strike="noStrike"/>
                    </a:p>
                  </a:txBody>
                  <a:tcPr marT="0" marB="0" marR="157275" marL="157275" anchor="ctr">
                    <a:lnL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6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2410C"/>
                        </a:buClr>
                        <a:buSzPts val="1900"/>
                        <a:buFont typeface="Noto Sans TC"/>
                        <a:buNone/>
                      </a:pPr>
                      <a:r>
                        <a:rPr b="1" lang="zh-TW" sz="1900" u="none" cap="none" strike="noStrike">
                          <a:solidFill>
                            <a:srgbClr val="C2410C"/>
                          </a:solidFill>
                        </a:rPr>
                        <a:t>✓</a:t>
                      </a:r>
                      <a:endParaRPr sz="1900" u="none" cap="none" strike="noStrike"/>
                    </a:p>
                  </a:txBody>
                  <a:tcPr marT="0" marB="0" marR="157275" marL="157275" anchor="ctr">
                    <a:lnL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6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2410C"/>
                        </a:buClr>
                        <a:buSzPts val="1900"/>
                        <a:buFont typeface="Noto Sans TC"/>
                        <a:buNone/>
                      </a:pPr>
                      <a:r>
                        <a:rPr b="1" lang="zh-TW" sz="1900" u="none" cap="none" strike="noStrike">
                          <a:solidFill>
                            <a:srgbClr val="C2410C"/>
                          </a:solidFill>
                        </a:rPr>
                        <a:t>✓</a:t>
                      </a:r>
                      <a:endParaRPr sz="1900" u="none" cap="none" strike="noStrike"/>
                    </a:p>
                  </a:txBody>
                  <a:tcPr marT="0" marB="0" marR="157275" marL="157275" anchor="ctr">
                    <a:lnL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6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2410C"/>
                        </a:buClr>
                        <a:buSzPts val="1900"/>
                        <a:buFont typeface="Noto Sans TC"/>
                        <a:buNone/>
                      </a:pPr>
                      <a:r>
                        <a:rPr b="1" lang="zh-TW" sz="1900" u="none" cap="none" strike="noStrike">
                          <a:solidFill>
                            <a:srgbClr val="C2410C"/>
                          </a:solidFill>
                        </a:rPr>
                        <a:t>✓</a:t>
                      </a:r>
                      <a:endParaRPr sz="1900" u="none" cap="none" strike="noStrike"/>
                    </a:p>
                  </a:txBody>
                  <a:tcPr marT="0" marB="0" marR="157275" marL="157275" anchor="ctr">
                    <a:lnL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6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2410C"/>
                        </a:buClr>
                        <a:buSzPts val="1900"/>
                        <a:buFont typeface="Noto Sans TC"/>
                        <a:buNone/>
                      </a:pPr>
                      <a:r>
                        <a:rPr b="1" lang="zh-TW" sz="1900" u="none" cap="none" strike="noStrike">
                          <a:solidFill>
                            <a:srgbClr val="C2410C"/>
                          </a:solidFill>
                        </a:rPr>
                        <a:t>✓</a:t>
                      </a:r>
                      <a:endParaRPr sz="1900" u="none" cap="none" strike="noStrike"/>
                    </a:p>
                  </a:txBody>
                  <a:tcPr marT="0" marB="0" marR="157275" marL="157275" anchor="ctr">
                    <a:lnL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6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2410C"/>
                        </a:buClr>
                        <a:buSzPts val="1550"/>
                        <a:buFont typeface="Noto Sans TC"/>
                        <a:buNone/>
                      </a:pPr>
                      <a:r>
                        <a:rPr b="1" lang="zh-TW" sz="1550" u="none" cap="none" strike="noStrike">
                          <a:solidFill>
                            <a:srgbClr val="C2410C"/>
                          </a:solidFill>
                        </a:rPr>
                        <a:t>4 / 4</a:t>
                      </a:r>
                      <a:endParaRPr sz="1550" u="none" cap="none" strike="noStrike"/>
                    </a:p>
                  </a:txBody>
                  <a:tcPr marT="0" marB="0" marR="157275" marL="157275" anchor="ctr">
                    <a:lnL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E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6DA"/>
                    </a:solidFill>
                  </a:tcPr>
                </a:tc>
              </a:tr>
            </a:tbl>
          </a:graphicData>
        </a:graphic>
      </p:graphicFrame>
      <p:sp>
        <p:nvSpPr>
          <p:cNvPr id="338" name="Google Shape;338;h3a2b7a9f0de5890c_3_9"/>
          <p:cNvSpPr/>
          <p:nvPr/>
        </p:nvSpPr>
        <p:spPr>
          <a:xfrm>
            <a:off x="1325880" y="4928616"/>
            <a:ext cx="9538838" cy="629107"/>
          </a:xfrm>
          <a:prstGeom prst="roundRect">
            <a:avLst>
              <a:gd fmla="val 15000" name="adj"/>
            </a:avLst>
          </a:prstGeom>
          <a:solidFill>
            <a:srgbClr val="FFFDFA"/>
          </a:solidFill>
          <a:ln cap="flat" cmpd="sng" w="12700">
            <a:solidFill>
              <a:srgbClr val="E6DE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h3a2b7a9f0de5890c_3_9"/>
          <p:cNvSpPr/>
          <p:nvPr/>
        </p:nvSpPr>
        <p:spPr>
          <a:xfrm>
            <a:off x="1325880" y="5022982"/>
            <a:ext cx="62911" cy="440375"/>
          </a:xfrm>
          <a:prstGeom prst="rect">
            <a:avLst/>
          </a:prstGeom>
          <a:solidFill>
            <a:srgbClr val="B457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h3a2b7a9f0de5890c_3_9"/>
          <p:cNvSpPr txBox="1"/>
          <p:nvPr/>
        </p:nvSpPr>
        <p:spPr>
          <a:xfrm>
            <a:off x="1601114" y="4928616"/>
            <a:ext cx="9145646" cy="6291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420"/>
              </a:buClr>
              <a:buSzPts val="1550"/>
              <a:buFont typeface="Noto Sans TC"/>
              <a:buNone/>
            </a:pPr>
            <a:r>
              <a:rPr b="0" i="0" lang="zh-TW" sz="1550" u="none" cap="none" strike="noStrike">
                <a:solidFill>
                  <a:srgbClr val="2B2420"/>
                </a:solidFill>
                <a:latin typeface="Noto Sans TC"/>
                <a:ea typeface="Noto Sans TC"/>
                <a:cs typeface="Noto Sans TC"/>
                <a:sym typeface="Noto Sans TC"/>
              </a:rPr>
              <a:t>現有 App 最多只做到 2 項；</a:t>
            </a:r>
            <a:r>
              <a:rPr b="0" i="0" lang="zh-TW" sz="1550" u="none" cap="none" strike="noStrike">
                <a:solidFill>
                  <a:srgbClr val="B4572C"/>
                </a:solidFill>
                <a:latin typeface="Noto Sans TC"/>
                <a:ea typeface="Noto Sans TC"/>
                <a:cs typeface="Noto Sans TC"/>
                <a:sym typeface="Noto Sans TC"/>
              </a:rPr>
              <a:t>讓 AI 在看診前生成報告</a:t>
            </a:r>
            <a:r>
              <a:rPr b="0" i="0" lang="zh-TW" sz="1550" u="none" cap="none" strike="noStrike">
                <a:solidFill>
                  <a:srgbClr val="2B2420"/>
                </a:solidFill>
                <a:latin typeface="Noto Sans TC"/>
                <a:ea typeface="Noto Sans TC"/>
                <a:cs typeface="Noto Sans TC"/>
                <a:sym typeface="Noto Sans TC"/>
              </a:rPr>
              <a:t>的功能，目前市場上沒有人做過。</a:t>
            </a:r>
            <a:endParaRPr b="0" i="0" sz="1550" u="none" cap="none" strike="noStrike">
              <a:solidFill>
                <a:srgbClr val="2B2420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341" name="Google Shape;341;h3a2b7a9f0de5890c_3_9"/>
          <p:cNvSpPr txBox="1"/>
          <p:nvPr/>
        </p:nvSpPr>
        <p:spPr>
          <a:xfrm>
            <a:off x="11487500" y="6255750"/>
            <a:ext cx="38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TW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h7efd045f0b640493_12_126"/>
          <p:cNvSpPr txBox="1"/>
          <p:nvPr/>
        </p:nvSpPr>
        <p:spPr>
          <a:xfrm>
            <a:off x="11492775" y="6245275"/>
            <a:ext cx="38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8</a:t>
            </a:r>
            <a:endParaRPr/>
          </a:p>
        </p:txBody>
      </p:sp>
      <p:pic>
        <p:nvPicPr>
          <p:cNvPr id="348" name="Google Shape;348;h7efd045f0b640493_12_126" title="46752.jpg"/>
          <p:cNvPicPr preferRelativeResize="0"/>
          <p:nvPr/>
        </p:nvPicPr>
        <p:blipFill rotWithShape="1">
          <a:blip r:embed="rId3">
            <a:alphaModFix/>
          </a:blip>
          <a:srcRect b="998" l="0" r="0" t="4894"/>
          <a:stretch/>
        </p:blipFill>
        <p:spPr>
          <a:xfrm>
            <a:off x="6645150" y="668413"/>
            <a:ext cx="2707626" cy="5521276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h7efd045f0b640493_12_126"/>
          <p:cNvSpPr txBox="1"/>
          <p:nvPr/>
        </p:nvSpPr>
        <p:spPr>
          <a:xfrm>
            <a:off x="3987575" y="3476350"/>
            <a:ext cx="1872600" cy="15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h7efd045f0b640493_12_126"/>
          <p:cNvSpPr txBox="1"/>
          <p:nvPr/>
        </p:nvSpPr>
        <p:spPr>
          <a:xfrm>
            <a:off x="3922925" y="4057400"/>
            <a:ext cx="2001900" cy="18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400"/>
              <a:t>提供選項讓飼主選擇</a:t>
            </a:r>
            <a:endParaRPr b="1" sz="2400"/>
          </a:p>
        </p:txBody>
      </p:sp>
      <p:sp>
        <p:nvSpPr>
          <p:cNvPr id="351" name="Google Shape;351;h7efd045f0b640493_12_126"/>
          <p:cNvSpPr txBox="1"/>
          <p:nvPr/>
        </p:nvSpPr>
        <p:spPr>
          <a:xfrm>
            <a:off x="9490875" y="3282650"/>
            <a:ext cx="2001900" cy="15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400"/>
              <a:t>生成摘要</a:t>
            </a:r>
            <a:endParaRPr b="1" sz="2400"/>
          </a:p>
        </p:txBody>
      </p:sp>
      <p:pic>
        <p:nvPicPr>
          <p:cNvPr id="352" name="Google Shape;352;h7efd045f0b640493_12_126" title="46825.jpg"/>
          <p:cNvPicPr preferRelativeResize="0"/>
          <p:nvPr/>
        </p:nvPicPr>
        <p:blipFill rotWithShape="1">
          <a:blip r:embed="rId4">
            <a:alphaModFix/>
          </a:blip>
          <a:srcRect b="1709" l="0" r="0" t="7884"/>
          <a:stretch/>
        </p:blipFill>
        <p:spPr>
          <a:xfrm>
            <a:off x="1128700" y="776850"/>
            <a:ext cx="2707626" cy="53044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h7efd045f0b640493_12_140"/>
          <p:cNvSpPr txBox="1"/>
          <p:nvPr>
            <p:ph idx="1" type="body"/>
          </p:nvPr>
        </p:nvSpPr>
        <p:spPr>
          <a:xfrm>
            <a:off x="1325880" y="804672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</a:pPr>
            <a:r>
              <a:rPr b="1" lang="zh-TW" sz="1200">
                <a:solidFill>
                  <a:schemeClr val="accent5"/>
                </a:solidFill>
              </a:rPr>
              <a:t>App 功能總覽</a:t>
            </a:r>
            <a:endParaRPr sz="1200"/>
          </a:p>
        </p:txBody>
      </p:sp>
      <p:sp>
        <p:nvSpPr>
          <p:cNvPr id="359" name="Google Shape;359;h7efd045f0b640493_12_140"/>
          <p:cNvSpPr txBox="1"/>
          <p:nvPr>
            <p:ph type="title"/>
          </p:nvPr>
        </p:nvSpPr>
        <p:spPr>
          <a:xfrm>
            <a:off x="1325880" y="1097280"/>
            <a:ext cx="95097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TC"/>
              <a:buNone/>
            </a:pPr>
            <a:r>
              <a:rPr b="1" lang="zh-TW" sz="2800">
                <a:solidFill>
                  <a:schemeClr val="dk1"/>
                </a:solidFill>
              </a:rPr>
              <a:t>四大類・16 項功能，從在家照顧一路接到看診</a:t>
            </a:r>
            <a:endParaRPr sz="2800"/>
          </a:p>
        </p:txBody>
      </p:sp>
      <p:sp>
        <p:nvSpPr>
          <p:cNvPr id="360" name="Google Shape;360;h7efd045f0b640493_12_140"/>
          <p:cNvSpPr/>
          <p:nvPr/>
        </p:nvSpPr>
        <p:spPr>
          <a:xfrm>
            <a:off x="1325880" y="1822399"/>
            <a:ext cx="2225467" cy="4128516"/>
          </a:xfrm>
          <a:prstGeom prst="roundRect">
            <a:avLst>
              <a:gd fmla="val 4240" name="adj"/>
            </a:avLst>
          </a:prstGeom>
          <a:solidFill>
            <a:srgbClr val="FFFFFF"/>
          </a:solidFill>
          <a:ln cap="flat" cmpd="sng" w="9525">
            <a:solidFill>
              <a:srgbClr val="EDE5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h7efd045f0b640493_12_140"/>
          <p:cNvSpPr/>
          <p:nvPr/>
        </p:nvSpPr>
        <p:spPr>
          <a:xfrm>
            <a:off x="1483157" y="1979676"/>
            <a:ext cx="1910913" cy="393192"/>
          </a:xfrm>
          <a:prstGeom prst="roundRect">
            <a:avLst>
              <a:gd fmla="val 50000" name="adj"/>
            </a:avLst>
          </a:prstGeom>
          <a:solidFill>
            <a:srgbClr val="F6E3D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582E"/>
              </a:buClr>
              <a:buSzPts val="1450"/>
              <a:buFont typeface="Noto Sans TC"/>
              <a:buNone/>
            </a:pPr>
            <a:r>
              <a:rPr b="1" i="0" lang="zh-TW" sz="1450" u="none" cap="none" strike="noStrike">
                <a:solidFill>
                  <a:srgbClr val="B8582E"/>
                </a:solidFill>
                <a:latin typeface="Noto Sans TC"/>
                <a:ea typeface="Noto Sans TC"/>
                <a:cs typeface="Noto Sans TC"/>
                <a:sym typeface="Noto Sans TC"/>
              </a:rPr>
              <a:t>01　AI 輔助</a:t>
            </a:r>
            <a:endParaRPr b="0" i="0" sz="14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362" name="Google Shape;362;h7efd045f0b640493_12_140"/>
          <p:cNvSpPr/>
          <p:nvPr/>
        </p:nvSpPr>
        <p:spPr>
          <a:xfrm>
            <a:off x="1498884" y="2514417"/>
            <a:ext cx="353873" cy="353873"/>
          </a:xfrm>
          <a:prstGeom prst="ellipse">
            <a:avLst/>
          </a:prstGeom>
          <a:solidFill>
            <a:srgbClr val="F6E3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 問診紀錄" id="363" name="Google Shape;363;h7efd045f0b640493_12_1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77523" y="2593056"/>
            <a:ext cx="196596" cy="196596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h7efd045f0b640493_12_140"/>
          <p:cNvSpPr txBox="1"/>
          <p:nvPr/>
        </p:nvSpPr>
        <p:spPr>
          <a:xfrm>
            <a:off x="1954987" y="2514417"/>
            <a:ext cx="1533449" cy="3538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420"/>
              </a:buClr>
              <a:buSzPts val="1400"/>
              <a:buFont typeface="Noto Sans TC"/>
              <a:buNone/>
            </a:pPr>
            <a:r>
              <a:rPr b="1" i="0" lang="zh-TW" sz="1400" u="none" cap="none" strike="noStrike">
                <a:solidFill>
                  <a:srgbClr val="2B2420"/>
                </a:solidFill>
                <a:latin typeface="Noto Sans TC"/>
                <a:ea typeface="Noto Sans TC"/>
                <a:cs typeface="Noto Sans TC"/>
                <a:sym typeface="Noto Sans TC"/>
              </a:rPr>
              <a:t>AI </a:t>
            </a:r>
            <a:r>
              <a:rPr b="1" lang="zh-TW">
                <a:solidFill>
                  <a:srgbClr val="2B2420"/>
                </a:solidFill>
                <a:latin typeface="Noto Sans TC"/>
                <a:ea typeface="Noto Sans TC"/>
                <a:cs typeface="Noto Sans TC"/>
                <a:sym typeface="Noto Sans TC"/>
              </a:rPr>
              <a:t>紀錄助理</a:t>
            </a:r>
            <a:endParaRPr b="0" i="0" sz="14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365" name="Google Shape;365;h7efd045f0b640493_12_140"/>
          <p:cNvSpPr/>
          <p:nvPr/>
        </p:nvSpPr>
        <p:spPr>
          <a:xfrm>
            <a:off x="1498884" y="3340120"/>
            <a:ext cx="353873" cy="353873"/>
          </a:xfrm>
          <a:prstGeom prst="ellipse">
            <a:avLst/>
          </a:prstGeom>
          <a:solidFill>
            <a:srgbClr val="F6E3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 日常紀錄輔助" id="366" name="Google Shape;366;h7efd045f0b640493_12_1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77523" y="3418759"/>
            <a:ext cx="196596" cy="196596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h7efd045f0b640493_12_140"/>
          <p:cNvSpPr txBox="1"/>
          <p:nvPr/>
        </p:nvSpPr>
        <p:spPr>
          <a:xfrm>
            <a:off x="1954987" y="3340120"/>
            <a:ext cx="1533449" cy="3538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420"/>
              </a:buClr>
              <a:buSzPts val="1400"/>
              <a:buFont typeface="Noto Sans TC"/>
              <a:buNone/>
            </a:pPr>
            <a:r>
              <a:rPr b="1" lang="zh-TW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rPr>
              <a:t>AI 生成報告</a:t>
            </a:r>
            <a:endParaRPr b="1" i="0" sz="14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368" name="Google Shape;368;h7efd045f0b640493_12_140"/>
          <p:cNvSpPr/>
          <p:nvPr/>
        </p:nvSpPr>
        <p:spPr>
          <a:xfrm>
            <a:off x="1498884" y="4165824"/>
            <a:ext cx="353873" cy="353873"/>
          </a:xfrm>
          <a:prstGeom prst="ellipse">
            <a:avLst/>
          </a:prstGeom>
          <a:solidFill>
            <a:srgbClr val="F6E3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紀錄變化提醒" id="369" name="Google Shape;369;h7efd045f0b640493_12_1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77523" y="4244462"/>
            <a:ext cx="196596" cy="196596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h7efd045f0b640493_12_140"/>
          <p:cNvSpPr txBox="1"/>
          <p:nvPr/>
        </p:nvSpPr>
        <p:spPr>
          <a:xfrm>
            <a:off x="1954987" y="4165824"/>
            <a:ext cx="1533449" cy="3538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420"/>
              </a:buClr>
              <a:buSzPts val="1400"/>
              <a:buFont typeface="Noto Sans TC"/>
              <a:buNone/>
            </a:pPr>
            <a:r>
              <a:rPr b="1" i="0" lang="zh-TW" sz="1400" u="none" cap="none" strike="noStrike">
                <a:solidFill>
                  <a:srgbClr val="2B2420"/>
                </a:solidFill>
                <a:latin typeface="Noto Sans TC"/>
                <a:ea typeface="Noto Sans TC"/>
                <a:cs typeface="Noto Sans TC"/>
                <a:sym typeface="Noto Sans TC"/>
              </a:rPr>
              <a:t>紀錄變化提醒</a:t>
            </a:r>
            <a:endParaRPr b="0" i="0" sz="14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371" name="Google Shape;371;h7efd045f0b640493_12_140"/>
          <p:cNvSpPr/>
          <p:nvPr/>
        </p:nvSpPr>
        <p:spPr>
          <a:xfrm>
            <a:off x="1498884" y="4991527"/>
            <a:ext cx="353873" cy="353873"/>
          </a:xfrm>
          <a:prstGeom prst="ellipse">
            <a:avLst/>
          </a:prstGeom>
          <a:solidFill>
            <a:srgbClr val="F6E3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拍照建檔" id="372" name="Google Shape;372;h7efd045f0b640493_12_14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77523" y="5070165"/>
            <a:ext cx="196596" cy="196596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h7efd045f0b640493_12_140"/>
          <p:cNvSpPr txBox="1"/>
          <p:nvPr/>
        </p:nvSpPr>
        <p:spPr>
          <a:xfrm>
            <a:off x="1954987" y="4991527"/>
            <a:ext cx="1533449" cy="3538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420"/>
              </a:buClr>
              <a:buSzPts val="1400"/>
              <a:buFont typeface="Noto Sans TC"/>
              <a:buNone/>
            </a:pPr>
            <a:r>
              <a:rPr b="1" i="0" lang="zh-TW" sz="1400" u="none" cap="none" strike="noStrike">
                <a:solidFill>
                  <a:srgbClr val="2B2420"/>
                </a:solidFill>
                <a:latin typeface="Noto Sans TC"/>
                <a:ea typeface="Noto Sans TC"/>
                <a:cs typeface="Noto Sans TC"/>
                <a:sym typeface="Noto Sans TC"/>
              </a:rPr>
              <a:t>拍照建檔</a:t>
            </a:r>
            <a:endParaRPr b="0" i="0" sz="14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374" name="Google Shape;374;h7efd045f0b640493_12_140"/>
          <p:cNvSpPr/>
          <p:nvPr/>
        </p:nvSpPr>
        <p:spPr>
          <a:xfrm>
            <a:off x="3763670" y="1822399"/>
            <a:ext cx="2225467" cy="4128516"/>
          </a:xfrm>
          <a:prstGeom prst="roundRect">
            <a:avLst>
              <a:gd fmla="val 4240" name="adj"/>
            </a:avLst>
          </a:prstGeom>
          <a:solidFill>
            <a:srgbClr val="FFFFFF"/>
          </a:solidFill>
          <a:ln cap="flat" cmpd="sng" w="9525">
            <a:solidFill>
              <a:srgbClr val="EDE5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h7efd045f0b640493_12_140"/>
          <p:cNvSpPr/>
          <p:nvPr/>
        </p:nvSpPr>
        <p:spPr>
          <a:xfrm>
            <a:off x="3920947" y="1979676"/>
            <a:ext cx="1910913" cy="393192"/>
          </a:xfrm>
          <a:prstGeom prst="roundRect">
            <a:avLst>
              <a:gd fmla="val 50000" name="adj"/>
            </a:avLst>
          </a:prstGeom>
          <a:solidFill>
            <a:srgbClr val="E3ED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8DB0"/>
              </a:buClr>
              <a:buSzPts val="1450"/>
              <a:buFont typeface="Noto Sans TC"/>
              <a:buNone/>
            </a:pPr>
            <a:r>
              <a:rPr b="1" i="0" lang="zh-TW" sz="1450" u="none" cap="none" strike="noStrike">
                <a:solidFill>
                  <a:srgbClr val="5B8DB0"/>
                </a:solidFill>
                <a:latin typeface="Noto Sans TC"/>
                <a:ea typeface="Noto Sans TC"/>
                <a:cs typeface="Noto Sans TC"/>
                <a:sym typeface="Noto Sans TC"/>
              </a:rPr>
              <a:t>02　日常照顧</a:t>
            </a:r>
            <a:endParaRPr b="0" i="0" sz="14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376" name="Google Shape;376;h7efd045f0b640493_12_140"/>
          <p:cNvSpPr/>
          <p:nvPr/>
        </p:nvSpPr>
        <p:spPr>
          <a:xfrm>
            <a:off x="3936675" y="2514417"/>
            <a:ext cx="353873" cy="353873"/>
          </a:xfrm>
          <a:prstGeom prst="ellipse">
            <a:avLst/>
          </a:prstGeom>
          <a:solidFill>
            <a:srgbClr val="E3ED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寵物手冊" id="377" name="Google Shape;377;h7efd045f0b640493_12_14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015313" y="2593056"/>
            <a:ext cx="196596" cy="196596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h7efd045f0b640493_12_140"/>
          <p:cNvSpPr txBox="1"/>
          <p:nvPr/>
        </p:nvSpPr>
        <p:spPr>
          <a:xfrm>
            <a:off x="4392778" y="2514417"/>
            <a:ext cx="1533449" cy="3538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420"/>
              </a:buClr>
              <a:buSzPts val="1400"/>
              <a:buFont typeface="Noto Sans TC"/>
              <a:buNone/>
            </a:pPr>
            <a:r>
              <a:rPr b="1" i="0" lang="zh-TW" sz="1400" u="none" cap="none" strike="noStrike">
                <a:solidFill>
                  <a:srgbClr val="2B2420"/>
                </a:solidFill>
                <a:latin typeface="Noto Sans TC"/>
                <a:ea typeface="Noto Sans TC"/>
                <a:cs typeface="Noto Sans TC"/>
                <a:sym typeface="Noto Sans TC"/>
              </a:rPr>
              <a:t>寵物手冊</a:t>
            </a:r>
            <a:endParaRPr b="0" i="0" sz="14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379" name="Google Shape;379;h7efd045f0b640493_12_140"/>
          <p:cNvSpPr/>
          <p:nvPr/>
        </p:nvSpPr>
        <p:spPr>
          <a:xfrm>
            <a:off x="3936675" y="3340120"/>
            <a:ext cx="353873" cy="353873"/>
          </a:xfrm>
          <a:prstGeom prst="ellipse">
            <a:avLst/>
          </a:prstGeom>
          <a:solidFill>
            <a:srgbClr val="E3ED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用藥提醒" id="380" name="Google Shape;380;h7efd045f0b640493_12_14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015313" y="3418759"/>
            <a:ext cx="196596" cy="196596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h7efd045f0b640493_12_140"/>
          <p:cNvSpPr txBox="1"/>
          <p:nvPr/>
        </p:nvSpPr>
        <p:spPr>
          <a:xfrm>
            <a:off x="4392778" y="3340120"/>
            <a:ext cx="1533449" cy="3538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420"/>
              </a:buClr>
              <a:buSzPts val="1400"/>
              <a:buFont typeface="Noto Sans TC"/>
              <a:buNone/>
            </a:pPr>
            <a:r>
              <a:rPr b="1" i="0" lang="zh-TW" sz="1400" u="none" cap="none" strike="noStrike">
                <a:solidFill>
                  <a:srgbClr val="2B2420"/>
                </a:solidFill>
                <a:latin typeface="Noto Sans TC"/>
                <a:ea typeface="Noto Sans TC"/>
                <a:cs typeface="Noto Sans TC"/>
                <a:sym typeface="Noto Sans TC"/>
              </a:rPr>
              <a:t>用藥提醒</a:t>
            </a:r>
            <a:endParaRPr b="0" i="0" sz="14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382" name="Google Shape;382;h7efd045f0b640493_12_140"/>
          <p:cNvSpPr/>
          <p:nvPr/>
        </p:nvSpPr>
        <p:spPr>
          <a:xfrm>
            <a:off x="3936675" y="4165824"/>
            <a:ext cx="353873" cy="353873"/>
          </a:xfrm>
          <a:prstGeom prst="ellipse">
            <a:avLst/>
          </a:prstGeom>
          <a:solidFill>
            <a:srgbClr val="E3ED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長期紀錄" id="383" name="Google Shape;383;h7efd045f0b640493_12_14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015313" y="4244462"/>
            <a:ext cx="196596" cy="196596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h7efd045f0b640493_12_140"/>
          <p:cNvSpPr txBox="1"/>
          <p:nvPr/>
        </p:nvSpPr>
        <p:spPr>
          <a:xfrm>
            <a:off x="4392778" y="4165824"/>
            <a:ext cx="1533449" cy="3538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420"/>
              </a:buClr>
              <a:buSzPts val="1400"/>
              <a:buFont typeface="Noto Sans TC"/>
              <a:buNone/>
            </a:pPr>
            <a:r>
              <a:rPr b="1" i="0" lang="zh-TW" sz="1400" u="none" cap="none" strike="noStrike">
                <a:solidFill>
                  <a:srgbClr val="2B2420"/>
                </a:solidFill>
                <a:latin typeface="Noto Sans TC"/>
                <a:ea typeface="Noto Sans TC"/>
                <a:cs typeface="Noto Sans TC"/>
                <a:sym typeface="Noto Sans TC"/>
              </a:rPr>
              <a:t>長期紀錄</a:t>
            </a:r>
            <a:endParaRPr b="0" i="0" sz="14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385" name="Google Shape;385;h7efd045f0b640493_12_140"/>
          <p:cNvSpPr/>
          <p:nvPr/>
        </p:nvSpPr>
        <p:spPr>
          <a:xfrm>
            <a:off x="3936675" y="4991527"/>
            <a:ext cx="353873" cy="353873"/>
          </a:xfrm>
          <a:prstGeom prst="ellipse">
            <a:avLst/>
          </a:prstGeom>
          <a:solidFill>
            <a:srgbClr val="E3ED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體檢紀錄" id="386" name="Google Shape;386;h7efd045f0b640493_12_14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015313" y="5070165"/>
            <a:ext cx="196596" cy="196596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h7efd045f0b640493_12_140"/>
          <p:cNvSpPr txBox="1"/>
          <p:nvPr/>
        </p:nvSpPr>
        <p:spPr>
          <a:xfrm>
            <a:off x="4392778" y="4991527"/>
            <a:ext cx="1533449" cy="3538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420"/>
              </a:buClr>
              <a:buSzPts val="1400"/>
              <a:buFont typeface="Noto Sans TC"/>
              <a:buNone/>
            </a:pPr>
            <a:r>
              <a:rPr b="1" i="0" lang="zh-TW" sz="1400" u="none" cap="none" strike="noStrike">
                <a:solidFill>
                  <a:srgbClr val="2B2420"/>
                </a:solidFill>
                <a:latin typeface="Noto Sans TC"/>
                <a:ea typeface="Noto Sans TC"/>
                <a:cs typeface="Noto Sans TC"/>
                <a:sym typeface="Noto Sans TC"/>
              </a:rPr>
              <a:t>體檢紀錄</a:t>
            </a:r>
            <a:endParaRPr b="0" i="0" sz="14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388" name="Google Shape;388;h7efd045f0b640493_12_140"/>
          <p:cNvSpPr/>
          <p:nvPr/>
        </p:nvSpPr>
        <p:spPr>
          <a:xfrm>
            <a:off x="6201461" y="1822399"/>
            <a:ext cx="2225467" cy="4128516"/>
          </a:xfrm>
          <a:prstGeom prst="roundRect">
            <a:avLst>
              <a:gd fmla="val 4240" name="adj"/>
            </a:avLst>
          </a:prstGeom>
          <a:solidFill>
            <a:srgbClr val="FFFFFF"/>
          </a:solidFill>
          <a:ln cap="flat" cmpd="sng" w="9525">
            <a:solidFill>
              <a:srgbClr val="EDE5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h7efd045f0b640493_12_140"/>
          <p:cNvSpPr/>
          <p:nvPr/>
        </p:nvSpPr>
        <p:spPr>
          <a:xfrm>
            <a:off x="6358738" y="1979676"/>
            <a:ext cx="1910913" cy="393192"/>
          </a:xfrm>
          <a:prstGeom prst="roundRect">
            <a:avLst>
              <a:gd fmla="val 50000" name="adj"/>
            </a:avLst>
          </a:prstGeom>
          <a:solidFill>
            <a:srgbClr val="F6E3D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582E"/>
              </a:buClr>
              <a:buSzPts val="1450"/>
              <a:buFont typeface="Noto Sans TC"/>
              <a:buNone/>
            </a:pPr>
            <a:r>
              <a:rPr b="1" i="0" lang="zh-TW" sz="1450" u="none" cap="none" strike="noStrike">
                <a:solidFill>
                  <a:srgbClr val="B8582E"/>
                </a:solidFill>
                <a:latin typeface="Noto Sans TC"/>
                <a:ea typeface="Noto Sans TC"/>
                <a:cs typeface="Noto Sans TC"/>
                <a:sym typeface="Noto Sans TC"/>
              </a:rPr>
              <a:t>03　家人與資料</a:t>
            </a:r>
            <a:endParaRPr b="0" i="0" sz="14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390" name="Google Shape;390;h7efd045f0b640493_12_140"/>
          <p:cNvSpPr/>
          <p:nvPr/>
        </p:nvSpPr>
        <p:spPr>
          <a:xfrm>
            <a:off x="6374465" y="2514417"/>
            <a:ext cx="353873" cy="353873"/>
          </a:xfrm>
          <a:prstGeom prst="ellipse">
            <a:avLst/>
          </a:prstGeom>
          <a:solidFill>
            <a:srgbClr val="F6E3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寵物檔案" id="391" name="Google Shape;391;h7efd045f0b640493_12_14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453104" y="2593056"/>
            <a:ext cx="196596" cy="196596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h7efd045f0b640493_12_140"/>
          <p:cNvSpPr txBox="1"/>
          <p:nvPr/>
        </p:nvSpPr>
        <p:spPr>
          <a:xfrm>
            <a:off x="6830568" y="2514417"/>
            <a:ext cx="1533449" cy="3538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420"/>
              </a:buClr>
              <a:buSzPts val="1400"/>
              <a:buFont typeface="Noto Sans TC"/>
              <a:buNone/>
            </a:pPr>
            <a:r>
              <a:rPr b="1" i="0" lang="zh-TW" sz="1400" u="none" cap="none" strike="noStrike">
                <a:solidFill>
                  <a:srgbClr val="2B2420"/>
                </a:solidFill>
                <a:latin typeface="Noto Sans TC"/>
                <a:ea typeface="Noto Sans TC"/>
                <a:cs typeface="Noto Sans TC"/>
                <a:sym typeface="Noto Sans TC"/>
              </a:rPr>
              <a:t>寵物檔案</a:t>
            </a:r>
            <a:endParaRPr b="0" i="0" sz="14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393" name="Google Shape;393;h7efd045f0b640493_12_140"/>
          <p:cNvSpPr/>
          <p:nvPr/>
        </p:nvSpPr>
        <p:spPr>
          <a:xfrm>
            <a:off x="6374465" y="3340120"/>
            <a:ext cx="353873" cy="353873"/>
          </a:xfrm>
          <a:prstGeom prst="ellipse">
            <a:avLst/>
          </a:prstGeom>
          <a:solidFill>
            <a:srgbClr val="F6E3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共同照顧" id="394" name="Google Shape;394;h7efd045f0b640493_12_14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453104" y="3418759"/>
            <a:ext cx="196596" cy="196596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h7efd045f0b640493_12_140"/>
          <p:cNvSpPr txBox="1"/>
          <p:nvPr/>
        </p:nvSpPr>
        <p:spPr>
          <a:xfrm>
            <a:off x="6830568" y="3340120"/>
            <a:ext cx="1533449" cy="3538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420"/>
              </a:buClr>
              <a:buSzPts val="1400"/>
              <a:buFont typeface="Noto Sans TC"/>
              <a:buNone/>
            </a:pPr>
            <a:r>
              <a:rPr b="1" i="0" lang="zh-TW" sz="1400" u="none" cap="none" strike="noStrike">
                <a:solidFill>
                  <a:srgbClr val="2B2420"/>
                </a:solidFill>
                <a:latin typeface="Noto Sans TC"/>
                <a:ea typeface="Noto Sans TC"/>
                <a:cs typeface="Noto Sans TC"/>
                <a:sym typeface="Noto Sans TC"/>
              </a:rPr>
              <a:t>共同照顧</a:t>
            </a:r>
            <a:endParaRPr b="0" i="0" sz="14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396" name="Google Shape;396;h7efd045f0b640493_12_140"/>
          <p:cNvSpPr/>
          <p:nvPr/>
        </p:nvSpPr>
        <p:spPr>
          <a:xfrm>
            <a:off x="6374465" y="4165824"/>
            <a:ext cx="353873" cy="353873"/>
          </a:xfrm>
          <a:prstGeom prst="ellipse">
            <a:avLst/>
          </a:prstGeom>
          <a:solidFill>
            <a:srgbClr val="F6E3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匯出與分享" id="397" name="Google Shape;397;h7efd045f0b640493_12_14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453104" y="4244462"/>
            <a:ext cx="196596" cy="196596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h7efd045f0b640493_12_140"/>
          <p:cNvSpPr txBox="1"/>
          <p:nvPr/>
        </p:nvSpPr>
        <p:spPr>
          <a:xfrm>
            <a:off x="6830568" y="4165824"/>
            <a:ext cx="1533449" cy="3538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420"/>
              </a:buClr>
              <a:buSzPts val="1400"/>
              <a:buFont typeface="Noto Sans TC"/>
              <a:buNone/>
            </a:pPr>
            <a:r>
              <a:rPr b="1" i="0" lang="zh-TW" sz="1400" u="none" cap="none" strike="noStrike">
                <a:solidFill>
                  <a:srgbClr val="2B2420"/>
                </a:solidFill>
                <a:latin typeface="Noto Sans TC"/>
                <a:ea typeface="Noto Sans TC"/>
                <a:cs typeface="Noto Sans TC"/>
                <a:sym typeface="Noto Sans TC"/>
              </a:rPr>
              <a:t>匯出與分享</a:t>
            </a:r>
            <a:endParaRPr b="0" i="0" sz="14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399" name="Google Shape;399;h7efd045f0b640493_12_140"/>
          <p:cNvSpPr/>
          <p:nvPr/>
        </p:nvSpPr>
        <p:spPr>
          <a:xfrm>
            <a:off x="6374465" y="4991527"/>
            <a:ext cx="353873" cy="353873"/>
          </a:xfrm>
          <a:prstGeom prst="ellipse">
            <a:avLst/>
          </a:prstGeom>
          <a:solidFill>
            <a:srgbClr val="F6E3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支出紀錄" id="400" name="Google Shape;400;h7efd045f0b640493_12_140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453104" y="5070165"/>
            <a:ext cx="196596" cy="196596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h7efd045f0b640493_12_140"/>
          <p:cNvSpPr txBox="1"/>
          <p:nvPr/>
        </p:nvSpPr>
        <p:spPr>
          <a:xfrm>
            <a:off x="6830568" y="4991527"/>
            <a:ext cx="1533449" cy="3538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420"/>
              </a:buClr>
              <a:buSzPts val="1400"/>
              <a:buFont typeface="Noto Sans TC"/>
              <a:buNone/>
            </a:pPr>
            <a:r>
              <a:rPr b="1" i="0" lang="zh-TW" sz="1400" u="none" cap="none" strike="noStrike">
                <a:solidFill>
                  <a:srgbClr val="2B2420"/>
                </a:solidFill>
                <a:latin typeface="Noto Sans TC"/>
                <a:ea typeface="Noto Sans TC"/>
                <a:cs typeface="Noto Sans TC"/>
                <a:sym typeface="Noto Sans TC"/>
              </a:rPr>
              <a:t>支出紀錄</a:t>
            </a:r>
            <a:endParaRPr b="0" i="0" sz="14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402" name="Google Shape;402;h7efd045f0b640493_12_140"/>
          <p:cNvSpPr/>
          <p:nvPr/>
        </p:nvSpPr>
        <p:spPr>
          <a:xfrm>
            <a:off x="8639251" y="1822399"/>
            <a:ext cx="2225467" cy="4128516"/>
          </a:xfrm>
          <a:prstGeom prst="roundRect">
            <a:avLst>
              <a:gd fmla="val 4240" name="adj"/>
            </a:avLst>
          </a:prstGeom>
          <a:solidFill>
            <a:srgbClr val="FFFFFF"/>
          </a:solidFill>
          <a:ln cap="flat" cmpd="sng" w="9525">
            <a:solidFill>
              <a:srgbClr val="EDE5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h7efd045f0b640493_12_140"/>
          <p:cNvSpPr/>
          <p:nvPr/>
        </p:nvSpPr>
        <p:spPr>
          <a:xfrm>
            <a:off x="8796528" y="1979676"/>
            <a:ext cx="1910913" cy="393192"/>
          </a:xfrm>
          <a:prstGeom prst="roundRect">
            <a:avLst>
              <a:gd fmla="val 50000" name="adj"/>
            </a:avLst>
          </a:prstGeom>
          <a:solidFill>
            <a:srgbClr val="E3ED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8DB0"/>
              </a:buClr>
              <a:buSzPts val="1450"/>
              <a:buFont typeface="Noto Sans TC"/>
              <a:buNone/>
            </a:pPr>
            <a:r>
              <a:rPr b="1" i="0" lang="zh-TW" sz="1450" u="none" cap="none" strike="noStrike">
                <a:solidFill>
                  <a:srgbClr val="5B8DB0"/>
                </a:solidFill>
                <a:latin typeface="Noto Sans TC"/>
                <a:ea typeface="Noto Sans TC"/>
                <a:cs typeface="Noto Sans TC"/>
                <a:sym typeface="Noto Sans TC"/>
              </a:rPr>
              <a:t>04　醫療與服務</a:t>
            </a:r>
            <a:endParaRPr b="0" i="0" sz="14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404" name="Google Shape;404;h7efd045f0b640493_12_140"/>
          <p:cNvSpPr/>
          <p:nvPr/>
        </p:nvSpPr>
        <p:spPr>
          <a:xfrm>
            <a:off x="8812256" y="2514417"/>
            <a:ext cx="353873" cy="353873"/>
          </a:xfrm>
          <a:prstGeom prst="ellipse">
            <a:avLst/>
          </a:prstGeom>
          <a:solidFill>
            <a:srgbClr val="E3ED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醫院查詢" id="405" name="Google Shape;405;h7efd045f0b640493_12_140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8890894" y="2593056"/>
            <a:ext cx="196596" cy="196596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h7efd045f0b640493_12_140"/>
          <p:cNvSpPr txBox="1"/>
          <p:nvPr/>
        </p:nvSpPr>
        <p:spPr>
          <a:xfrm>
            <a:off x="9268358" y="2514417"/>
            <a:ext cx="1533449" cy="3538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420"/>
              </a:buClr>
              <a:buSzPts val="1400"/>
              <a:buFont typeface="Noto Sans TC"/>
              <a:buNone/>
            </a:pPr>
            <a:r>
              <a:rPr b="1" i="0" lang="zh-TW" sz="1400" u="none" cap="none" strike="noStrike">
                <a:solidFill>
                  <a:srgbClr val="2B2420"/>
                </a:solidFill>
                <a:latin typeface="Noto Sans TC"/>
                <a:ea typeface="Noto Sans TC"/>
                <a:cs typeface="Noto Sans TC"/>
                <a:sym typeface="Noto Sans TC"/>
              </a:rPr>
              <a:t>醫院查詢</a:t>
            </a:r>
            <a:endParaRPr b="0" i="0" sz="14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407" name="Google Shape;407;h7efd045f0b640493_12_140"/>
          <p:cNvSpPr/>
          <p:nvPr/>
        </p:nvSpPr>
        <p:spPr>
          <a:xfrm>
            <a:off x="8812256" y="3340120"/>
            <a:ext cx="353873" cy="353873"/>
          </a:xfrm>
          <a:prstGeom prst="ellipse">
            <a:avLst/>
          </a:prstGeom>
          <a:solidFill>
            <a:srgbClr val="E3ED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回診提醒" id="408" name="Google Shape;408;h7efd045f0b640493_12_140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8890894" y="3418759"/>
            <a:ext cx="196596" cy="196596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h7efd045f0b640493_12_140"/>
          <p:cNvSpPr txBox="1"/>
          <p:nvPr/>
        </p:nvSpPr>
        <p:spPr>
          <a:xfrm>
            <a:off x="9268358" y="3340120"/>
            <a:ext cx="1533449" cy="3538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420"/>
              </a:buClr>
              <a:buSzPts val="1400"/>
              <a:buFont typeface="Noto Sans TC"/>
              <a:buNone/>
            </a:pPr>
            <a:r>
              <a:rPr b="1" i="0" lang="zh-TW" sz="1400" u="none" cap="none" strike="noStrike">
                <a:solidFill>
                  <a:srgbClr val="2B2420"/>
                </a:solidFill>
                <a:latin typeface="Noto Sans TC"/>
                <a:ea typeface="Noto Sans TC"/>
                <a:cs typeface="Noto Sans TC"/>
                <a:sym typeface="Noto Sans TC"/>
              </a:rPr>
              <a:t>回診提醒</a:t>
            </a:r>
            <a:endParaRPr b="0" i="0" sz="14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410" name="Google Shape;410;h7efd045f0b640493_12_140"/>
          <p:cNvSpPr/>
          <p:nvPr/>
        </p:nvSpPr>
        <p:spPr>
          <a:xfrm>
            <a:off x="8812256" y="4165824"/>
            <a:ext cx="353873" cy="353873"/>
          </a:xfrm>
          <a:prstGeom prst="ellipse">
            <a:avLst/>
          </a:prstGeom>
          <a:solidFill>
            <a:srgbClr val="E3ED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保養品專區" id="411" name="Google Shape;411;h7efd045f0b640493_12_140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8890894" y="4244462"/>
            <a:ext cx="196596" cy="196596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h7efd045f0b640493_12_140"/>
          <p:cNvSpPr txBox="1"/>
          <p:nvPr/>
        </p:nvSpPr>
        <p:spPr>
          <a:xfrm>
            <a:off x="9268358" y="4165824"/>
            <a:ext cx="1533449" cy="3538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420"/>
              </a:buClr>
              <a:buSzPts val="1400"/>
              <a:buFont typeface="Noto Sans TC"/>
              <a:buNone/>
            </a:pPr>
            <a:r>
              <a:rPr b="1" lang="zh-TW">
                <a:solidFill>
                  <a:srgbClr val="2B2420"/>
                </a:solidFill>
                <a:latin typeface="Noto Sans TC"/>
                <a:ea typeface="Noto Sans TC"/>
                <a:cs typeface="Noto Sans TC"/>
                <a:sym typeface="Noto Sans TC"/>
              </a:rPr>
              <a:t>導購</a:t>
            </a:r>
            <a:r>
              <a:rPr b="1" i="0" lang="zh-TW" sz="1400" u="none" cap="none" strike="noStrike">
                <a:solidFill>
                  <a:srgbClr val="2B2420"/>
                </a:solidFill>
                <a:latin typeface="Noto Sans TC"/>
                <a:ea typeface="Noto Sans TC"/>
                <a:cs typeface="Noto Sans TC"/>
                <a:sym typeface="Noto Sans TC"/>
              </a:rPr>
              <a:t>專區</a:t>
            </a:r>
            <a:endParaRPr b="0" i="0" sz="14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413" name="Google Shape;413;h7efd045f0b640493_12_140"/>
          <p:cNvSpPr/>
          <p:nvPr/>
        </p:nvSpPr>
        <p:spPr>
          <a:xfrm>
            <a:off x="8812256" y="4991527"/>
            <a:ext cx="353873" cy="353873"/>
          </a:xfrm>
          <a:prstGeom prst="ellipse">
            <a:avLst/>
          </a:prstGeom>
          <a:solidFill>
            <a:srgbClr val="E3ED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衛教專區" id="414" name="Google Shape;414;h7efd045f0b640493_12_140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8890894" y="5070165"/>
            <a:ext cx="196596" cy="196596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h7efd045f0b640493_12_140"/>
          <p:cNvSpPr txBox="1"/>
          <p:nvPr/>
        </p:nvSpPr>
        <p:spPr>
          <a:xfrm>
            <a:off x="9268358" y="4991527"/>
            <a:ext cx="1533449" cy="3538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420"/>
              </a:buClr>
              <a:buSzPts val="1400"/>
              <a:buFont typeface="Noto Sans TC"/>
              <a:buNone/>
            </a:pPr>
            <a:r>
              <a:rPr b="1" i="0" lang="zh-TW" sz="1400" u="none" cap="none" strike="noStrike">
                <a:solidFill>
                  <a:srgbClr val="2B2420"/>
                </a:solidFill>
                <a:latin typeface="Noto Sans TC"/>
                <a:ea typeface="Noto Sans TC"/>
                <a:cs typeface="Noto Sans TC"/>
                <a:sym typeface="Noto Sans TC"/>
              </a:rPr>
              <a:t>衛教專區</a:t>
            </a:r>
            <a:endParaRPr b="0" i="0" sz="14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416" name="Google Shape;416;h7efd045f0b640493_12_140"/>
          <p:cNvSpPr txBox="1"/>
          <p:nvPr/>
        </p:nvSpPr>
        <p:spPr>
          <a:xfrm>
            <a:off x="11477000" y="6287225"/>
            <a:ext cx="38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9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中化智匯盃模板外框" id="422" name="Google Shape;422;h4bebd347a54beacf_9_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70802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h4bebd347a54beacf_9_5"/>
          <p:cNvSpPr txBox="1"/>
          <p:nvPr>
            <p:ph idx="1" type="body"/>
          </p:nvPr>
        </p:nvSpPr>
        <p:spPr>
          <a:xfrm>
            <a:off x="1325880" y="804672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B4572C"/>
              </a:buClr>
              <a:buSzPts val="1200"/>
              <a:buNone/>
            </a:pPr>
            <a:r>
              <a:rPr b="1" lang="zh-TW" sz="1200">
                <a:solidFill>
                  <a:srgbClr val="B4572C"/>
                </a:solidFill>
              </a:rPr>
              <a:t>長期紀錄</a:t>
            </a:r>
            <a:endParaRPr sz="1200"/>
          </a:p>
        </p:txBody>
      </p:sp>
      <p:sp>
        <p:nvSpPr>
          <p:cNvPr id="424" name="Google Shape;424;h4bebd347a54beacf_9_5"/>
          <p:cNvSpPr txBox="1"/>
          <p:nvPr>
            <p:ph type="title"/>
          </p:nvPr>
        </p:nvSpPr>
        <p:spPr>
          <a:xfrm>
            <a:off x="1325880" y="1097280"/>
            <a:ext cx="95097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B2420"/>
              </a:buClr>
              <a:buSzPts val="2800"/>
              <a:buFont typeface="Noto Sans TC"/>
              <a:buNone/>
            </a:pPr>
            <a:r>
              <a:rPr b="1" lang="zh-TW" sz="2800">
                <a:solidFill>
                  <a:srgbClr val="2B2420"/>
                </a:solidFill>
              </a:rPr>
              <a:t>18 個長期紀錄項目，依方案開放</a:t>
            </a:r>
            <a:endParaRPr sz="2800"/>
          </a:p>
        </p:txBody>
      </p:sp>
      <p:sp>
        <p:nvSpPr>
          <p:cNvPr id="425" name="Google Shape;425;h4bebd347a54beacf_9_5"/>
          <p:cNvSpPr/>
          <p:nvPr/>
        </p:nvSpPr>
        <p:spPr>
          <a:xfrm>
            <a:off x="1325880" y="1810512"/>
            <a:ext cx="3026664" cy="4133088"/>
          </a:xfrm>
          <a:prstGeom prst="roundRect">
            <a:avLst>
              <a:gd fmla="val 3625" name="adj"/>
            </a:avLst>
          </a:prstGeom>
          <a:solidFill>
            <a:srgbClr val="FFFDFA"/>
          </a:solidFill>
          <a:ln cap="flat" cmpd="sng" w="12700">
            <a:solidFill>
              <a:srgbClr val="E6DE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h4bebd347a54beacf_9_5"/>
          <p:cNvSpPr txBox="1"/>
          <p:nvPr/>
        </p:nvSpPr>
        <p:spPr>
          <a:xfrm>
            <a:off x="1527048" y="1938528"/>
            <a:ext cx="1371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72C"/>
              </a:buClr>
              <a:buSzPts val="1800"/>
              <a:buFont typeface="Noto Sans TC"/>
              <a:buNone/>
            </a:pPr>
            <a:r>
              <a:rPr b="1" i="0" lang="zh-TW" sz="1800" u="none" cap="none" strike="noStrike">
                <a:solidFill>
                  <a:srgbClr val="B4572C"/>
                </a:solidFill>
                <a:latin typeface="Noto Sans TC"/>
                <a:ea typeface="Noto Sans TC"/>
                <a:cs typeface="Noto Sans TC"/>
                <a:sym typeface="Noto Sans TC"/>
              </a:rPr>
              <a:t>免費</a:t>
            </a:r>
            <a:endParaRPr b="0" i="0" sz="18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427" name="Google Shape;427;h4bebd347a54beacf_9_5"/>
          <p:cNvSpPr txBox="1"/>
          <p:nvPr/>
        </p:nvSpPr>
        <p:spPr>
          <a:xfrm>
            <a:off x="2871216" y="1938528"/>
            <a:ext cx="1280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B2420"/>
              </a:buClr>
              <a:buSzPts val="1800"/>
              <a:buFont typeface="Noto Sans TC"/>
              <a:buNone/>
            </a:pPr>
            <a:r>
              <a:rPr b="1" i="0" lang="zh-TW" sz="1800" u="none" cap="none" strike="noStrike">
                <a:solidFill>
                  <a:srgbClr val="2B2420"/>
                </a:solidFill>
                <a:latin typeface="Noto Sans TC"/>
                <a:ea typeface="Noto Sans TC"/>
                <a:cs typeface="Noto Sans TC"/>
                <a:sym typeface="Noto Sans TC"/>
              </a:rPr>
              <a:t>8 項</a:t>
            </a:r>
            <a:endParaRPr b="0" i="0" sz="18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428" name="Google Shape;428;h4bebd347a54beacf_9_5"/>
          <p:cNvSpPr txBox="1"/>
          <p:nvPr/>
        </p:nvSpPr>
        <p:spPr>
          <a:xfrm>
            <a:off x="1527048" y="2249424"/>
            <a:ext cx="266090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544C"/>
              </a:buClr>
              <a:buSzPts val="1100"/>
              <a:buFont typeface="Noto Sans TC"/>
              <a:buNone/>
            </a:pPr>
            <a:r>
              <a:rPr b="0" i="0" lang="zh-TW" sz="1100" u="none" cap="none" strike="noStrike">
                <a:solidFill>
                  <a:srgbClr val="5E544C"/>
                </a:solidFill>
                <a:latin typeface="Noto Sans TC"/>
                <a:ea typeface="Noto Sans TC"/>
                <a:cs typeface="Noto Sans TC"/>
                <a:sym typeface="Noto Sans TC"/>
              </a:rPr>
              <a:t>每天的基礎紀錄</a:t>
            </a:r>
            <a:endParaRPr b="0" i="0" sz="11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cxnSp>
        <p:nvCxnSpPr>
          <p:cNvPr id="429" name="Google Shape;429;h4bebd347a54beacf_9_5"/>
          <p:cNvCxnSpPr/>
          <p:nvPr/>
        </p:nvCxnSpPr>
        <p:spPr>
          <a:xfrm>
            <a:off x="1527048" y="2542032"/>
            <a:ext cx="2624328" cy="0"/>
          </a:xfrm>
          <a:prstGeom prst="straightConnector1">
            <a:avLst/>
          </a:prstGeom>
          <a:noFill/>
          <a:ln cap="flat" cmpd="sng" w="12700">
            <a:solidFill>
              <a:srgbClr val="EEE8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0" name="Google Shape;430;h4bebd347a54beacf_9_5"/>
          <p:cNvSpPr/>
          <p:nvPr/>
        </p:nvSpPr>
        <p:spPr>
          <a:xfrm>
            <a:off x="1527048" y="2679192"/>
            <a:ext cx="292608" cy="292608"/>
          </a:xfrm>
          <a:prstGeom prst="ellipse">
            <a:avLst/>
          </a:prstGeom>
          <a:solidFill>
            <a:srgbClr val="F6E3D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體重" id="431" name="Google Shape;431;h4bebd347a54beacf_9_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00200" y="2752344"/>
            <a:ext cx="146304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h4bebd347a54beacf_9_5"/>
          <p:cNvSpPr txBox="1"/>
          <p:nvPr/>
        </p:nvSpPr>
        <p:spPr>
          <a:xfrm>
            <a:off x="1929384" y="2633472"/>
            <a:ext cx="229514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420"/>
              </a:buClr>
              <a:buSzPts val="1300"/>
              <a:buFont typeface="Noto Sans TC"/>
              <a:buNone/>
            </a:pPr>
            <a:r>
              <a:rPr b="1" i="0" lang="zh-TW" sz="1300" u="none" cap="none" strike="noStrike">
                <a:solidFill>
                  <a:srgbClr val="2B2420"/>
                </a:solidFill>
                <a:latin typeface="Noto Sans TC"/>
                <a:ea typeface="Noto Sans TC"/>
                <a:cs typeface="Noto Sans TC"/>
                <a:sym typeface="Noto Sans TC"/>
              </a:rPr>
              <a:t>體重</a:t>
            </a:r>
            <a:endParaRPr b="0" i="0" sz="13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433" name="Google Shape;433;h4bebd347a54beacf_9_5"/>
          <p:cNvSpPr txBox="1"/>
          <p:nvPr/>
        </p:nvSpPr>
        <p:spPr>
          <a:xfrm>
            <a:off x="1929384" y="2825496"/>
            <a:ext cx="229514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544C"/>
              </a:buClr>
              <a:buSzPts val="950"/>
              <a:buFont typeface="Noto Sans TC"/>
              <a:buNone/>
            </a:pPr>
            <a:r>
              <a:rPr b="0" i="0" lang="zh-TW" sz="950" u="none" cap="none" strike="noStrike">
                <a:solidFill>
                  <a:srgbClr val="5E544C"/>
                </a:solidFill>
                <a:latin typeface="Noto Sans TC"/>
                <a:ea typeface="Noto Sans TC"/>
                <a:cs typeface="Noto Sans TC"/>
                <a:sym typeface="Noto Sans TC"/>
              </a:rPr>
              <a:t>kg</a:t>
            </a:r>
            <a:endParaRPr b="0" i="0" sz="9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434" name="Google Shape;434;h4bebd347a54beacf_9_5"/>
          <p:cNvSpPr/>
          <p:nvPr/>
        </p:nvSpPr>
        <p:spPr>
          <a:xfrm>
            <a:off x="1527048" y="3081528"/>
            <a:ext cx="292608" cy="292608"/>
          </a:xfrm>
          <a:prstGeom prst="ellipse">
            <a:avLst/>
          </a:prstGeom>
          <a:solidFill>
            <a:srgbClr val="F6E3D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飲食" id="435" name="Google Shape;435;h4bebd347a54beacf_9_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00200" y="3154680"/>
            <a:ext cx="146304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h4bebd347a54beacf_9_5"/>
          <p:cNvSpPr txBox="1"/>
          <p:nvPr/>
        </p:nvSpPr>
        <p:spPr>
          <a:xfrm>
            <a:off x="1929384" y="3035808"/>
            <a:ext cx="229514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420"/>
              </a:buClr>
              <a:buSzPts val="1300"/>
              <a:buFont typeface="Noto Sans TC"/>
              <a:buNone/>
            </a:pPr>
            <a:r>
              <a:rPr b="1" i="0" lang="zh-TW" sz="1300" u="none" cap="none" strike="noStrike">
                <a:solidFill>
                  <a:srgbClr val="2B2420"/>
                </a:solidFill>
                <a:latin typeface="Noto Sans TC"/>
                <a:ea typeface="Noto Sans TC"/>
                <a:cs typeface="Noto Sans TC"/>
                <a:sym typeface="Noto Sans TC"/>
              </a:rPr>
              <a:t>飲食</a:t>
            </a:r>
            <a:endParaRPr b="0" i="0" sz="13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437" name="Google Shape;437;h4bebd347a54beacf_9_5"/>
          <p:cNvSpPr txBox="1"/>
          <p:nvPr/>
        </p:nvSpPr>
        <p:spPr>
          <a:xfrm>
            <a:off x="1929384" y="3227832"/>
            <a:ext cx="229514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544C"/>
              </a:buClr>
              <a:buSzPts val="950"/>
              <a:buFont typeface="Noto Sans TC"/>
              <a:buNone/>
            </a:pPr>
            <a:r>
              <a:rPr b="0" i="0" lang="zh-TW" sz="950" u="none" cap="none" strike="noStrike">
                <a:solidFill>
                  <a:srgbClr val="5E544C"/>
                </a:solidFill>
                <a:latin typeface="Noto Sans TC"/>
                <a:ea typeface="Noto Sans TC"/>
                <a:cs typeface="Noto Sans TC"/>
                <a:sym typeface="Noto Sans TC"/>
              </a:rPr>
              <a:t>吃光／剩一半／幾乎沒吃</a:t>
            </a:r>
            <a:endParaRPr b="0" i="0" sz="9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438" name="Google Shape;438;h4bebd347a54beacf_9_5"/>
          <p:cNvSpPr/>
          <p:nvPr/>
        </p:nvSpPr>
        <p:spPr>
          <a:xfrm>
            <a:off x="1527048" y="3483864"/>
            <a:ext cx="292608" cy="292608"/>
          </a:xfrm>
          <a:prstGeom prst="ellipse">
            <a:avLst/>
          </a:prstGeom>
          <a:solidFill>
            <a:srgbClr val="F6E3D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喝水" id="439" name="Google Shape;439;h4bebd347a54beacf_9_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600200" y="3557016"/>
            <a:ext cx="146304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h4bebd347a54beacf_9_5"/>
          <p:cNvSpPr txBox="1"/>
          <p:nvPr/>
        </p:nvSpPr>
        <p:spPr>
          <a:xfrm>
            <a:off x="1929384" y="3438144"/>
            <a:ext cx="229514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420"/>
              </a:buClr>
              <a:buSzPts val="1300"/>
              <a:buFont typeface="Noto Sans TC"/>
              <a:buNone/>
            </a:pPr>
            <a:r>
              <a:rPr b="1" i="0" lang="zh-TW" sz="1300" u="none" cap="none" strike="noStrike">
                <a:solidFill>
                  <a:srgbClr val="2B2420"/>
                </a:solidFill>
                <a:latin typeface="Noto Sans TC"/>
                <a:ea typeface="Noto Sans TC"/>
                <a:cs typeface="Noto Sans TC"/>
                <a:sym typeface="Noto Sans TC"/>
              </a:rPr>
              <a:t>喝水</a:t>
            </a:r>
            <a:endParaRPr b="0" i="0" sz="13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441" name="Google Shape;441;h4bebd347a54beacf_9_5"/>
          <p:cNvSpPr txBox="1"/>
          <p:nvPr/>
        </p:nvSpPr>
        <p:spPr>
          <a:xfrm>
            <a:off x="1929384" y="3630168"/>
            <a:ext cx="229514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544C"/>
              </a:buClr>
              <a:buSzPts val="950"/>
              <a:buFont typeface="Noto Sans TC"/>
              <a:buNone/>
            </a:pPr>
            <a:r>
              <a:rPr b="0" i="0" lang="zh-TW" sz="950" u="none" cap="none" strike="noStrike">
                <a:solidFill>
                  <a:srgbClr val="5E544C"/>
                </a:solidFill>
                <a:latin typeface="Noto Sans TC"/>
                <a:ea typeface="Noto Sans TC"/>
                <a:cs typeface="Noto Sans TC"/>
                <a:sym typeface="Noto Sans TC"/>
              </a:rPr>
              <a:t>正常／變多／變少</a:t>
            </a:r>
            <a:endParaRPr b="0" i="0" sz="9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442" name="Google Shape;442;h4bebd347a54beacf_9_5"/>
          <p:cNvSpPr/>
          <p:nvPr/>
        </p:nvSpPr>
        <p:spPr>
          <a:xfrm>
            <a:off x="1527048" y="3886200"/>
            <a:ext cx="292608" cy="292608"/>
          </a:xfrm>
          <a:prstGeom prst="ellipse">
            <a:avLst/>
          </a:prstGeom>
          <a:solidFill>
            <a:srgbClr val="F6E3D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排便" id="443" name="Google Shape;443;h4bebd347a54beacf_9_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600200" y="3959352"/>
            <a:ext cx="146304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h4bebd347a54beacf_9_5"/>
          <p:cNvSpPr txBox="1"/>
          <p:nvPr/>
        </p:nvSpPr>
        <p:spPr>
          <a:xfrm>
            <a:off x="1929384" y="3840480"/>
            <a:ext cx="229514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420"/>
              </a:buClr>
              <a:buSzPts val="1300"/>
              <a:buFont typeface="Noto Sans TC"/>
              <a:buNone/>
            </a:pPr>
            <a:r>
              <a:rPr b="1" i="0" lang="zh-TW" sz="1300" u="none" cap="none" strike="noStrike">
                <a:solidFill>
                  <a:srgbClr val="2B2420"/>
                </a:solidFill>
                <a:latin typeface="Noto Sans TC"/>
                <a:ea typeface="Noto Sans TC"/>
                <a:cs typeface="Noto Sans TC"/>
                <a:sym typeface="Noto Sans TC"/>
              </a:rPr>
              <a:t>排便</a:t>
            </a:r>
            <a:endParaRPr b="0" i="0" sz="13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445" name="Google Shape;445;h4bebd347a54beacf_9_5"/>
          <p:cNvSpPr txBox="1"/>
          <p:nvPr/>
        </p:nvSpPr>
        <p:spPr>
          <a:xfrm>
            <a:off x="1929384" y="4032504"/>
            <a:ext cx="229514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544C"/>
              </a:buClr>
              <a:buSzPts val="950"/>
              <a:buFont typeface="Noto Sans TC"/>
              <a:buNone/>
            </a:pPr>
            <a:r>
              <a:rPr b="0" i="0" lang="zh-TW" sz="950" u="none" cap="none" strike="noStrike">
                <a:solidFill>
                  <a:srgbClr val="5E544C"/>
                </a:solidFill>
                <a:latin typeface="Noto Sans TC"/>
                <a:ea typeface="Noto Sans TC"/>
                <a:cs typeface="Noto Sans TC"/>
                <a:sym typeface="Noto Sans TC"/>
              </a:rPr>
              <a:t>次數＋圖卡選軟硬、顏色</a:t>
            </a:r>
            <a:endParaRPr b="0" i="0" sz="9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446" name="Google Shape;446;h4bebd347a54beacf_9_5"/>
          <p:cNvSpPr/>
          <p:nvPr/>
        </p:nvSpPr>
        <p:spPr>
          <a:xfrm>
            <a:off x="1527048" y="4288536"/>
            <a:ext cx="292608" cy="292608"/>
          </a:xfrm>
          <a:prstGeom prst="ellipse">
            <a:avLst/>
          </a:prstGeom>
          <a:solidFill>
            <a:srgbClr val="F6E3D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排尿" id="447" name="Google Shape;447;h4bebd347a54beacf_9_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600200" y="4361688"/>
            <a:ext cx="146304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h4bebd347a54beacf_9_5"/>
          <p:cNvSpPr txBox="1"/>
          <p:nvPr/>
        </p:nvSpPr>
        <p:spPr>
          <a:xfrm>
            <a:off x="1929384" y="4242816"/>
            <a:ext cx="229514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420"/>
              </a:buClr>
              <a:buSzPts val="1300"/>
              <a:buFont typeface="Noto Sans TC"/>
              <a:buNone/>
            </a:pPr>
            <a:r>
              <a:rPr b="1" i="0" lang="zh-TW" sz="1300" u="none" cap="none" strike="noStrike">
                <a:solidFill>
                  <a:srgbClr val="2B2420"/>
                </a:solidFill>
                <a:latin typeface="Noto Sans TC"/>
                <a:ea typeface="Noto Sans TC"/>
                <a:cs typeface="Noto Sans TC"/>
                <a:sym typeface="Noto Sans TC"/>
              </a:rPr>
              <a:t>排尿</a:t>
            </a:r>
            <a:endParaRPr b="0" i="0" sz="13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449" name="Google Shape;449;h4bebd347a54beacf_9_5"/>
          <p:cNvSpPr txBox="1"/>
          <p:nvPr/>
        </p:nvSpPr>
        <p:spPr>
          <a:xfrm>
            <a:off x="1929384" y="4434840"/>
            <a:ext cx="229514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544C"/>
              </a:buClr>
              <a:buSzPts val="950"/>
              <a:buFont typeface="Noto Sans TC"/>
              <a:buNone/>
            </a:pPr>
            <a:r>
              <a:rPr b="0" i="0" lang="zh-TW" sz="950" u="none" cap="none" strike="noStrike">
                <a:solidFill>
                  <a:srgbClr val="5E544C"/>
                </a:solidFill>
                <a:latin typeface="Noto Sans TC"/>
                <a:ea typeface="Noto Sans TC"/>
                <a:cs typeface="Noto Sans TC"/>
                <a:sym typeface="Noto Sans TC"/>
              </a:rPr>
              <a:t>正常／變多／變少／尿不出來</a:t>
            </a:r>
            <a:endParaRPr b="0" i="0" sz="9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450" name="Google Shape;450;h4bebd347a54beacf_9_5"/>
          <p:cNvSpPr/>
          <p:nvPr/>
        </p:nvSpPr>
        <p:spPr>
          <a:xfrm>
            <a:off x="1527048" y="4690872"/>
            <a:ext cx="292608" cy="292608"/>
          </a:xfrm>
          <a:prstGeom prst="ellipse">
            <a:avLst/>
          </a:prstGeom>
          <a:solidFill>
            <a:srgbClr val="F6E3D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精神狀況" id="451" name="Google Shape;451;h4bebd347a54beacf_9_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600200" y="4764024"/>
            <a:ext cx="146304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h4bebd347a54beacf_9_5"/>
          <p:cNvSpPr txBox="1"/>
          <p:nvPr/>
        </p:nvSpPr>
        <p:spPr>
          <a:xfrm>
            <a:off x="1929384" y="4645152"/>
            <a:ext cx="229514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420"/>
              </a:buClr>
              <a:buSzPts val="1300"/>
              <a:buFont typeface="Noto Sans TC"/>
              <a:buNone/>
            </a:pPr>
            <a:r>
              <a:rPr b="1" i="0" lang="zh-TW" sz="1300" u="none" cap="none" strike="noStrike">
                <a:solidFill>
                  <a:srgbClr val="2B2420"/>
                </a:solidFill>
                <a:latin typeface="Noto Sans TC"/>
                <a:ea typeface="Noto Sans TC"/>
                <a:cs typeface="Noto Sans TC"/>
                <a:sym typeface="Noto Sans TC"/>
              </a:rPr>
              <a:t>精神狀況</a:t>
            </a:r>
            <a:endParaRPr b="0" i="0" sz="13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453" name="Google Shape;453;h4bebd347a54beacf_9_5"/>
          <p:cNvSpPr txBox="1"/>
          <p:nvPr/>
        </p:nvSpPr>
        <p:spPr>
          <a:xfrm>
            <a:off x="1929384" y="4837176"/>
            <a:ext cx="229514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544C"/>
              </a:buClr>
              <a:buSzPts val="950"/>
              <a:buFont typeface="Noto Sans TC"/>
              <a:buNone/>
            </a:pPr>
            <a:r>
              <a:rPr b="0" i="0" lang="zh-TW" sz="950" u="none" cap="none" strike="noStrike">
                <a:solidFill>
                  <a:srgbClr val="5E544C"/>
                </a:solidFill>
                <a:latin typeface="Noto Sans TC"/>
                <a:ea typeface="Noto Sans TC"/>
                <a:cs typeface="Noto Sans TC"/>
                <a:sym typeface="Noto Sans TC"/>
              </a:rPr>
              <a:t>5 級：很沒精神～異常亢奮</a:t>
            </a:r>
            <a:endParaRPr b="0" i="0" sz="9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454" name="Google Shape;454;h4bebd347a54beacf_9_5"/>
          <p:cNvSpPr/>
          <p:nvPr/>
        </p:nvSpPr>
        <p:spPr>
          <a:xfrm>
            <a:off x="1527048" y="5093208"/>
            <a:ext cx="292608" cy="292608"/>
          </a:xfrm>
          <a:prstGeom prst="ellipse">
            <a:avLst/>
          </a:prstGeom>
          <a:solidFill>
            <a:srgbClr val="F6E3D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餵藥狀況" id="455" name="Google Shape;455;h4bebd347a54beacf_9_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600200" y="5166360"/>
            <a:ext cx="146304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h4bebd347a54beacf_9_5"/>
          <p:cNvSpPr txBox="1"/>
          <p:nvPr/>
        </p:nvSpPr>
        <p:spPr>
          <a:xfrm>
            <a:off x="1929384" y="5047488"/>
            <a:ext cx="229514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420"/>
              </a:buClr>
              <a:buSzPts val="1300"/>
              <a:buFont typeface="Noto Sans TC"/>
              <a:buNone/>
            </a:pPr>
            <a:r>
              <a:rPr b="1" i="0" lang="zh-TW" sz="1300" u="none" cap="none" strike="noStrike">
                <a:solidFill>
                  <a:srgbClr val="2B2420"/>
                </a:solidFill>
                <a:latin typeface="Noto Sans TC"/>
                <a:ea typeface="Noto Sans TC"/>
                <a:cs typeface="Noto Sans TC"/>
                <a:sym typeface="Noto Sans TC"/>
              </a:rPr>
              <a:t>餵藥狀況</a:t>
            </a:r>
            <a:endParaRPr b="0" i="0" sz="13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457" name="Google Shape;457;h4bebd347a54beacf_9_5"/>
          <p:cNvSpPr txBox="1"/>
          <p:nvPr/>
        </p:nvSpPr>
        <p:spPr>
          <a:xfrm>
            <a:off x="1929384" y="5239512"/>
            <a:ext cx="229514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544C"/>
              </a:buClr>
              <a:buSzPts val="950"/>
              <a:buFont typeface="Noto Sans TC"/>
              <a:buNone/>
            </a:pPr>
            <a:r>
              <a:rPr b="0" i="0" lang="zh-TW" sz="950" u="none" cap="none" strike="noStrike">
                <a:solidFill>
                  <a:srgbClr val="5E544C"/>
                </a:solidFill>
                <a:latin typeface="Noto Sans TC"/>
                <a:ea typeface="Noto Sans TC"/>
                <a:cs typeface="Noto Sans TC"/>
                <a:sym typeface="Noto Sans TC"/>
              </a:rPr>
              <a:t>順利／吐出／拒吃</a:t>
            </a:r>
            <a:endParaRPr b="0" i="0" sz="9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458" name="Google Shape;458;h4bebd347a54beacf_9_5"/>
          <p:cNvSpPr/>
          <p:nvPr/>
        </p:nvSpPr>
        <p:spPr>
          <a:xfrm>
            <a:off x="1527048" y="5495544"/>
            <a:ext cx="292608" cy="292608"/>
          </a:xfrm>
          <a:prstGeom prst="ellipse">
            <a:avLst/>
          </a:prstGeom>
          <a:solidFill>
            <a:srgbClr val="F6E3D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異常狀況" id="459" name="Google Shape;459;h4bebd347a54beacf_9_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600200" y="5568696"/>
            <a:ext cx="146304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h4bebd347a54beacf_9_5"/>
          <p:cNvSpPr txBox="1"/>
          <p:nvPr/>
        </p:nvSpPr>
        <p:spPr>
          <a:xfrm>
            <a:off x="1929384" y="5449824"/>
            <a:ext cx="229514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420"/>
              </a:buClr>
              <a:buSzPts val="1300"/>
              <a:buFont typeface="Noto Sans TC"/>
              <a:buNone/>
            </a:pPr>
            <a:r>
              <a:rPr b="1" lang="zh-TW" sz="1300">
                <a:solidFill>
                  <a:srgbClr val="2B2420"/>
                </a:solidFill>
                <a:latin typeface="Noto Sans TC"/>
                <a:ea typeface="Noto Sans TC"/>
                <a:cs typeface="Noto Sans TC"/>
                <a:sym typeface="Noto Sans TC"/>
              </a:rPr>
              <a:t>毛髮狀況</a:t>
            </a:r>
            <a:endParaRPr b="0" i="0" sz="13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461" name="Google Shape;461;h4bebd347a54beacf_9_5"/>
          <p:cNvSpPr txBox="1"/>
          <p:nvPr/>
        </p:nvSpPr>
        <p:spPr>
          <a:xfrm>
            <a:off x="1929384" y="5641848"/>
            <a:ext cx="229514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544C"/>
              </a:buClr>
              <a:buSzPts val="950"/>
              <a:buFont typeface="Noto Sans TC"/>
              <a:buNone/>
            </a:pPr>
            <a:r>
              <a:rPr lang="zh-TW" sz="950">
                <a:solidFill>
                  <a:srgbClr val="5E544C"/>
                </a:solidFill>
                <a:latin typeface="Noto Sans TC"/>
                <a:ea typeface="Noto Sans TC"/>
                <a:cs typeface="Noto Sans TC"/>
                <a:sym typeface="Noto Sans TC"/>
              </a:rPr>
              <a:t>掉毛變多、禿一塊</a:t>
            </a:r>
            <a:endParaRPr b="0" i="0" sz="9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462" name="Google Shape;462;h4bebd347a54beacf_9_5"/>
          <p:cNvSpPr/>
          <p:nvPr/>
        </p:nvSpPr>
        <p:spPr>
          <a:xfrm>
            <a:off x="4581144" y="1810512"/>
            <a:ext cx="3026664" cy="4133088"/>
          </a:xfrm>
          <a:prstGeom prst="roundRect">
            <a:avLst>
              <a:gd fmla="val 3625" name="adj"/>
            </a:avLst>
          </a:prstGeom>
          <a:solidFill>
            <a:srgbClr val="F6E3D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h4bebd347a54beacf_9_5"/>
          <p:cNvSpPr txBox="1"/>
          <p:nvPr/>
        </p:nvSpPr>
        <p:spPr>
          <a:xfrm>
            <a:off x="4782312" y="1938528"/>
            <a:ext cx="1371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72C"/>
              </a:buClr>
              <a:buSzPts val="1800"/>
              <a:buFont typeface="Noto Sans TC"/>
              <a:buNone/>
            </a:pPr>
            <a:r>
              <a:rPr b="1" i="0" lang="zh-TW" sz="1800" u="none" cap="none" strike="noStrike">
                <a:solidFill>
                  <a:srgbClr val="B4572C"/>
                </a:solidFill>
                <a:latin typeface="Noto Sans TC"/>
                <a:ea typeface="Noto Sans TC"/>
                <a:cs typeface="Noto Sans TC"/>
                <a:sym typeface="Noto Sans TC"/>
              </a:rPr>
              <a:t>黃金</a:t>
            </a:r>
            <a:endParaRPr b="0" i="0" sz="18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464" name="Google Shape;464;h4bebd347a54beacf_9_5"/>
          <p:cNvSpPr txBox="1"/>
          <p:nvPr/>
        </p:nvSpPr>
        <p:spPr>
          <a:xfrm>
            <a:off x="6126480" y="1938528"/>
            <a:ext cx="1280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B2420"/>
              </a:buClr>
              <a:buSzPts val="1800"/>
              <a:buFont typeface="Noto Sans TC"/>
              <a:buNone/>
            </a:pPr>
            <a:r>
              <a:rPr b="1" i="0" lang="zh-TW" sz="1800" u="none" cap="none" strike="noStrike">
                <a:solidFill>
                  <a:srgbClr val="2B2420"/>
                </a:solidFill>
                <a:latin typeface="Noto Sans TC"/>
                <a:ea typeface="Noto Sans TC"/>
                <a:cs typeface="Noto Sans TC"/>
                <a:sym typeface="Noto Sans TC"/>
              </a:rPr>
              <a:t>13 項</a:t>
            </a:r>
            <a:endParaRPr b="0" i="0" sz="18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465" name="Google Shape;465;h4bebd347a54beacf_9_5"/>
          <p:cNvSpPr txBox="1"/>
          <p:nvPr/>
        </p:nvSpPr>
        <p:spPr>
          <a:xfrm>
            <a:off x="4782312" y="2249424"/>
            <a:ext cx="266090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544C"/>
              </a:buClr>
              <a:buSzPts val="1100"/>
              <a:buFont typeface="Noto Sans TC"/>
              <a:buNone/>
            </a:pPr>
            <a:r>
              <a:rPr b="0" i="0" lang="zh-TW" sz="1100" u="none" cap="none" strike="noStrike">
                <a:solidFill>
                  <a:srgbClr val="5E544C"/>
                </a:solidFill>
                <a:latin typeface="Noto Sans TC"/>
                <a:ea typeface="Noto Sans TC"/>
                <a:cs typeface="Noto Sans TC"/>
                <a:sym typeface="Noto Sans TC"/>
              </a:rPr>
              <a:t>加開身體細項（+5）</a:t>
            </a:r>
            <a:endParaRPr b="0" i="0" sz="11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cxnSp>
        <p:nvCxnSpPr>
          <p:cNvPr id="466" name="Google Shape;466;h4bebd347a54beacf_9_5"/>
          <p:cNvCxnSpPr/>
          <p:nvPr/>
        </p:nvCxnSpPr>
        <p:spPr>
          <a:xfrm>
            <a:off x="4782312" y="2542032"/>
            <a:ext cx="2624328" cy="0"/>
          </a:xfrm>
          <a:prstGeom prst="straightConnector1">
            <a:avLst/>
          </a:prstGeom>
          <a:noFill/>
          <a:ln cap="flat" cmpd="sng" w="12700">
            <a:solidFill>
              <a:srgbClr val="E9CBB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包含" id="467" name="Google Shape;467;h4bebd347a54beacf_9_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828032" y="2706624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h4bebd347a54beacf_9_5"/>
          <p:cNvSpPr txBox="1"/>
          <p:nvPr/>
        </p:nvSpPr>
        <p:spPr>
          <a:xfrm>
            <a:off x="5148072" y="2633472"/>
            <a:ext cx="229514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544C"/>
              </a:buClr>
              <a:buSzPts val="1200"/>
              <a:buFont typeface="Noto Sans TC"/>
              <a:buNone/>
            </a:pPr>
            <a:r>
              <a:rPr b="1" i="0" lang="zh-TW" sz="1200" u="none" cap="none" strike="noStrike">
                <a:solidFill>
                  <a:srgbClr val="5E544C"/>
                </a:solidFill>
                <a:latin typeface="Noto Sans TC"/>
                <a:ea typeface="Noto Sans TC"/>
                <a:cs typeface="Noto Sans TC"/>
                <a:sym typeface="Noto Sans TC"/>
              </a:rPr>
              <a:t>包含免費版 8 項</a:t>
            </a:r>
            <a:endParaRPr b="0" i="0" sz="12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469" name="Google Shape;469;h4bebd347a54beacf_9_5"/>
          <p:cNvSpPr/>
          <p:nvPr/>
        </p:nvSpPr>
        <p:spPr>
          <a:xfrm>
            <a:off x="4782387" y="3886228"/>
            <a:ext cx="292500" cy="292500"/>
          </a:xfrm>
          <a:prstGeom prst="ellipse">
            <a:avLst/>
          </a:prstGeom>
          <a:solidFill>
            <a:srgbClr val="FFFD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嘔吐" id="470" name="Google Shape;470;h4bebd347a54beacf_9_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855539" y="3959380"/>
            <a:ext cx="146304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h4bebd347a54beacf_9_5"/>
          <p:cNvSpPr txBox="1"/>
          <p:nvPr/>
        </p:nvSpPr>
        <p:spPr>
          <a:xfrm>
            <a:off x="5184723" y="3840508"/>
            <a:ext cx="2295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420"/>
              </a:buClr>
              <a:buSzPts val="1300"/>
              <a:buFont typeface="Noto Sans TC"/>
              <a:buNone/>
            </a:pPr>
            <a:r>
              <a:rPr b="1" i="0" lang="zh-TW" sz="1300" u="none" cap="none" strike="noStrike">
                <a:solidFill>
                  <a:srgbClr val="2B2420"/>
                </a:solidFill>
                <a:latin typeface="Noto Sans TC"/>
                <a:ea typeface="Noto Sans TC"/>
                <a:cs typeface="Noto Sans TC"/>
                <a:sym typeface="Noto Sans TC"/>
              </a:rPr>
              <a:t>嘔吐</a:t>
            </a:r>
            <a:endParaRPr b="0" i="0" sz="13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472" name="Google Shape;472;h4bebd347a54beacf_9_5"/>
          <p:cNvSpPr txBox="1"/>
          <p:nvPr/>
        </p:nvSpPr>
        <p:spPr>
          <a:xfrm>
            <a:off x="5184723" y="4032532"/>
            <a:ext cx="22950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544C"/>
              </a:buClr>
              <a:buSzPts val="950"/>
              <a:buFont typeface="Noto Sans TC"/>
              <a:buNone/>
            </a:pPr>
            <a:r>
              <a:rPr b="0" i="0" lang="zh-TW" sz="950" u="none" cap="none" strike="noStrike">
                <a:solidFill>
                  <a:srgbClr val="5E544C"/>
                </a:solidFill>
                <a:latin typeface="Noto Sans TC"/>
                <a:ea typeface="Noto Sans TC"/>
                <a:cs typeface="Noto Sans TC"/>
                <a:sym typeface="Noto Sans TC"/>
              </a:rPr>
              <a:t>次數＋吐了什麼＋照片</a:t>
            </a:r>
            <a:endParaRPr b="0" i="0" sz="9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473" name="Google Shape;473;h4bebd347a54beacf_9_5"/>
          <p:cNvSpPr/>
          <p:nvPr/>
        </p:nvSpPr>
        <p:spPr>
          <a:xfrm>
            <a:off x="4782312" y="3483864"/>
            <a:ext cx="292608" cy="292608"/>
          </a:xfrm>
          <a:prstGeom prst="ellipse">
            <a:avLst/>
          </a:prstGeom>
          <a:solidFill>
            <a:srgbClr val="FFFD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皮膚" id="474" name="Google Shape;474;h4bebd347a54beacf_9_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4855464" y="3557016"/>
            <a:ext cx="146304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h4bebd347a54beacf_9_5"/>
          <p:cNvSpPr txBox="1"/>
          <p:nvPr/>
        </p:nvSpPr>
        <p:spPr>
          <a:xfrm>
            <a:off x="5184648" y="3438144"/>
            <a:ext cx="229514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420"/>
              </a:buClr>
              <a:buSzPts val="1300"/>
              <a:buFont typeface="Noto Sans TC"/>
              <a:buNone/>
            </a:pPr>
            <a:r>
              <a:rPr b="1" i="0" lang="zh-TW" sz="1300" u="none" cap="none" strike="noStrike">
                <a:solidFill>
                  <a:srgbClr val="2B2420"/>
                </a:solidFill>
                <a:latin typeface="Noto Sans TC"/>
                <a:ea typeface="Noto Sans TC"/>
                <a:cs typeface="Noto Sans TC"/>
                <a:sym typeface="Noto Sans TC"/>
              </a:rPr>
              <a:t>皮膚</a:t>
            </a:r>
            <a:endParaRPr b="0" i="0" sz="13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476" name="Google Shape;476;h4bebd347a54beacf_9_5"/>
          <p:cNvSpPr txBox="1"/>
          <p:nvPr/>
        </p:nvSpPr>
        <p:spPr>
          <a:xfrm>
            <a:off x="5184648" y="3630168"/>
            <a:ext cx="229514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544C"/>
              </a:buClr>
              <a:buSzPts val="950"/>
              <a:buFont typeface="Noto Sans TC"/>
              <a:buNone/>
            </a:pPr>
            <a:r>
              <a:rPr lang="zh-TW" sz="950">
                <a:solidFill>
                  <a:srgbClr val="5E544C"/>
                </a:solidFill>
                <a:latin typeface="Noto Sans TC"/>
                <a:ea typeface="Noto Sans TC"/>
                <a:cs typeface="Noto Sans TC"/>
                <a:sym typeface="Noto Sans TC"/>
              </a:rPr>
              <a:t>發紅、紅疹、小膿包 </a:t>
            </a:r>
            <a:endParaRPr b="0" i="0" sz="9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477" name="Google Shape;477;h4bebd347a54beacf_9_5"/>
          <p:cNvSpPr/>
          <p:nvPr/>
        </p:nvSpPr>
        <p:spPr>
          <a:xfrm>
            <a:off x="4782387" y="3095275"/>
            <a:ext cx="292500" cy="292500"/>
          </a:xfrm>
          <a:prstGeom prst="ellipse">
            <a:avLst/>
          </a:prstGeom>
          <a:solidFill>
            <a:srgbClr val="FFFD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口腔" id="478" name="Google Shape;478;h4bebd347a54beacf_9_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4855527" y="3168427"/>
            <a:ext cx="146304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h4bebd347a54beacf_9_5"/>
          <p:cNvSpPr txBox="1"/>
          <p:nvPr/>
        </p:nvSpPr>
        <p:spPr>
          <a:xfrm>
            <a:off x="5184711" y="3049555"/>
            <a:ext cx="2295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420"/>
              </a:buClr>
              <a:buSzPts val="1300"/>
              <a:buFont typeface="Noto Sans TC"/>
              <a:buNone/>
            </a:pPr>
            <a:r>
              <a:rPr b="1" i="0" lang="zh-TW" sz="1300" u="none" cap="none" strike="noStrike">
                <a:solidFill>
                  <a:srgbClr val="2B2420"/>
                </a:solidFill>
                <a:latin typeface="Noto Sans TC"/>
                <a:ea typeface="Noto Sans TC"/>
                <a:cs typeface="Noto Sans TC"/>
                <a:sym typeface="Noto Sans TC"/>
              </a:rPr>
              <a:t>口腔</a:t>
            </a:r>
            <a:endParaRPr b="0" i="0" sz="13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480" name="Google Shape;480;h4bebd347a54beacf_9_5"/>
          <p:cNvSpPr txBox="1"/>
          <p:nvPr/>
        </p:nvSpPr>
        <p:spPr>
          <a:xfrm>
            <a:off x="5184711" y="3241579"/>
            <a:ext cx="22950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544C"/>
              </a:buClr>
              <a:buSzPts val="950"/>
              <a:buFont typeface="Noto Sans TC"/>
              <a:buNone/>
            </a:pPr>
            <a:r>
              <a:rPr b="0" i="0" lang="zh-TW" sz="950" u="none" cap="none" strike="noStrike">
                <a:solidFill>
                  <a:srgbClr val="5E544C"/>
                </a:solidFill>
                <a:latin typeface="Noto Sans TC"/>
                <a:ea typeface="Noto Sans TC"/>
                <a:cs typeface="Noto Sans TC"/>
                <a:sym typeface="Noto Sans TC"/>
              </a:rPr>
              <a:t>口臭、牙齦紅腫</a:t>
            </a:r>
            <a:endParaRPr b="0" i="0" sz="9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481" name="Google Shape;481;h4bebd347a54beacf_9_5"/>
          <p:cNvSpPr/>
          <p:nvPr/>
        </p:nvSpPr>
        <p:spPr>
          <a:xfrm>
            <a:off x="4782312" y="4288536"/>
            <a:ext cx="292608" cy="292608"/>
          </a:xfrm>
          <a:prstGeom prst="ellipse">
            <a:avLst/>
          </a:prstGeom>
          <a:solidFill>
            <a:srgbClr val="FFFD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眼鼻" id="482" name="Google Shape;482;h4bebd347a54beacf_9_5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4855464" y="4361688"/>
            <a:ext cx="146304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h4bebd347a54beacf_9_5"/>
          <p:cNvSpPr txBox="1"/>
          <p:nvPr/>
        </p:nvSpPr>
        <p:spPr>
          <a:xfrm>
            <a:off x="5184648" y="4242816"/>
            <a:ext cx="229514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420"/>
              </a:buClr>
              <a:buSzPts val="1300"/>
              <a:buFont typeface="Noto Sans TC"/>
              <a:buNone/>
            </a:pPr>
            <a:r>
              <a:rPr b="1" i="0" lang="zh-TW" sz="1300" u="none" cap="none" strike="noStrike">
                <a:solidFill>
                  <a:srgbClr val="2B2420"/>
                </a:solidFill>
                <a:latin typeface="Noto Sans TC"/>
                <a:ea typeface="Noto Sans TC"/>
                <a:cs typeface="Noto Sans TC"/>
                <a:sym typeface="Noto Sans TC"/>
              </a:rPr>
              <a:t>眼鼻</a:t>
            </a:r>
            <a:endParaRPr b="0" i="0" sz="13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484" name="Google Shape;484;h4bebd347a54beacf_9_5"/>
          <p:cNvSpPr txBox="1"/>
          <p:nvPr/>
        </p:nvSpPr>
        <p:spPr>
          <a:xfrm>
            <a:off x="5184648" y="4434840"/>
            <a:ext cx="229514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544C"/>
              </a:buClr>
              <a:buSzPts val="950"/>
              <a:buFont typeface="Noto Sans TC"/>
              <a:buNone/>
            </a:pPr>
            <a:r>
              <a:rPr b="0" i="0" lang="zh-TW" sz="950" u="none" cap="none" strike="noStrike">
                <a:solidFill>
                  <a:srgbClr val="5E544C"/>
                </a:solidFill>
                <a:latin typeface="Noto Sans TC"/>
                <a:ea typeface="Noto Sans TC"/>
                <a:cs typeface="Noto Sans TC"/>
                <a:sym typeface="Noto Sans TC"/>
              </a:rPr>
              <a:t>眼屎顏色、眼紅、鼻水、鼻頭</a:t>
            </a:r>
            <a:endParaRPr b="0" i="0" sz="9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485" name="Google Shape;485;h4bebd347a54beacf_9_5"/>
          <p:cNvSpPr/>
          <p:nvPr/>
        </p:nvSpPr>
        <p:spPr>
          <a:xfrm>
            <a:off x="4782312" y="4690872"/>
            <a:ext cx="292608" cy="292608"/>
          </a:xfrm>
          <a:prstGeom prst="ellipse">
            <a:avLst/>
          </a:prstGeom>
          <a:solidFill>
            <a:srgbClr val="FFFD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耳朵" id="486" name="Google Shape;486;h4bebd347a54beacf_9_5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4855464" y="4764024"/>
            <a:ext cx="146304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h4bebd347a54beacf_9_5"/>
          <p:cNvSpPr txBox="1"/>
          <p:nvPr/>
        </p:nvSpPr>
        <p:spPr>
          <a:xfrm>
            <a:off x="5184648" y="4645152"/>
            <a:ext cx="229514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420"/>
              </a:buClr>
              <a:buSzPts val="1300"/>
              <a:buFont typeface="Noto Sans TC"/>
              <a:buNone/>
            </a:pPr>
            <a:r>
              <a:rPr b="1" i="0" lang="zh-TW" sz="1300" u="none" cap="none" strike="noStrike">
                <a:solidFill>
                  <a:srgbClr val="2B2420"/>
                </a:solidFill>
                <a:latin typeface="Noto Sans TC"/>
                <a:ea typeface="Noto Sans TC"/>
                <a:cs typeface="Noto Sans TC"/>
                <a:sym typeface="Noto Sans TC"/>
              </a:rPr>
              <a:t>耳朵</a:t>
            </a:r>
            <a:endParaRPr b="0" i="0" sz="13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488" name="Google Shape;488;h4bebd347a54beacf_9_5"/>
          <p:cNvSpPr txBox="1"/>
          <p:nvPr/>
        </p:nvSpPr>
        <p:spPr>
          <a:xfrm>
            <a:off x="5184648" y="4837176"/>
            <a:ext cx="229514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544C"/>
              </a:buClr>
              <a:buSzPts val="950"/>
              <a:buFont typeface="Noto Sans TC"/>
              <a:buNone/>
            </a:pPr>
            <a:r>
              <a:rPr b="0" i="0" lang="zh-TW" sz="950" u="none" cap="none" strike="noStrike">
                <a:solidFill>
                  <a:srgbClr val="5E544C"/>
                </a:solidFill>
                <a:latin typeface="Noto Sans TC"/>
                <a:ea typeface="Noto Sans TC"/>
                <a:cs typeface="Noto Sans TC"/>
                <a:sym typeface="Noto Sans TC"/>
              </a:rPr>
              <a:t>氣味、紅腫、耳垢、甩頭抓耳</a:t>
            </a:r>
            <a:endParaRPr b="0" i="0" sz="9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489" name="Google Shape;489;h4bebd347a54beacf_9_5"/>
          <p:cNvSpPr/>
          <p:nvPr/>
        </p:nvSpPr>
        <p:spPr>
          <a:xfrm>
            <a:off x="7836408" y="1810512"/>
            <a:ext cx="3026664" cy="4133088"/>
          </a:xfrm>
          <a:prstGeom prst="roundRect">
            <a:avLst>
              <a:gd fmla="val 3625" name="adj"/>
            </a:avLst>
          </a:prstGeom>
          <a:solidFill>
            <a:srgbClr val="2B24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h4bebd347a54beacf_9_5"/>
          <p:cNvSpPr txBox="1"/>
          <p:nvPr/>
        </p:nvSpPr>
        <p:spPr>
          <a:xfrm>
            <a:off x="8037576" y="1938528"/>
            <a:ext cx="1371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A27A"/>
              </a:buClr>
              <a:buSzPts val="1800"/>
              <a:buFont typeface="Noto Sans TC"/>
              <a:buNone/>
            </a:pPr>
            <a:r>
              <a:rPr b="1" i="0" lang="zh-TW" sz="1800" u="none" cap="none" strike="noStrike">
                <a:solidFill>
                  <a:srgbClr val="F0A27A"/>
                </a:solidFill>
                <a:latin typeface="Noto Sans TC"/>
                <a:ea typeface="Noto Sans TC"/>
                <a:cs typeface="Noto Sans TC"/>
                <a:sym typeface="Noto Sans TC"/>
              </a:rPr>
              <a:t>白金</a:t>
            </a:r>
            <a:endParaRPr b="0" i="0" sz="18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491" name="Google Shape;491;h4bebd347a54beacf_9_5"/>
          <p:cNvSpPr txBox="1"/>
          <p:nvPr/>
        </p:nvSpPr>
        <p:spPr>
          <a:xfrm>
            <a:off x="9381744" y="1938528"/>
            <a:ext cx="1280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7F3EE"/>
              </a:buClr>
              <a:buSzPts val="1800"/>
              <a:buFont typeface="Noto Sans TC"/>
              <a:buNone/>
            </a:pPr>
            <a:r>
              <a:rPr b="1" i="0" lang="zh-TW" sz="1800" u="none" cap="none" strike="noStrike">
                <a:solidFill>
                  <a:srgbClr val="F7F3EE"/>
                </a:solidFill>
                <a:latin typeface="Noto Sans TC"/>
                <a:ea typeface="Noto Sans TC"/>
                <a:cs typeface="Noto Sans TC"/>
                <a:sym typeface="Noto Sans TC"/>
              </a:rPr>
              <a:t>18 項</a:t>
            </a:r>
            <a:endParaRPr b="0" i="0" sz="18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492" name="Google Shape;492;h4bebd347a54beacf_9_5"/>
          <p:cNvSpPr txBox="1"/>
          <p:nvPr/>
        </p:nvSpPr>
        <p:spPr>
          <a:xfrm>
            <a:off x="8037576" y="2249424"/>
            <a:ext cx="266090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BCB0"/>
              </a:buClr>
              <a:buSzPts val="1100"/>
              <a:buFont typeface="Noto Sans TC"/>
              <a:buNone/>
            </a:pPr>
            <a:r>
              <a:rPr b="0" i="0" lang="zh-TW" sz="1100" u="none" cap="none" strike="noStrike">
                <a:solidFill>
                  <a:srgbClr val="C9BCB0"/>
                </a:solidFill>
                <a:latin typeface="Noto Sans TC"/>
                <a:ea typeface="Noto Sans TC"/>
                <a:cs typeface="Noto Sans TC"/>
                <a:sym typeface="Noto Sans TC"/>
              </a:rPr>
              <a:t>加開活動與照護（+5）</a:t>
            </a:r>
            <a:endParaRPr b="0" i="0" sz="11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cxnSp>
        <p:nvCxnSpPr>
          <p:cNvPr id="493" name="Google Shape;493;h4bebd347a54beacf_9_5"/>
          <p:cNvCxnSpPr/>
          <p:nvPr/>
        </p:nvCxnSpPr>
        <p:spPr>
          <a:xfrm>
            <a:off x="8037576" y="2542032"/>
            <a:ext cx="2624328" cy="0"/>
          </a:xfrm>
          <a:prstGeom prst="straightConnector1">
            <a:avLst/>
          </a:prstGeom>
          <a:noFill/>
          <a:ln cap="flat" cmpd="sng" w="12700">
            <a:solidFill>
              <a:srgbClr val="4A403A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包含" id="494" name="Google Shape;494;h4bebd347a54beacf_9_5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8083296" y="2706624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h4bebd347a54beacf_9_5"/>
          <p:cNvSpPr txBox="1"/>
          <p:nvPr/>
        </p:nvSpPr>
        <p:spPr>
          <a:xfrm>
            <a:off x="8403336" y="2633472"/>
            <a:ext cx="229514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BCB0"/>
              </a:buClr>
              <a:buSzPts val="1200"/>
              <a:buFont typeface="Noto Sans TC"/>
              <a:buNone/>
            </a:pPr>
            <a:r>
              <a:rPr b="1" i="0" lang="zh-TW" sz="1200" u="none" cap="none" strike="noStrike">
                <a:solidFill>
                  <a:srgbClr val="C9BCB0"/>
                </a:solidFill>
                <a:latin typeface="Noto Sans TC"/>
                <a:ea typeface="Noto Sans TC"/>
                <a:cs typeface="Noto Sans TC"/>
                <a:sym typeface="Noto Sans TC"/>
              </a:rPr>
              <a:t>包含黃金版 13 項</a:t>
            </a:r>
            <a:endParaRPr b="0" i="0" sz="12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496" name="Google Shape;496;h4bebd347a54beacf_9_5"/>
          <p:cNvSpPr/>
          <p:nvPr/>
        </p:nvSpPr>
        <p:spPr>
          <a:xfrm>
            <a:off x="8037576" y="3474753"/>
            <a:ext cx="292500" cy="292500"/>
          </a:xfrm>
          <a:prstGeom prst="ellipse">
            <a:avLst/>
          </a:prstGeom>
          <a:solidFill>
            <a:srgbClr val="4A3F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四肢" id="497" name="Google Shape;497;h4bebd347a54beacf_9_5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8110728" y="3547905"/>
            <a:ext cx="146304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h4bebd347a54beacf_9_5"/>
          <p:cNvSpPr txBox="1"/>
          <p:nvPr/>
        </p:nvSpPr>
        <p:spPr>
          <a:xfrm>
            <a:off x="8439912" y="3429033"/>
            <a:ext cx="2295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3EE"/>
              </a:buClr>
              <a:buSzPts val="1300"/>
              <a:buFont typeface="Noto Sans TC"/>
              <a:buNone/>
            </a:pPr>
            <a:r>
              <a:rPr b="1" i="0" lang="zh-TW" sz="1300" u="none" cap="none" strike="noStrike">
                <a:solidFill>
                  <a:srgbClr val="F7F3EE"/>
                </a:solidFill>
                <a:latin typeface="Noto Sans TC"/>
                <a:ea typeface="Noto Sans TC"/>
                <a:cs typeface="Noto Sans TC"/>
                <a:sym typeface="Noto Sans TC"/>
              </a:rPr>
              <a:t>四肢</a:t>
            </a:r>
            <a:endParaRPr b="0" i="0" sz="13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499" name="Google Shape;499;h4bebd347a54beacf_9_5"/>
          <p:cNvSpPr txBox="1"/>
          <p:nvPr/>
        </p:nvSpPr>
        <p:spPr>
          <a:xfrm>
            <a:off x="8439912" y="3621057"/>
            <a:ext cx="22950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BCB0"/>
              </a:buClr>
              <a:buSzPts val="950"/>
              <a:buFont typeface="Noto Sans TC"/>
              <a:buNone/>
            </a:pPr>
            <a:r>
              <a:rPr b="0" i="0" lang="zh-TW" sz="950" u="none" cap="none" strike="noStrike">
                <a:solidFill>
                  <a:srgbClr val="C9BCB0"/>
                </a:solidFill>
                <a:latin typeface="Noto Sans TC"/>
                <a:ea typeface="Noto Sans TC"/>
                <a:cs typeface="Noto Sans TC"/>
                <a:sym typeface="Noto Sans TC"/>
              </a:rPr>
              <a:t>起身、上下樓、舔腳、肉球</a:t>
            </a:r>
            <a:endParaRPr b="0" i="0" sz="9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500" name="Google Shape;500;h4bebd347a54beacf_9_5"/>
          <p:cNvSpPr/>
          <p:nvPr/>
        </p:nvSpPr>
        <p:spPr>
          <a:xfrm>
            <a:off x="8037589" y="3067839"/>
            <a:ext cx="292500" cy="292500"/>
          </a:xfrm>
          <a:prstGeom prst="ellipse">
            <a:avLst/>
          </a:prstGeom>
          <a:solidFill>
            <a:srgbClr val="4A3F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散步" id="501" name="Google Shape;501;h4bebd347a54beacf_9_5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8110741" y="3140991"/>
            <a:ext cx="146304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502" name="Google Shape;502;h4bebd347a54beacf_9_5"/>
          <p:cNvSpPr txBox="1"/>
          <p:nvPr/>
        </p:nvSpPr>
        <p:spPr>
          <a:xfrm>
            <a:off x="8439925" y="3022119"/>
            <a:ext cx="2295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3EE"/>
              </a:buClr>
              <a:buSzPts val="1300"/>
              <a:buFont typeface="Noto Sans TC"/>
              <a:buNone/>
            </a:pPr>
            <a:r>
              <a:rPr b="1" lang="zh-TW" sz="1300">
                <a:solidFill>
                  <a:srgbClr val="F7F3EE"/>
                </a:solidFill>
                <a:latin typeface="Noto Sans TC"/>
                <a:ea typeface="Noto Sans TC"/>
                <a:cs typeface="Noto Sans TC"/>
                <a:sym typeface="Noto Sans TC"/>
              </a:rPr>
              <a:t>運動狀況</a:t>
            </a:r>
            <a:endParaRPr b="0" i="0" sz="13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503" name="Google Shape;503;h4bebd347a54beacf_9_5"/>
          <p:cNvSpPr txBox="1"/>
          <p:nvPr/>
        </p:nvSpPr>
        <p:spPr>
          <a:xfrm>
            <a:off x="8439925" y="3214143"/>
            <a:ext cx="22950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BCB0"/>
              </a:buClr>
              <a:buSzPts val="950"/>
              <a:buFont typeface="Noto Sans TC"/>
              <a:buNone/>
            </a:pPr>
            <a:r>
              <a:rPr b="0" i="0" lang="zh-TW" sz="950" u="none" cap="none" strike="noStrike">
                <a:solidFill>
                  <a:srgbClr val="C9BCB0"/>
                </a:solidFill>
                <a:latin typeface="Noto Sans TC"/>
                <a:ea typeface="Noto Sans TC"/>
                <a:cs typeface="Noto Sans TC"/>
                <a:sym typeface="Noto Sans TC"/>
              </a:rPr>
              <a:t>分鐘數＋走得順不順</a:t>
            </a:r>
            <a:endParaRPr b="0" i="0" sz="9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504" name="Google Shape;504;h4bebd347a54beacf_9_5"/>
          <p:cNvSpPr/>
          <p:nvPr/>
        </p:nvSpPr>
        <p:spPr>
          <a:xfrm>
            <a:off x="8037576" y="3886200"/>
            <a:ext cx="292608" cy="292608"/>
          </a:xfrm>
          <a:prstGeom prst="ellipse">
            <a:avLst/>
          </a:prstGeom>
          <a:solidFill>
            <a:srgbClr val="4A3F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美容洗澡" id="505" name="Google Shape;505;h4bebd347a54beacf_9_5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8110728" y="3959352"/>
            <a:ext cx="146304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506" name="Google Shape;506;h4bebd347a54beacf_9_5"/>
          <p:cNvSpPr txBox="1"/>
          <p:nvPr/>
        </p:nvSpPr>
        <p:spPr>
          <a:xfrm>
            <a:off x="8439912" y="3840480"/>
            <a:ext cx="229514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3EE"/>
              </a:buClr>
              <a:buSzPts val="1300"/>
              <a:buFont typeface="Noto Sans TC"/>
              <a:buNone/>
            </a:pPr>
            <a:r>
              <a:rPr b="1" i="0" lang="zh-TW" sz="1300" u="none" cap="none" strike="noStrike">
                <a:solidFill>
                  <a:srgbClr val="F7F3EE"/>
                </a:solidFill>
                <a:latin typeface="Noto Sans TC"/>
                <a:ea typeface="Noto Sans TC"/>
                <a:cs typeface="Noto Sans TC"/>
                <a:sym typeface="Noto Sans TC"/>
              </a:rPr>
              <a:t>美容洗澡</a:t>
            </a:r>
            <a:endParaRPr b="0" i="0" sz="13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507" name="Google Shape;507;h4bebd347a54beacf_9_5"/>
          <p:cNvSpPr txBox="1"/>
          <p:nvPr/>
        </p:nvSpPr>
        <p:spPr>
          <a:xfrm>
            <a:off x="8439912" y="4032504"/>
            <a:ext cx="229514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BCB0"/>
              </a:buClr>
              <a:buSzPts val="950"/>
              <a:buFont typeface="Noto Sans TC"/>
              <a:buNone/>
            </a:pPr>
            <a:r>
              <a:rPr b="0" i="0" lang="zh-TW" sz="950" u="none" cap="none" strike="noStrike">
                <a:solidFill>
                  <a:srgbClr val="C9BCB0"/>
                </a:solidFill>
                <a:latin typeface="Noto Sans TC"/>
                <a:ea typeface="Noto Sans TC"/>
                <a:cs typeface="Noto Sans TC"/>
                <a:sym typeface="Noto Sans TC"/>
              </a:rPr>
              <a:t>洗澡、剪指甲＋順便看皮膚</a:t>
            </a:r>
            <a:endParaRPr b="0" i="0" sz="9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508" name="Google Shape;508;h4bebd347a54beacf_9_5"/>
          <p:cNvSpPr/>
          <p:nvPr/>
        </p:nvSpPr>
        <p:spPr>
          <a:xfrm>
            <a:off x="8037576" y="4288536"/>
            <a:ext cx="292608" cy="292608"/>
          </a:xfrm>
          <a:prstGeom prst="ellipse">
            <a:avLst/>
          </a:prstGeom>
          <a:solidFill>
            <a:srgbClr val="4A3F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看診後恢復" id="509" name="Google Shape;509;h4bebd347a54beacf_9_5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8110728" y="4361688"/>
            <a:ext cx="146304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Google Shape;510;h4bebd347a54beacf_9_5"/>
          <p:cNvSpPr txBox="1"/>
          <p:nvPr/>
        </p:nvSpPr>
        <p:spPr>
          <a:xfrm>
            <a:off x="8439912" y="4242816"/>
            <a:ext cx="229514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3EE"/>
              </a:buClr>
              <a:buSzPts val="1300"/>
              <a:buFont typeface="Noto Sans TC"/>
              <a:buNone/>
            </a:pPr>
            <a:r>
              <a:rPr b="1" i="0" lang="zh-TW" sz="1300" u="none" cap="none" strike="noStrike">
                <a:solidFill>
                  <a:srgbClr val="F7F3EE"/>
                </a:solidFill>
                <a:latin typeface="Noto Sans TC"/>
                <a:ea typeface="Noto Sans TC"/>
                <a:cs typeface="Noto Sans TC"/>
                <a:sym typeface="Noto Sans TC"/>
              </a:rPr>
              <a:t>看診後恢復</a:t>
            </a:r>
            <a:endParaRPr b="0" i="0" sz="13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511" name="Google Shape;511;h4bebd347a54beacf_9_5"/>
          <p:cNvSpPr txBox="1"/>
          <p:nvPr/>
        </p:nvSpPr>
        <p:spPr>
          <a:xfrm>
            <a:off x="8439912" y="4434840"/>
            <a:ext cx="229514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BCB0"/>
              </a:buClr>
              <a:buSzPts val="950"/>
              <a:buFont typeface="Noto Sans TC"/>
              <a:buNone/>
            </a:pPr>
            <a:r>
              <a:rPr b="0" i="0" lang="zh-TW" sz="950" u="none" cap="none" strike="noStrike">
                <a:solidFill>
                  <a:srgbClr val="C9BCB0"/>
                </a:solidFill>
                <a:latin typeface="Noto Sans TC"/>
                <a:ea typeface="Noto Sans TC"/>
                <a:cs typeface="Noto Sans TC"/>
                <a:sym typeface="Noto Sans TC"/>
              </a:rPr>
              <a:t>好轉／差不多／變差</a:t>
            </a:r>
            <a:endParaRPr b="0" i="0" sz="9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512" name="Google Shape;512;h4bebd347a54beacf_9_5"/>
          <p:cNvSpPr/>
          <p:nvPr/>
        </p:nvSpPr>
        <p:spPr>
          <a:xfrm>
            <a:off x="8037576" y="4690872"/>
            <a:ext cx="292608" cy="292608"/>
          </a:xfrm>
          <a:prstGeom prst="ellipse">
            <a:avLst/>
          </a:prstGeom>
          <a:solidFill>
            <a:srgbClr val="4A3F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照片記錄" id="513" name="Google Shape;513;h4bebd347a54beacf_9_5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8110728" y="4764024"/>
            <a:ext cx="146304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h4bebd347a54beacf_9_5"/>
          <p:cNvSpPr txBox="1"/>
          <p:nvPr/>
        </p:nvSpPr>
        <p:spPr>
          <a:xfrm>
            <a:off x="8439912" y="4645152"/>
            <a:ext cx="229514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3EE"/>
              </a:buClr>
              <a:buSzPts val="1300"/>
              <a:buFont typeface="Noto Sans TC"/>
              <a:buNone/>
            </a:pPr>
            <a:r>
              <a:rPr b="1" lang="zh-TW" sz="1300">
                <a:solidFill>
                  <a:srgbClr val="F7F3EE"/>
                </a:solidFill>
                <a:latin typeface="Noto Sans TC"/>
                <a:ea typeface="Noto Sans TC"/>
                <a:cs typeface="Noto Sans TC"/>
                <a:sym typeface="Noto Sans TC"/>
              </a:rPr>
              <a:t>叫聲</a:t>
            </a:r>
            <a:endParaRPr b="0" i="0" sz="13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515" name="Google Shape;515;h4bebd347a54beacf_9_5"/>
          <p:cNvSpPr txBox="1"/>
          <p:nvPr/>
        </p:nvSpPr>
        <p:spPr>
          <a:xfrm>
            <a:off x="8439912" y="4837176"/>
            <a:ext cx="229514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BCB0"/>
              </a:buClr>
              <a:buSzPts val="950"/>
              <a:buFont typeface="Noto Sans TC"/>
              <a:buNone/>
            </a:pPr>
            <a:r>
              <a:rPr lang="zh-TW" sz="950">
                <a:solidFill>
                  <a:srgbClr val="C9BCB0"/>
                </a:solidFill>
                <a:latin typeface="Noto Sans TC"/>
                <a:ea typeface="Noto Sans TC"/>
                <a:cs typeface="Noto Sans TC"/>
                <a:sym typeface="Noto Sans TC"/>
              </a:rPr>
              <a:t>變大生、變小聲、錄音</a:t>
            </a:r>
            <a:endParaRPr b="0" i="0" sz="9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516" name="Google Shape;516;h4bebd347a54beacf_9_5"/>
          <p:cNvSpPr txBox="1"/>
          <p:nvPr/>
        </p:nvSpPr>
        <p:spPr>
          <a:xfrm>
            <a:off x="11477000" y="6287225"/>
            <a:ext cx="38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10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h7efd045f0b640493_12_202"/>
          <p:cNvSpPr txBox="1"/>
          <p:nvPr>
            <p:ph idx="1" type="body"/>
          </p:nvPr>
        </p:nvSpPr>
        <p:spPr>
          <a:xfrm>
            <a:off x="1325880" y="804672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</a:pPr>
            <a:r>
              <a:rPr b="1" lang="zh-TW" sz="1200">
                <a:solidFill>
                  <a:schemeClr val="accent5"/>
                </a:solidFill>
              </a:rPr>
              <a:t>合規・可控・可追溯</a:t>
            </a:r>
            <a:endParaRPr sz="1200"/>
          </a:p>
        </p:txBody>
      </p:sp>
      <p:sp>
        <p:nvSpPr>
          <p:cNvPr id="523" name="Google Shape;523;h7efd045f0b640493_12_202"/>
          <p:cNvSpPr txBox="1"/>
          <p:nvPr>
            <p:ph type="title"/>
          </p:nvPr>
        </p:nvSpPr>
        <p:spPr>
          <a:xfrm>
            <a:off x="1325880" y="1097280"/>
            <a:ext cx="95097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用限制設計安全的AI</a:t>
            </a:r>
            <a:endParaRPr/>
          </a:p>
        </p:txBody>
      </p:sp>
      <p:sp>
        <p:nvSpPr>
          <p:cNvPr id="524" name="Google Shape;524;h7efd045f0b640493_12_202"/>
          <p:cNvSpPr/>
          <p:nvPr/>
        </p:nvSpPr>
        <p:spPr>
          <a:xfrm>
            <a:off x="1325880" y="1940357"/>
            <a:ext cx="3027578" cy="2948940"/>
          </a:xfrm>
          <a:prstGeom prst="roundRect">
            <a:avLst>
              <a:gd fmla="val 3200" name="adj"/>
            </a:avLst>
          </a:prstGeom>
          <a:solidFill>
            <a:srgbClr val="FFFFFF"/>
          </a:solidFill>
          <a:ln cap="flat" cmpd="sng" w="12700">
            <a:solidFill>
              <a:srgbClr val="E6DE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h7efd045f0b640493_12_202"/>
          <p:cNvSpPr/>
          <p:nvPr/>
        </p:nvSpPr>
        <p:spPr>
          <a:xfrm>
            <a:off x="1561795" y="2160544"/>
            <a:ext cx="652699" cy="652699"/>
          </a:xfrm>
          <a:prstGeom prst="ellipse">
            <a:avLst/>
          </a:prstGeom>
          <a:solidFill>
            <a:srgbClr val="F7E1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合規" id="526" name="Google Shape;526;h7efd045f0b640493_12_2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5140" y="2313889"/>
            <a:ext cx="346009" cy="3460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h7efd045f0b640493_12_202"/>
          <p:cNvSpPr txBox="1"/>
          <p:nvPr/>
        </p:nvSpPr>
        <p:spPr>
          <a:xfrm>
            <a:off x="1561795" y="2962656"/>
            <a:ext cx="2634386" cy="3538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420"/>
              </a:buClr>
              <a:buSzPts val="1900"/>
              <a:buFont typeface="Noto Sans TC"/>
              <a:buNone/>
            </a:pPr>
            <a:r>
              <a:rPr b="1" i="0" lang="zh-TW" sz="1900" u="none" cap="none" strike="noStrike">
                <a:solidFill>
                  <a:srgbClr val="2B2420"/>
                </a:solidFill>
                <a:latin typeface="Noto Sans TC"/>
                <a:ea typeface="Noto Sans TC"/>
                <a:cs typeface="Noto Sans TC"/>
                <a:sym typeface="Noto Sans TC"/>
              </a:rPr>
              <a:t>合規</a:t>
            </a:r>
            <a:endParaRPr b="0" i="0" sz="19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528" name="Google Shape;528;h7efd045f0b640493_12_202"/>
          <p:cNvSpPr txBox="1"/>
          <p:nvPr/>
        </p:nvSpPr>
        <p:spPr>
          <a:xfrm>
            <a:off x="1561795" y="3426623"/>
            <a:ext cx="2634386" cy="2830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038"/>
              </a:buClr>
              <a:buSzPts val="1300"/>
              <a:buFont typeface="Noto Sans TC"/>
              <a:buNone/>
            </a:pPr>
            <a:r>
              <a:rPr b="0" i="0" lang="zh-TW" sz="1600" u="none" cap="none" strike="noStrike">
                <a:solidFill>
                  <a:srgbClr val="4A4038"/>
                </a:solidFill>
                <a:latin typeface="Noto Sans TC"/>
                <a:ea typeface="Noto Sans TC"/>
                <a:cs typeface="Noto Sans TC"/>
                <a:sym typeface="Noto Sans TC"/>
              </a:rPr>
              <a:t>不說病名・不給劑量</a:t>
            </a:r>
            <a:endParaRPr b="0" i="0" sz="16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529" name="Google Shape;529;h7efd045f0b640493_12_202"/>
          <p:cNvSpPr txBox="1"/>
          <p:nvPr/>
        </p:nvSpPr>
        <p:spPr>
          <a:xfrm>
            <a:off x="1522470" y="4295574"/>
            <a:ext cx="26343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038"/>
              </a:buClr>
              <a:buSzPts val="1300"/>
              <a:buFont typeface="Noto Sans TC"/>
              <a:buNone/>
            </a:pPr>
            <a:r>
              <a:rPr b="0" i="0" lang="zh-TW" sz="1600" u="none" cap="none" strike="noStrike">
                <a:solidFill>
                  <a:srgbClr val="4A4038"/>
                </a:solidFill>
                <a:latin typeface="Noto Sans TC"/>
                <a:ea typeface="Noto Sans TC"/>
                <a:cs typeface="Noto Sans TC"/>
                <a:sym typeface="Noto Sans TC"/>
              </a:rPr>
              <a:t>用藥紀錄經同意才匿名上傳</a:t>
            </a:r>
            <a:endParaRPr b="0" i="0" sz="16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530" name="Google Shape;530;h7efd045f0b640493_12_202"/>
          <p:cNvSpPr txBox="1"/>
          <p:nvPr/>
        </p:nvSpPr>
        <p:spPr>
          <a:xfrm>
            <a:off x="1561870" y="3861050"/>
            <a:ext cx="26343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038"/>
              </a:buClr>
              <a:buSzPts val="1300"/>
              <a:buFont typeface="Noto Sans TC"/>
              <a:buNone/>
            </a:pPr>
            <a:r>
              <a:rPr b="0" i="0" lang="zh-TW" sz="1600" u="none" cap="none" strike="noStrike">
                <a:solidFill>
                  <a:srgbClr val="4A4038"/>
                </a:solidFill>
                <a:latin typeface="Noto Sans TC"/>
                <a:ea typeface="Noto Sans TC"/>
                <a:cs typeface="Noto Sans TC"/>
                <a:sym typeface="Noto Sans TC"/>
              </a:rPr>
              <a:t>報告標註「非診斷」</a:t>
            </a:r>
            <a:endParaRPr b="0" i="0" sz="16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531" name="Google Shape;531;h7efd045f0b640493_12_202"/>
          <p:cNvSpPr/>
          <p:nvPr/>
        </p:nvSpPr>
        <p:spPr>
          <a:xfrm>
            <a:off x="4581510" y="1940357"/>
            <a:ext cx="3027578" cy="2948940"/>
          </a:xfrm>
          <a:prstGeom prst="roundRect">
            <a:avLst>
              <a:gd fmla="val 3200" name="adj"/>
            </a:avLst>
          </a:prstGeom>
          <a:solidFill>
            <a:srgbClr val="FFFFFF"/>
          </a:solidFill>
          <a:ln cap="flat" cmpd="sng" w="12700">
            <a:solidFill>
              <a:srgbClr val="E6DE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h7efd045f0b640493_12_202"/>
          <p:cNvSpPr/>
          <p:nvPr/>
        </p:nvSpPr>
        <p:spPr>
          <a:xfrm>
            <a:off x="4817425" y="2160544"/>
            <a:ext cx="652699" cy="652699"/>
          </a:xfrm>
          <a:prstGeom prst="ellipse">
            <a:avLst/>
          </a:prstGeom>
          <a:solidFill>
            <a:srgbClr val="F7E1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可控" id="533" name="Google Shape;533;h7efd045f0b640493_12_20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70770" y="2313889"/>
            <a:ext cx="346009" cy="346009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534;h7efd045f0b640493_12_202"/>
          <p:cNvSpPr txBox="1"/>
          <p:nvPr/>
        </p:nvSpPr>
        <p:spPr>
          <a:xfrm>
            <a:off x="4817425" y="2962656"/>
            <a:ext cx="2634386" cy="3538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420"/>
              </a:buClr>
              <a:buSzPts val="1900"/>
              <a:buFont typeface="Noto Sans TC"/>
              <a:buNone/>
            </a:pPr>
            <a:r>
              <a:rPr b="1" i="0" lang="zh-TW" sz="1900" u="none" cap="none" strike="noStrike">
                <a:solidFill>
                  <a:srgbClr val="2B2420"/>
                </a:solidFill>
                <a:latin typeface="Noto Sans TC"/>
                <a:ea typeface="Noto Sans TC"/>
                <a:cs typeface="Noto Sans TC"/>
                <a:sym typeface="Noto Sans TC"/>
              </a:rPr>
              <a:t>可控</a:t>
            </a:r>
            <a:endParaRPr b="0" i="0" sz="19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535" name="Google Shape;535;h7efd045f0b640493_12_202"/>
          <p:cNvSpPr txBox="1"/>
          <p:nvPr/>
        </p:nvSpPr>
        <p:spPr>
          <a:xfrm>
            <a:off x="4817425" y="3880811"/>
            <a:ext cx="26343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038"/>
              </a:buClr>
              <a:buSzPts val="1300"/>
              <a:buFont typeface="Noto Sans TC"/>
              <a:buNone/>
            </a:pPr>
            <a:r>
              <a:rPr b="0" i="0" lang="zh-TW" sz="1600" u="none" cap="none" strike="noStrike">
                <a:solidFill>
                  <a:srgbClr val="4A4038"/>
                </a:solidFill>
                <a:latin typeface="Noto Sans TC"/>
                <a:ea typeface="Noto Sans TC"/>
                <a:cs typeface="Noto Sans TC"/>
                <a:sym typeface="Noto Sans TC"/>
              </a:rPr>
              <a:t>固定 JSON 輸出</a:t>
            </a:r>
            <a:endParaRPr b="0" i="0" sz="16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536" name="Google Shape;536;h7efd045f0b640493_12_202"/>
          <p:cNvSpPr txBox="1"/>
          <p:nvPr/>
        </p:nvSpPr>
        <p:spPr>
          <a:xfrm>
            <a:off x="4797750" y="4295574"/>
            <a:ext cx="26343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038"/>
              </a:buClr>
              <a:buSzPts val="1300"/>
              <a:buFont typeface="Noto Sans TC"/>
              <a:buNone/>
            </a:pPr>
            <a:r>
              <a:rPr b="0" i="0" lang="zh-TW" sz="1600" u="none" cap="none" strike="noStrike">
                <a:solidFill>
                  <a:srgbClr val="4A4038"/>
                </a:solidFill>
                <a:latin typeface="Noto Sans TC"/>
                <a:ea typeface="Noto Sans TC"/>
                <a:cs typeface="Noto Sans TC"/>
                <a:sym typeface="Noto Sans TC"/>
              </a:rPr>
              <a:t>驗證層過濾</a:t>
            </a:r>
            <a:endParaRPr b="0" i="0" sz="16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537" name="Google Shape;537;h7efd045f0b640493_12_202"/>
          <p:cNvSpPr txBox="1"/>
          <p:nvPr/>
        </p:nvSpPr>
        <p:spPr>
          <a:xfrm>
            <a:off x="4817450" y="3465925"/>
            <a:ext cx="26343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038"/>
              </a:buClr>
              <a:buSzPts val="1300"/>
              <a:buFont typeface="Noto Sans TC"/>
              <a:buNone/>
            </a:pPr>
            <a:r>
              <a:rPr lang="zh-TW" sz="1600">
                <a:solidFill>
                  <a:srgbClr val="4A4038"/>
                </a:solidFill>
                <a:latin typeface="Noto Sans TC"/>
                <a:ea typeface="Noto Sans TC"/>
                <a:cs typeface="Noto Sans TC"/>
                <a:sym typeface="Noto Sans TC"/>
              </a:rPr>
              <a:t>追問只能問題庫題目</a:t>
            </a:r>
            <a:endParaRPr b="0" i="0" sz="16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538" name="Google Shape;538;h7efd045f0b640493_12_202"/>
          <p:cNvSpPr/>
          <p:nvPr/>
        </p:nvSpPr>
        <p:spPr>
          <a:xfrm>
            <a:off x="7837140" y="1940357"/>
            <a:ext cx="3027578" cy="2948940"/>
          </a:xfrm>
          <a:prstGeom prst="roundRect">
            <a:avLst>
              <a:gd fmla="val 3200" name="adj"/>
            </a:avLst>
          </a:prstGeom>
          <a:solidFill>
            <a:srgbClr val="FFFFFF"/>
          </a:solidFill>
          <a:ln cap="flat" cmpd="sng" w="12700">
            <a:solidFill>
              <a:srgbClr val="E6DE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h7efd045f0b640493_12_202"/>
          <p:cNvSpPr/>
          <p:nvPr/>
        </p:nvSpPr>
        <p:spPr>
          <a:xfrm>
            <a:off x="8073055" y="2160544"/>
            <a:ext cx="652699" cy="652699"/>
          </a:xfrm>
          <a:prstGeom prst="ellipse">
            <a:avLst/>
          </a:prstGeom>
          <a:solidFill>
            <a:srgbClr val="F7E1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可追溯" id="540" name="Google Shape;540;h7efd045f0b640493_12_20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26400" y="2313889"/>
            <a:ext cx="346009" cy="346009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h7efd045f0b640493_12_202"/>
          <p:cNvSpPr txBox="1"/>
          <p:nvPr/>
        </p:nvSpPr>
        <p:spPr>
          <a:xfrm>
            <a:off x="8073055" y="2962656"/>
            <a:ext cx="2634386" cy="3538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420"/>
              </a:buClr>
              <a:buSzPts val="1900"/>
              <a:buFont typeface="Noto Sans TC"/>
              <a:buNone/>
            </a:pPr>
            <a:r>
              <a:rPr b="1" i="0" lang="zh-TW" sz="1900" u="none" cap="none" strike="noStrike">
                <a:solidFill>
                  <a:srgbClr val="2B2420"/>
                </a:solidFill>
                <a:latin typeface="Noto Sans TC"/>
                <a:ea typeface="Noto Sans TC"/>
                <a:cs typeface="Noto Sans TC"/>
                <a:sym typeface="Noto Sans TC"/>
              </a:rPr>
              <a:t>可追溯</a:t>
            </a:r>
            <a:endParaRPr b="0" i="0" sz="19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542" name="Google Shape;542;h7efd045f0b640493_12_202"/>
          <p:cNvSpPr txBox="1"/>
          <p:nvPr/>
        </p:nvSpPr>
        <p:spPr>
          <a:xfrm>
            <a:off x="8073055" y="3426623"/>
            <a:ext cx="2634386" cy="2830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038"/>
              </a:buClr>
              <a:buSzPts val="1300"/>
              <a:buFont typeface="Noto Sans TC"/>
              <a:buNone/>
            </a:pPr>
            <a:r>
              <a:rPr b="0" i="0" lang="zh-TW" sz="1600" u="none" cap="none" strike="noStrike">
                <a:solidFill>
                  <a:srgbClr val="4A4038"/>
                </a:solidFill>
                <a:latin typeface="Noto Sans TC"/>
                <a:ea typeface="Noto Sans TC"/>
                <a:cs typeface="Noto Sans TC"/>
                <a:sym typeface="Noto Sans TC"/>
              </a:rPr>
              <a:t>每題問答留存</a:t>
            </a:r>
            <a:endParaRPr b="0" i="0" sz="16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543" name="Google Shape;543;h7efd045f0b640493_12_202"/>
          <p:cNvSpPr txBox="1"/>
          <p:nvPr/>
        </p:nvSpPr>
        <p:spPr>
          <a:xfrm>
            <a:off x="8073030" y="4258324"/>
            <a:ext cx="26343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038"/>
              </a:buClr>
              <a:buSzPts val="1300"/>
              <a:buFont typeface="Noto Sans TC"/>
              <a:buNone/>
            </a:pPr>
            <a:r>
              <a:rPr b="0" i="0" lang="zh-TW" sz="1600" u="none" cap="none" strike="noStrike">
                <a:solidFill>
                  <a:srgbClr val="4A4038"/>
                </a:solidFill>
                <a:latin typeface="Noto Sans TC"/>
                <a:ea typeface="Noto Sans TC"/>
                <a:cs typeface="Noto Sans TC"/>
                <a:sym typeface="Noto Sans TC"/>
              </a:rPr>
              <a:t>每題標註出處</a:t>
            </a:r>
            <a:endParaRPr b="0" i="0" sz="16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544" name="Google Shape;544;h7efd045f0b640493_12_202"/>
          <p:cNvSpPr txBox="1"/>
          <p:nvPr/>
        </p:nvSpPr>
        <p:spPr>
          <a:xfrm>
            <a:off x="8072968" y="3842437"/>
            <a:ext cx="26343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038"/>
              </a:buClr>
              <a:buSzPts val="1300"/>
              <a:buFont typeface="Noto Sans TC"/>
              <a:buNone/>
            </a:pPr>
            <a:r>
              <a:rPr b="0" i="0" lang="zh-TW" sz="1600" u="none" cap="none" strike="noStrike">
                <a:solidFill>
                  <a:srgbClr val="4A4038"/>
                </a:solidFill>
                <a:latin typeface="Noto Sans TC"/>
                <a:ea typeface="Noto Sans TC"/>
                <a:cs typeface="Noto Sans TC"/>
                <a:sym typeface="Noto Sans TC"/>
              </a:rPr>
              <a:t>存於手機本地資料庫</a:t>
            </a:r>
            <a:endParaRPr b="0" i="0" sz="16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545" name="Google Shape;545;h7efd045f0b640493_12_202"/>
          <p:cNvSpPr/>
          <p:nvPr/>
        </p:nvSpPr>
        <p:spPr>
          <a:xfrm>
            <a:off x="1325880" y="5164531"/>
            <a:ext cx="9538838" cy="534741"/>
          </a:xfrm>
          <a:prstGeom prst="roundRect">
            <a:avLst>
              <a:gd fmla="val 17647" name="adj"/>
            </a:avLst>
          </a:prstGeom>
          <a:solidFill>
            <a:srgbClr val="2B242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6F1"/>
              </a:buClr>
              <a:buSzPts val="1550"/>
              <a:buFont typeface="Noto Sans TC"/>
              <a:buNone/>
            </a:pPr>
            <a:r>
              <a:rPr b="1" i="0" lang="zh-TW" sz="1550" u="none" cap="none" strike="noStrike">
                <a:solidFill>
                  <a:srgbClr val="FAF6F1"/>
                </a:solidFill>
                <a:latin typeface="Noto Sans TC"/>
                <a:ea typeface="Noto Sans TC"/>
                <a:cs typeface="Noto Sans TC"/>
                <a:sym typeface="Noto Sans TC"/>
              </a:rPr>
              <a:t>「不涉診斷」從口頭宣稱 → 架構上做不到</a:t>
            </a:r>
            <a:endParaRPr b="0" i="0" sz="15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546" name="Google Shape;546;h7efd045f0b640493_12_202"/>
          <p:cNvSpPr txBox="1"/>
          <p:nvPr/>
        </p:nvSpPr>
        <p:spPr>
          <a:xfrm>
            <a:off x="11466500" y="6245275"/>
            <a:ext cx="38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1</a:t>
            </a:r>
            <a:r>
              <a:rPr lang="zh-TW"/>
              <a:t>1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h7efd045f0b640493_12_233"/>
          <p:cNvSpPr txBox="1"/>
          <p:nvPr>
            <p:ph idx="1" type="body"/>
          </p:nvPr>
        </p:nvSpPr>
        <p:spPr>
          <a:xfrm>
            <a:off x="1325880" y="804672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</a:pPr>
            <a:r>
              <a:rPr b="1" lang="zh-TW" sz="1200">
                <a:solidFill>
                  <a:schemeClr val="accent5"/>
                </a:solidFill>
              </a:rPr>
              <a:t>中化為什麼需要這個 App</a:t>
            </a:r>
            <a:endParaRPr sz="1200"/>
          </a:p>
        </p:txBody>
      </p:sp>
      <p:sp>
        <p:nvSpPr>
          <p:cNvPr id="553" name="Google Shape;553;h7efd045f0b640493_12_233"/>
          <p:cNvSpPr txBox="1"/>
          <p:nvPr>
            <p:ph type="title"/>
          </p:nvPr>
        </p:nvSpPr>
        <p:spPr>
          <a:xfrm>
            <a:off x="1325880" y="1097280"/>
            <a:ext cx="95097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TC"/>
              <a:buNone/>
            </a:pPr>
            <a:r>
              <a:rPr b="1" lang="zh-TW" sz="2800">
                <a:solidFill>
                  <a:schemeClr val="dk1"/>
                </a:solidFill>
              </a:rPr>
              <a:t>協助中化做產品宣傳</a:t>
            </a:r>
            <a:endParaRPr sz="2800"/>
          </a:p>
        </p:txBody>
      </p:sp>
      <p:sp>
        <p:nvSpPr>
          <p:cNvPr id="554" name="Google Shape;554;h7efd045f0b640493_12_233"/>
          <p:cNvSpPr/>
          <p:nvPr/>
        </p:nvSpPr>
        <p:spPr>
          <a:xfrm>
            <a:off x="1325875" y="2129100"/>
            <a:ext cx="1942500" cy="3106200"/>
          </a:xfrm>
          <a:prstGeom prst="roundRect">
            <a:avLst>
              <a:gd fmla="val 4040" name="adj"/>
            </a:avLst>
          </a:prstGeom>
          <a:solidFill>
            <a:srgbClr val="FFFDFA"/>
          </a:solidFill>
          <a:ln cap="flat" cmpd="sng" w="12700">
            <a:solidFill>
              <a:srgbClr val="E6DE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h7efd045f0b640493_12_233"/>
          <p:cNvSpPr/>
          <p:nvPr/>
        </p:nvSpPr>
        <p:spPr>
          <a:xfrm>
            <a:off x="1522476" y="2302093"/>
            <a:ext cx="487558" cy="487558"/>
          </a:xfrm>
          <a:prstGeom prst="ellipse">
            <a:avLst/>
          </a:prstGeom>
          <a:solidFill>
            <a:srgbClr val="F0A2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行銷與品牌" id="556" name="Google Shape;556;h7efd045f0b640493_12_2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8297" y="2427915"/>
            <a:ext cx="235915" cy="235915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h7efd045f0b640493_12_233"/>
          <p:cNvSpPr txBox="1"/>
          <p:nvPr/>
        </p:nvSpPr>
        <p:spPr>
          <a:xfrm>
            <a:off x="1522476" y="2899745"/>
            <a:ext cx="2021007" cy="3302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420"/>
              </a:buClr>
              <a:buSzPts val="1650"/>
              <a:buFont typeface="Noto Sans TC"/>
              <a:buNone/>
            </a:pPr>
            <a:r>
              <a:rPr b="1" i="0" lang="zh-TW" sz="1650" u="none" cap="none" strike="noStrike">
                <a:solidFill>
                  <a:srgbClr val="2B2420"/>
                </a:solidFill>
                <a:latin typeface="Noto Sans TC"/>
                <a:ea typeface="Noto Sans TC"/>
                <a:cs typeface="Noto Sans TC"/>
                <a:sym typeface="Noto Sans TC"/>
              </a:rPr>
              <a:t>行銷與品牌</a:t>
            </a:r>
            <a:endParaRPr b="0" i="0" sz="16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558" name="Google Shape;558;h7efd045f0b640493_12_233"/>
          <p:cNvSpPr txBox="1"/>
          <p:nvPr/>
        </p:nvSpPr>
        <p:spPr>
          <a:xfrm>
            <a:off x="1522476" y="3230027"/>
            <a:ext cx="2021007" cy="3145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572C"/>
              </a:buClr>
              <a:buSzPts val="1150"/>
              <a:buFont typeface="Noto Sans TC"/>
              <a:buNone/>
            </a:pPr>
            <a:r>
              <a:rPr b="1" i="0" lang="zh-TW" sz="1150" u="none" cap="none" strike="noStrike">
                <a:solidFill>
                  <a:srgbClr val="B4572C"/>
                </a:solidFill>
                <a:latin typeface="Noto Sans TC"/>
                <a:ea typeface="Noto Sans TC"/>
                <a:cs typeface="Noto Sans TC"/>
                <a:sym typeface="Noto Sans TC"/>
              </a:rPr>
              <a:t>效果看得到，形象更專業</a:t>
            </a:r>
            <a:endParaRPr b="0" i="0" sz="11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cxnSp>
        <p:nvCxnSpPr>
          <p:cNvPr id="559" name="Google Shape;559;h7efd045f0b640493_12_233"/>
          <p:cNvCxnSpPr/>
          <p:nvPr/>
        </p:nvCxnSpPr>
        <p:spPr>
          <a:xfrm>
            <a:off x="1522476" y="3638946"/>
            <a:ext cx="1942368" cy="0"/>
          </a:xfrm>
          <a:prstGeom prst="straightConnector1">
            <a:avLst/>
          </a:prstGeom>
          <a:noFill/>
          <a:ln cap="flat" cmpd="sng" w="12700">
            <a:solidFill>
              <a:srgbClr val="EEE8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0" name="Google Shape;560;h7efd045f0b640493_12_233"/>
          <p:cNvSpPr/>
          <p:nvPr/>
        </p:nvSpPr>
        <p:spPr>
          <a:xfrm>
            <a:off x="1538204" y="3866998"/>
            <a:ext cx="78638" cy="78638"/>
          </a:xfrm>
          <a:prstGeom prst="ellipse">
            <a:avLst/>
          </a:prstGeom>
          <a:solidFill>
            <a:srgbClr val="B457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h7efd045f0b640493_12_233"/>
          <p:cNvSpPr txBox="1"/>
          <p:nvPr/>
        </p:nvSpPr>
        <p:spPr>
          <a:xfrm>
            <a:off x="1671889" y="3780495"/>
            <a:ext cx="1942368" cy="25164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420"/>
              </a:buClr>
              <a:buSzPts val="1150"/>
              <a:buFont typeface="Noto Sans TC"/>
              <a:buNone/>
            </a:pPr>
            <a:r>
              <a:rPr b="0" i="0" lang="zh-TW" sz="1150" u="none" cap="none" strike="noStrike">
                <a:solidFill>
                  <a:srgbClr val="2B2420"/>
                </a:solidFill>
                <a:latin typeface="Noto Sans TC"/>
                <a:ea typeface="Noto Sans TC"/>
                <a:cs typeface="Noto Sans TC"/>
                <a:sym typeface="Noto Sans TC"/>
              </a:rPr>
              <a:t>教學影片具體呈現</a:t>
            </a:r>
            <a:endParaRPr b="0" i="0" sz="11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562" name="Google Shape;562;h7efd045f0b640493_12_233"/>
          <p:cNvSpPr/>
          <p:nvPr/>
        </p:nvSpPr>
        <p:spPr>
          <a:xfrm>
            <a:off x="1538204" y="4228734"/>
            <a:ext cx="78638" cy="78638"/>
          </a:xfrm>
          <a:prstGeom prst="ellipse">
            <a:avLst/>
          </a:prstGeom>
          <a:solidFill>
            <a:srgbClr val="B457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h7efd045f0b640493_12_233"/>
          <p:cNvSpPr txBox="1"/>
          <p:nvPr/>
        </p:nvSpPr>
        <p:spPr>
          <a:xfrm>
            <a:off x="1671889" y="4142232"/>
            <a:ext cx="1942368" cy="25164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420"/>
              </a:buClr>
              <a:buSzPts val="1150"/>
              <a:buFont typeface="Noto Sans TC"/>
              <a:buNone/>
            </a:pPr>
            <a:r>
              <a:rPr b="0" i="0" lang="zh-TW" sz="1150" u="none" cap="none" strike="noStrike">
                <a:solidFill>
                  <a:srgbClr val="2B2420"/>
                </a:solidFill>
                <a:latin typeface="Noto Sans TC"/>
                <a:ea typeface="Noto Sans TC"/>
                <a:cs typeface="Noto Sans TC"/>
                <a:sym typeface="Noto Sans TC"/>
              </a:rPr>
              <a:t>業務拜訪有數據</a:t>
            </a:r>
            <a:endParaRPr b="0" i="0" sz="11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564" name="Google Shape;564;h7efd045f0b640493_12_233"/>
          <p:cNvSpPr/>
          <p:nvPr/>
        </p:nvSpPr>
        <p:spPr>
          <a:xfrm>
            <a:off x="1538204" y="4590471"/>
            <a:ext cx="78638" cy="78638"/>
          </a:xfrm>
          <a:prstGeom prst="ellipse">
            <a:avLst/>
          </a:prstGeom>
          <a:solidFill>
            <a:srgbClr val="B457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h7efd045f0b640493_12_233"/>
          <p:cNvSpPr txBox="1"/>
          <p:nvPr/>
        </p:nvSpPr>
        <p:spPr>
          <a:xfrm>
            <a:off x="1671889" y="4503969"/>
            <a:ext cx="1942368" cy="25164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420"/>
              </a:buClr>
              <a:buSzPts val="1150"/>
              <a:buFont typeface="Noto Sans TC"/>
              <a:buNone/>
            </a:pPr>
            <a:r>
              <a:rPr b="0" i="0" lang="zh-TW" sz="1150" u="none" cap="none" strike="noStrike">
                <a:solidFill>
                  <a:srgbClr val="2B2420"/>
                </a:solidFill>
                <a:latin typeface="Noto Sans TC"/>
                <a:ea typeface="Noto Sans TC"/>
                <a:cs typeface="Noto Sans TC"/>
                <a:sym typeface="Noto Sans TC"/>
              </a:rPr>
              <a:t>品牌深入用戶內心</a:t>
            </a:r>
            <a:endParaRPr b="0" i="0" sz="11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566" name="Google Shape;566;h7efd045f0b640493_12_233"/>
          <p:cNvSpPr/>
          <p:nvPr/>
        </p:nvSpPr>
        <p:spPr>
          <a:xfrm>
            <a:off x="1538204" y="4952208"/>
            <a:ext cx="78638" cy="78638"/>
          </a:xfrm>
          <a:prstGeom prst="ellipse">
            <a:avLst/>
          </a:prstGeom>
          <a:solidFill>
            <a:srgbClr val="B457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h7efd045f0b640493_12_233"/>
          <p:cNvSpPr txBox="1"/>
          <p:nvPr/>
        </p:nvSpPr>
        <p:spPr>
          <a:xfrm>
            <a:off x="1671889" y="4865705"/>
            <a:ext cx="1942368" cy="25164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420"/>
              </a:buClr>
              <a:buSzPts val="1150"/>
              <a:buFont typeface="Noto Sans TC"/>
              <a:buNone/>
            </a:pPr>
            <a:r>
              <a:rPr b="0" i="0" lang="zh-TW" sz="1150" u="none" cap="none" strike="noStrike">
                <a:solidFill>
                  <a:srgbClr val="2B2420"/>
                </a:solidFill>
                <a:latin typeface="Noto Sans TC"/>
                <a:ea typeface="Noto Sans TC"/>
                <a:cs typeface="Noto Sans TC"/>
                <a:sym typeface="Noto Sans TC"/>
              </a:rPr>
              <a:t>AI＋影片分流客服</a:t>
            </a:r>
            <a:endParaRPr b="0" i="0" sz="11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pic>
        <p:nvPicPr>
          <p:cNvPr descr="教學影片畫面：如何清潔狗狗的耳朵" id="568" name="Google Shape;568;h7efd045f0b640493_12_2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69302" y="1893212"/>
            <a:ext cx="6440483" cy="3483681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h7efd045f0b640493_12_233"/>
          <p:cNvSpPr txBox="1"/>
          <p:nvPr/>
        </p:nvSpPr>
        <p:spPr>
          <a:xfrm>
            <a:off x="11497975" y="6262250"/>
            <a:ext cx="38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12</a:t>
            </a:r>
            <a:endParaRPr/>
          </a:p>
        </p:txBody>
      </p:sp>
      <p:sp>
        <p:nvSpPr>
          <p:cNvPr id="570" name="Google Shape;570;h7efd045f0b640493_12_233">
            <a:hlinkClick r:id="rId5"/>
          </p:cNvPr>
          <p:cNvSpPr txBox="1"/>
          <p:nvPr/>
        </p:nvSpPr>
        <p:spPr>
          <a:xfrm>
            <a:off x="4650575" y="1583800"/>
            <a:ext cx="51759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zh-TW" sz="1150">
                <a:solidFill>
                  <a:srgbClr val="555555"/>
                </a:solidFill>
              </a:rPr>
              <a:t>研究資料來源:Taylor et al. (2022), Journal of Feline Medicine and Surgery. </a:t>
            </a:r>
            <a:endParaRPr sz="1150">
              <a:solidFill>
                <a:srgbClr val="555555"/>
              </a:solidFill>
            </a:endParaRPr>
          </a:p>
        </p:txBody>
      </p:sp>
      <p:pic>
        <p:nvPicPr>
          <p:cNvPr id="571" name="Google Shape;571;h7efd045f0b640493_12_233" title="7d9a5826-51c4-40b2-b127-b8e76f2df2d9.jpg"/>
          <p:cNvPicPr preferRelativeResize="0"/>
          <p:nvPr/>
        </p:nvPicPr>
        <p:blipFill rotWithShape="1">
          <a:blip r:embed="rId6">
            <a:alphaModFix/>
          </a:blip>
          <a:srcRect b="42073" l="2493" r="2730" t="39182"/>
          <a:stretch/>
        </p:blipFill>
        <p:spPr>
          <a:xfrm>
            <a:off x="1884188" y="5412950"/>
            <a:ext cx="7687224" cy="84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h7efd045f0b640493_12_257"/>
          <p:cNvSpPr txBox="1"/>
          <p:nvPr>
            <p:ph idx="1" type="body"/>
          </p:nvPr>
        </p:nvSpPr>
        <p:spPr>
          <a:xfrm>
            <a:off x="1325880" y="804672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</a:pPr>
            <a:r>
              <a:rPr b="1" lang="zh-TW" sz="1200">
                <a:solidFill>
                  <a:schemeClr val="accent5"/>
                </a:solidFill>
              </a:rPr>
              <a:t>商業模式</a:t>
            </a:r>
            <a:endParaRPr sz="1200"/>
          </a:p>
        </p:txBody>
      </p:sp>
      <p:sp>
        <p:nvSpPr>
          <p:cNvPr id="578" name="Google Shape;578;h7efd045f0b640493_12_257"/>
          <p:cNvSpPr txBox="1"/>
          <p:nvPr>
            <p:ph type="title"/>
          </p:nvPr>
        </p:nvSpPr>
        <p:spPr>
          <a:xfrm>
            <a:off x="1325880" y="1097280"/>
            <a:ext cx="95097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TC"/>
              <a:buNone/>
            </a:pPr>
            <a:r>
              <a:rPr b="1" lang="zh-TW" sz="2800">
                <a:solidFill>
                  <a:schemeClr val="dk1"/>
                </a:solidFill>
              </a:rPr>
              <a:t>三種方案，在最需要的時候升級</a:t>
            </a:r>
            <a:endParaRPr sz="2800"/>
          </a:p>
        </p:txBody>
      </p:sp>
      <p:sp>
        <p:nvSpPr>
          <p:cNvPr id="579" name="Google Shape;579;h7efd045f0b640493_12_257"/>
          <p:cNvSpPr/>
          <p:nvPr/>
        </p:nvSpPr>
        <p:spPr>
          <a:xfrm>
            <a:off x="1325880" y="1806672"/>
            <a:ext cx="3022336" cy="3892601"/>
          </a:xfrm>
          <a:prstGeom prst="roundRect">
            <a:avLst>
              <a:gd fmla="val 3122" name="adj"/>
            </a:avLst>
          </a:prstGeom>
          <a:solidFill>
            <a:srgbClr val="FFFDFA"/>
          </a:solidFill>
          <a:ln cap="flat" cmpd="sng" w="12700">
            <a:solidFill>
              <a:srgbClr val="E6DE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h7efd045f0b640493_12_257"/>
          <p:cNvSpPr txBox="1"/>
          <p:nvPr/>
        </p:nvSpPr>
        <p:spPr>
          <a:xfrm>
            <a:off x="1561795" y="2026859"/>
            <a:ext cx="1572768" cy="3145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572C"/>
              </a:buClr>
              <a:buSzPts val="1700"/>
              <a:buFont typeface="Noto Sans TC"/>
              <a:buNone/>
            </a:pPr>
            <a:r>
              <a:rPr b="1" i="0" lang="zh-TW" sz="1700" u="none" cap="none" strike="noStrike">
                <a:solidFill>
                  <a:srgbClr val="B4572C"/>
                </a:solidFill>
                <a:latin typeface="Noto Sans TC"/>
                <a:ea typeface="Noto Sans TC"/>
                <a:cs typeface="Noto Sans TC"/>
                <a:sym typeface="Noto Sans TC"/>
              </a:rPr>
              <a:t>免費</a:t>
            </a:r>
            <a:endParaRPr b="0" i="0" sz="17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581" name="Google Shape;581;h7efd045f0b640493_12_257"/>
          <p:cNvSpPr txBox="1"/>
          <p:nvPr/>
        </p:nvSpPr>
        <p:spPr>
          <a:xfrm>
            <a:off x="1561795" y="2372868"/>
            <a:ext cx="2629144" cy="4561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420"/>
              </a:buClr>
              <a:buSzPts val="2600"/>
              <a:buFont typeface="Noto Sans TC"/>
              <a:buNone/>
            </a:pPr>
            <a:r>
              <a:rPr b="1" i="0" lang="zh-TW" sz="2600" u="none" cap="none" strike="noStrike">
                <a:solidFill>
                  <a:srgbClr val="2B2420"/>
                </a:solidFill>
                <a:latin typeface="Noto Sans TC"/>
                <a:ea typeface="Noto Sans TC"/>
                <a:cs typeface="Noto Sans TC"/>
                <a:sym typeface="Noto Sans TC"/>
              </a:rPr>
              <a:t>NT$0</a:t>
            </a:r>
            <a:endParaRPr b="0" i="0" sz="26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582" name="Google Shape;582;h7efd045f0b640493_12_257"/>
          <p:cNvSpPr txBox="1"/>
          <p:nvPr/>
        </p:nvSpPr>
        <p:spPr>
          <a:xfrm>
            <a:off x="1561795" y="2844698"/>
            <a:ext cx="2629144" cy="235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44C"/>
              </a:buClr>
              <a:buSzPts val="1050"/>
              <a:buFont typeface="Noto Sans TC"/>
              <a:buNone/>
            </a:pPr>
            <a:r>
              <a:rPr b="0" i="0" lang="zh-TW" sz="1050" u="none" cap="none" strike="noStrike">
                <a:solidFill>
                  <a:srgbClr val="5E544C"/>
                </a:solidFill>
                <a:latin typeface="Noto Sans TC"/>
                <a:ea typeface="Noto Sans TC"/>
                <a:cs typeface="Noto Sans TC"/>
                <a:sym typeface="Noto Sans TC"/>
              </a:rPr>
              <a:t>降低門檻，建立使用習慣</a:t>
            </a:r>
            <a:endParaRPr b="0" i="0" sz="10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cxnSp>
        <p:nvCxnSpPr>
          <p:cNvPr id="583" name="Google Shape;583;h7efd045f0b640493_12_257"/>
          <p:cNvCxnSpPr/>
          <p:nvPr/>
        </p:nvCxnSpPr>
        <p:spPr>
          <a:xfrm>
            <a:off x="1561795" y="3182844"/>
            <a:ext cx="2550505" cy="0"/>
          </a:xfrm>
          <a:prstGeom prst="straightConnector1">
            <a:avLst/>
          </a:prstGeom>
          <a:noFill/>
          <a:ln cap="flat" cmpd="sng" w="12700">
            <a:solidFill>
              <a:srgbClr val="EEE8E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勾選" id="584" name="Google Shape;584;h7efd045f0b640493_12_2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77523" y="3379440"/>
            <a:ext cx="117958" cy="117958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h7efd045f0b640493_12_257"/>
          <p:cNvSpPr txBox="1"/>
          <p:nvPr/>
        </p:nvSpPr>
        <p:spPr>
          <a:xfrm>
            <a:off x="1797710" y="3316529"/>
            <a:ext cx="2393229" cy="235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420"/>
              </a:buClr>
              <a:buSzPts val="1200"/>
              <a:buFont typeface="Noto Sans TC"/>
              <a:buNone/>
            </a:pPr>
            <a:r>
              <a:rPr b="0" i="0" lang="zh-TW" sz="1200" u="none" cap="none" strike="noStrike">
                <a:solidFill>
                  <a:srgbClr val="2B2420"/>
                </a:solidFill>
                <a:latin typeface="Noto Sans TC"/>
                <a:ea typeface="Noto Sans TC"/>
                <a:cs typeface="Noto Sans TC"/>
                <a:sym typeface="Noto Sans TC"/>
              </a:rPr>
              <a:t>寵物檔案最多 2 隻</a:t>
            </a:r>
            <a:endParaRPr b="0" i="0" sz="12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pic>
        <p:nvPicPr>
          <p:cNvPr descr="勾選" id="586" name="Google Shape;586;h7efd045f0b640493_12_2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77523" y="3615355"/>
            <a:ext cx="117958" cy="117958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h7efd045f0b640493_12_257"/>
          <p:cNvSpPr txBox="1"/>
          <p:nvPr/>
        </p:nvSpPr>
        <p:spPr>
          <a:xfrm>
            <a:off x="1797710" y="3552444"/>
            <a:ext cx="2393229" cy="235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420"/>
              </a:buClr>
              <a:buSzPts val="1200"/>
              <a:buFont typeface="Noto Sans TC"/>
              <a:buNone/>
            </a:pPr>
            <a:r>
              <a:rPr b="0" i="0" lang="zh-TW" sz="1200" u="none" cap="none" strike="noStrike">
                <a:solidFill>
                  <a:srgbClr val="2B2420"/>
                </a:solidFill>
                <a:latin typeface="Noto Sans TC"/>
                <a:ea typeface="Noto Sans TC"/>
                <a:cs typeface="Noto Sans TC"/>
                <a:sym typeface="Noto Sans TC"/>
              </a:rPr>
              <a:t>寵物手冊・用藥提醒</a:t>
            </a:r>
            <a:endParaRPr b="0" i="0" sz="12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pic>
        <p:nvPicPr>
          <p:cNvPr descr="勾選" id="588" name="Google Shape;588;h7efd045f0b640493_12_2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77523" y="3851270"/>
            <a:ext cx="117958" cy="117958"/>
          </a:xfrm>
          <a:prstGeom prst="rect">
            <a:avLst/>
          </a:prstGeom>
          <a:noFill/>
          <a:ln>
            <a:noFill/>
          </a:ln>
        </p:spPr>
      </p:pic>
      <p:sp>
        <p:nvSpPr>
          <p:cNvPr id="589" name="Google Shape;589;h7efd045f0b640493_12_257"/>
          <p:cNvSpPr txBox="1"/>
          <p:nvPr/>
        </p:nvSpPr>
        <p:spPr>
          <a:xfrm>
            <a:off x="1797710" y="3788359"/>
            <a:ext cx="2393229" cy="235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420"/>
              </a:buClr>
              <a:buSzPts val="1200"/>
              <a:buFont typeface="Noto Sans TC"/>
              <a:buNone/>
            </a:pPr>
            <a:r>
              <a:rPr b="0" i="0" lang="zh-TW" sz="1200" u="none" cap="none" strike="noStrike">
                <a:solidFill>
                  <a:srgbClr val="2B2420"/>
                </a:solidFill>
                <a:latin typeface="Noto Sans TC"/>
                <a:ea typeface="Noto Sans TC"/>
                <a:cs typeface="Noto Sans TC"/>
                <a:sym typeface="Noto Sans TC"/>
              </a:rPr>
              <a:t>長期紀錄自選 8 項</a:t>
            </a:r>
            <a:endParaRPr b="0" i="0" sz="12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pic>
        <p:nvPicPr>
          <p:cNvPr descr="勾選" id="590" name="Google Shape;590;h7efd045f0b640493_12_2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77523" y="4087185"/>
            <a:ext cx="117958" cy="117958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h7efd045f0b640493_12_257"/>
          <p:cNvSpPr txBox="1"/>
          <p:nvPr/>
        </p:nvSpPr>
        <p:spPr>
          <a:xfrm>
            <a:off x="1797710" y="4024274"/>
            <a:ext cx="2393229" cy="235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420"/>
              </a:buClr>
              <a:buSzPts val="1200"/>
              <a:buFont typeface="Noto Sans TC"/>
              <a:buNone/>
            </a:pPr>
            <a:r>
              <a:rPr b="0" i="0" lang="zh-TW" sz="1200" u="none" cap="none" strike="noStrike">
                <a:solidFill>
                  <a:srgbClr val="2B2420"/>
                </a:solidFill>
                <a:latin typeface="Noto Sans TC"/>
                <a:ea typeface="Noto Sans TC"/>
                <a:cs typeface="Noto Sans TC"/>
                <a:sym typeface="Noto Sans TC"/>
              </a:rPr>
              <a:t>日常紀錄查看（本地紀錄）</a:t>
            </a:r>
            <a:endParaRPr b="0" i="0" sz="12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pic>
        <p:nvPicPr>
          <p:cNvPr descr="勾選" id="592" name="Google Shape;592;h7efd045f0b640493_12_2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77523" y="4323100"/>
            <a:ext cx="117958" cy="117958"/>
          </a:xfrm>
          <a:prstGeom prst="rect">
            <a:avLst/>
          </a:prstGeom>
          <a:noFill/>
          <a:ln>
            <a:noFill/>
          </a:ln>
        </p:spPr>
      </p:pic>
      <p:sp>
        <p:nvSpPr>
          <p:cNvPr id="593" name="Google Shape;593;h7efd045f0b640493_12_257"/>
          <p:cNvSpPr txBox="1"/>
          <p:nvPr/>
        </p:nvSpPr>
        <p:spPr>
          <a:xfrm>
            <a:off x="1797710" y="4260190"/>
            <a:ext cx="2393229" cy="235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420"/>
              </a:buClr>
              <a:buSzPts val="1200"/>
              <a:buFont typeface="Noto Sans TC"/>
              <a:buNone/>
            </a:pPr>
            <a:r>
              <a:rPr b="0" i="0" lang="zh-TW" sz="1200" u="none" cap="none" strike="noStrike">
                <a:solidFill>
                  <a:srgbClr val="2B2420"/>
                </a:solidFill>
                <a:latin typeface="Noto Sans TC"/>
                <a:ea typeface="Noto Sans TC"/>
                <a:cs typeface="Noto Sans TC"/>
                <a:sym typeface="Noto Sans TC"/>
              </a:rPr>
              <a:t>醫療紀錄完整保留</a:t>
            </a:r>
            <a:endParaRPr b="0" i="0" sz="12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pic>
        <p:nvPicPr>
          <p:cNvPr descr="勾選" id="594" name="Google Shape;594;h7efd045f0b640493_12_2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77523" y="4559016"/>
            <a:ext cx="117958" cy="117958"/>
          </a:xfrm>
          <a:prstGeom prst="rect">
            <a:avLst/>
          </a:prstGeom>
          <a:noFill/>
          <a:ln>
            <a:noFill/>
          </a:ln>
        </p:spPr>
      </p:pic>
      <p:sp>
        <p:nvSpPr>
          <p:cNvPr id="595" name="Google Shape;595;h7efd045f0b640493_12_257"/>
          <p:cNvSpPr txBox="1"/>
          <p:nvPr/>
        </p:nvSpPr>
        <p:spPr>
          <a:xfrm>
            <a:off x="1797710" y="4496105"/>
            <a:ext cx="2393229" cy="235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420"/>
              </a:buClr>
              <a:buSzPts val="1200"/>
              <a:buFont typeface="Noto Sans TC"/>
              <a:buNone/>
            </a:pPr>
            <a:r>
              <a:rPr b="0" i="0" lang="zh-TW" sz="1200" u="none" cap="none" strike="noStrike">
                <a:solidFill>
                  <a:srgbClr val="2B2420"/>
                </a:solidFill>
                <a:latin typeface="Noto Sans TC"/>
                <a:ea typeface="Noto Sans TC"/>
                <a:cs typeface="Noto Sans TC"/>
                <a:sym typeface="Noto Sans TC"/>
              </a:rPr>
              <a:t>AI 問診報告 每月 1 次</a:t>
            </a:r>
            <a:endParaRPr b="0" i="0" sz="12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pic>
        <p:nvPicPr>
          <p:cNvPr descr="勾選" id="596" name="Google Shape;596;h7efd045f0b640493_12_2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77523" y="4794931"/>
            <a:ext cx="117958" cy="117958"/>
          </a:xfrm>
          <a:prstGeom prst="rect">
            <a:avLst/>
          </a:prstGeom>
          <a:noFill/>
          <a:ln>
            <a:noFill/>
          </a:ln>
        </p:spPr>
      </p:pic>
      <p:sp>
        <p:nvSpPr>
          <p:cNvPr id="597" name="Google Shape;597;h7efd045f0b640493_12_257"/>
          <p:cNvSpPr txBox="1"/>
          <p:nvPr/>
        </p:nvSpPr>
        <p:spPr>
          <a:xfrm>
            <a:off x="1797710" y="4732020"/>
            <a:ext cx="2393229" cy="235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420"/>
              </a:buClr>
              <a:buSzPts val="1200"/>
              <a:buFont typeface="Noto Sans TC"/>
              <a:buNone/>
            </a:pPr>
            <a:r>
              <a:rPr b="0" i="0" lang="zh-TW" sz="1200" u="none" cap="none" strike="noStrike">
                <a:solidFill>
                  <a:srgbClr val="2B2420"/>
                </a:solidFill>
                <a:latin typeface="Noto Sans TC"/>
                <a:ea typeface="Noto Sans TC"/>
                <a:cs typeface="Noto Sans TC"/>
                <a:sym typeface="Noto Sans TC"/>
              </a:rPr>
              <a:t>拍照建檔 每月 3 次</a:t>
            </a:r>
            <a:endParaRPr b="0" i="0" sz="12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598" name="Google Shape;598;h7efd045f0b640493_12_257"/>
          <p:cNvSpPr txBox="1"/>
          <p:nvPr/>
        </p:nvSpPr>
        <p:spPr>
          <a:xfrm>
            <a:off x="1561795" y="5368991"/>
            <a:ext cx="2629144" cy="235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44C"/>
              </a:buClr>
              <a:buSzPts val="1050"/>
              <a:buFont typeface="Noto Sans TC"/>
              <a:buNone/>
            </a:pPr>
            <a:r>
              <a:rPr b="0" i="0" lang="zh-TW" sz="1050" u="none" cap="none" strike="noStrike">
                <a:solidFill>
                  <a:srgbClr val="5E544C"/>
                </a:solidFill>
                <a:latin typeface="Noto Sans TC"/>
                <a:ea typeface="Noto Sans TC"/>
                <a:cs typeface="Noto Sans TC"/>
                <a:sym typeface="Noto Sans TC"/>
              </a:rPr>
              <a:t>含低頻廣告，不出現在問診與報告頁</a:t>
            </a:r>
            <a:endParaRPr b="0" i="0" sz="10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599" name="Google Shape;599;h7efd045f0b640493_12_257"/>
          <p:cNvSpPr/>
          <p:nvPr/>
        </p:nvSpPr>
        <p:spPr>
          <a:xfrm>
            <a:off x="4584131" y="1806672"/>
            <a:ext cx="3022336" cy="3892601"/>
          </a:xfrm>
          <a:prstGeom prst="roundRect">
            <a:avLst>
              <a:gd fmla="val 3122" name="adj"/>
            </a:avLst>
          </a:prstGeom>
          <a:solidFill>
            <a:srgbClr val="FFFDFA"/>
          </a:solidFill>
          <a:ln cap="flat" cmpd="sng" w="28575">
            <a:solidFill>
              <a:srgbClr val="5B8D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h7efd045f0b640493_12_257"/>
          <p:cNvSpPr txBox="1"/>
          <p:nvPr/>
        </p:nvSpPr>
        <p:spPr>
          <a:xfrm>
            <a:off x="4820046" y="2026859"/>
            <a:ext cx="15729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8DB0"/>
              </a:buClr>
              <a:buSzPts val="1700"/>
              <a:buFont typeface="Noto Sans TC"/>
              <a:buNone/>
            </a:pPr>
            <a:r>
              <a:rPr b="1" lang="zh-TW" sz="1700">
                <a:solidFill>
                  <a:srgbClr val="5B8DB0"/>
                </a:solidFill>
                <a:latin typeface="Noto Sans TC"/>
                <a:ea typeface="Noto Sans TC"/>
                <a:cs typeface="Noto Sans TC"/>
                <a:sym typeface="Noto Sans TC"/>
              </a:rPr>
              <a:t>黃金</a:t>
            </a:r>
            <a:endParaRPr b="0" i="0" sz="17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601" name="Google Shape;601;h7efd045f0b640493_12_257"/>
          <p:cNvSpPr/>
          <p:nvPr/>
        </p:nvSpPr>
        <p:spPr>
          <a:xfrm>
            <a:off x="6466210" y="2042587"/>
            <a:ext cx="904342" cy="283098"/>
          </a:xfrm>
          <a:prstGeom prst="roundRect">
            <a:avLst>
              <a:gd fmla="val 50000" name="adj"/>
            </a:avLst>
          </a:prstGeom>
          <a:solidFill>
            <a:srgbClr val="5B8DB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DFA"/>
              </a:buClr>
              <a:buSzPts val="1050"/>
              <a:buFont typeface="Noto Sans TC"/>
              <a:buNone/>
            </a:pPr>
            <a:r>
              <a:rPr b="1" i="0" lang="zh-TW" sz="1050" u="none" cap="none" strike="noStrike">
                <a:solidFill>
                  <a:srgbClr val="FFFDFA"/>
                </a:solidFill>
                <a:latin typeface="Noto Sans TC"/>
                <a:ea typeface="Noto Sans TC"/>
                <a:cs typeface="Noto Sans TC"/>
                <a:sym typeface="Noto Sans TC"/>
              </a:rPr>
              <a:t>主力方案</a:t>
            </a:r>
            <a:endParaRPr b="0" i="0" sz="10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602" name="Google Shape;602;h7efd045f0b640493_12_257"/>
          <p:cNvSpPr txBox="1"/>
          <p:nvPr/>
        </p:nvSpPr>
        <p:spPr>
          <a:xfrm>
            <a:off x="4820046" y="2372868"/>
            <a:ext cx="2629144" cy="4561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420"/>
              </a:buClr>
              <a:buSzPts val="2600"/>
              <a:buFont typeface="Noto Sans TC"/>
              <a:buNone/>
            </a:pPr>
            <a:r>
              <a:rPr b="1" i="0" lang="zh-TW" sz="2600" u="none" cap="none" strike="noStrike">
                <a:solidFill>
                  <a:srgbClr val="2B2420"/>
                </a:solidFill>
                <a:latin typeface="Noto Sans TC"/>
                <a:ea typeface="Noto Sans TC"/>
                <a:cs typeface="Noto Sans TC"/>
                <a:sym typeface="Noto Sans TC"/>
              </a:rPr>
              <a:t>NT$60／月</a:t>
            </a:r>
            <a:endParaRPr b="0" i="0" sz="26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603" name="Google Shape;603;h7efd045f0b640493_12_257"/>
          <p:cNvSpPr txBox="1"/>
          <p:nvPr/>
        </p:nvSpPr>
        <p:spPr>
          <a:xfrm>
            <a:off x="4820046" y="2844698"/>
            <a:ext cx="2629144" cy="235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44C"/>
              </a:buClr>
              <a:buSzPts val="1050"/>
              <a:buFont typeface="Noto Sans TC"/>
              <a:buNone/>
            </a:pPr>
            <a:r>
              <a:rPr b="0" i="0" lang="zh-TW" sz="1050" u="none" cap="none" strike="noStrike">
                <a:solidFill>
                  <a:srgbClr val="5E544C"/>
                </a:solidFill>
                <a:latin typeface="Noto Sans TC"/>
                <a:ea typeface="Noto Sans TC"/>
                <a:cs typeface="Noto Sans TC"/>
                <a:sym typeface="Noto Sans TC"/>
              </a:rPr>
              <a:t>年繳 NT$600｜多寵、家庭共同照顧</a:t>
            </a:r>
            <a:endParaRPr b="0" i="0" sz="10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cxnSp>
        <p:nvCxnSpPr>
          <p:cNvPr id="604" name="Google Shape;604;h7efd045f0b640493_12_257"/>
          <p:cNvCxnSpPr/>
          <p:nvPr/>
        </p:nvCxnSpPr>
        <p:spPr>
          <a:xfrm>
            <a:off x="4820046" y="3182844"/>
            <a:ext cx="2550505" cy="0"/>
          </a:xfrm>
          <a:prstGeom prst="straightConnector1">
            <a:avLst/>
          </a:prstGeom>
          <a:noFill/>
          <a:ln cap="flat" cmpd="sng" w="12700">
            <a:solidFill>
              <a:srgbClr val="EEE8E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勾選" id="605" name="Google Shape;605;h7efd045f0b640493_12_2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35774" y="3379440"/>
            <a:ext cx="117958" cy="117958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h7efd045f0b640493_12_257"/>
          <p:cNvSpPr txBox="1"/>
          <p:nvPr/>
        </p:nvSpPr>
        <p:spPr>
          <a:xfrm>
            <a:off x="5055961" y="3316529"/>
            <a:ext cx="2393229" cy="235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420"/>
              </a:buClr>
              <a:buSzPts val="1200"/>
              <a:buFont typeface="Noto Sans TC"/>
              <a:buNone/>
            </a:pPr>
            <a:r>
              <a:rPr b="0" i="0" lang="zh-TW" sz="1200" u="none" cap="none" strike="noStrike">
                <a:solidFill>
                  <a:srgbClr val="2B2420"/>
                </a:solidFill>
                <a:latin typeface="Noto Sans TC"/>
                <a:ea typeface="Noto Sans TC"/>
                <a:cs typeface="Noto Sans TC"/>
                <a:sym typeface="Noto Sans TC"/>
              </a:rPr>
              <a:t>包含免費版全部功能</a:t>
            </a:r>
            <a:endParaRPr b="0" i="0" sz="12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pic>
        <p:nvPicPr>
          <p:cNvPr descr="勾選" id="607" name="Google Shape;607;h7efd045f0b640493_12_2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35774" y="3615355"/>
            <a:ext cx="117958" cy="117958"/>
          </a:xfrm>
          <a:prstGeom prst="rect">
            <a:avLst/>
          </a:prstGeom>
          <a:noFill/>
          <a:ln>
            <a:noFill/>
          </a:ln>
        </p:spPr>
      </p:pic>
      <p:sp>
        <p:nvSpPr>
          <p:cNvPr id="608" name="Google Shape;608;h7efd045f0b640493_12_257"/>
          <p:cNvSpPr txBox="1"/>
          <p:nvPr/>
        </p:nvSpPr>
        <p:spPr>
          <a:xfrm>
            <a:off x="5055961" y="3552444"/>
            <a:ext cx="2393229" cy="235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420"/>
              </a:buClr>
              <a:buSzPts val="1200"/>
              <a:buFont typeface="Noto Sans TC"/>
              <a:buNone/>
            </a:pPr>
            <a:r>
              <a:rPr b="0" i="0" lang="zh-TW" sz="1200" u="none" cap="none" strike="noStrike">
                <a:solidFill>
                  <a:srgbClr val="2B2420"/>
                </a:solidFill>
                <a:latin typeface="Noto Sans TC"/>
                <a:ea typeface="Noto Sans TC"/>
                <a:cs typeface="Noto Sans TC"/>
                <a:sym typeface="Noto Sans TC"/>
              </a:rPr>
              <a:t>寵物數量不限</a:t>
            </a:r>
            <a:endParaRPr b="0" i="0" sz="12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pic>
        <p:nvPicPr>
          <p:cNvPr descr="勾選" id="609" name="Google Shape;609;h7efd045f0b640493_12_2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35774" y="3851270"/>
            <a:ext cx="117958" cy="117958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h7efd045f0b640493_12_257"/>
          <p:cNvSpPr txBox="1"/>
          <p:nvPr/>
        </p:nvSpPr>
        <p:spPr>
          <a:xfrm>
            <a:off x="5055961" y="3788359"/>
            <a:ext cx="2393229" cy="235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420"/>
              </a:buClr>
              <a:buSzPts val="1200"/>
              <a:buFont typeface="Noto Sans TC"/>
              <a:buNone/>
            </a:pPr>
            <a:r>
              <a:rPr b="0" i="0" lang="zh-TW" sz="1200" u="none" cap="none" strike="noStrike">
                <a:solidFill>
                  <a:srgbClr val="2B2420"/>
                </a:solidFill>
                <a:latin typeface="Noto Sans TC"/>
                <a:ea typeface="Noto Sans TC"/>
                <a:cs typeface="Noto Sans TC"/>
                <a:sym typeface="Noto Sans TC"/>
              </a:rPr>
              <a:t>長期紀錄 自選 12 項</a:t>
            </a:r>
            <a:endParaRPr b="0" i="0" sz="12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pic>
        <p:nvPicPr>
          <p:cNvPr descr="勾選" id="611" name="Google Shape;611;h7efd045f0b640493_12_2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35774" y="4087185"/>
            <a:ext cx="117958" cy="117958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h7efd045f0b640493_12_257"/>
          <p:cNvSpPr txBox="1"/>
          <p:nvPr/>
        </p:nvSpPr>
        <p:spPr>
          <a:xfrm>
            <a:off x="5055961" y="4024274"/>
            <a:ext cx="2393229" cy="235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420"/>
              </a:buClr>
              <a:buSzPts val="1200"/>
              <a:buFont typeface="Noto Sans TC"/>
              <a:buNone/>
            </a:pPr>
            <a:r>
              <a:rPr b="0" i="0" lang="zh-TW" sz="1200" u="none" cap="none" strike="noStrike">
                <a:solidFill>
                  <a:srgbClr val="2B2420"/>
                </a:solidFill>
                <a:latin typeface="Noto Sans TC"/>
                <a:ea typeface="Noto Sans TC"/>
                <a:cs typeface="Noto Sans TC"/>
                <a:sym typeface="Noto Sans TC"/>
              </a:rPr>
              <a:t>會將記錄備份至雲端</a:t>
            </a:r>
            <a:endParaRPr b="0" i="0" sz="12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pic>
        <p:nvPicPr>
          <p:cNvPr descr="勾選" id="613" name="Google Shape;613;h7efd045f0b640493_12_2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35774" y="4323100"/>
            <a:ext cx="117958" cy="117958"/>
          </a:xfrm>
          <a:prstGeom prst="rect">
            <a:avLst/>
          </a:prstGeom>
          <a:noFill/>
          <a:ln>
            <a:noFill/>
          </a:ln>
        </p:spPr>
      </p:pic>
      <p:sp>
        <p:nvSpPr>
          <p:cNvPr id="614" name="Google Shape;614;h7efd045f0b640493_12_257"/>
          <p:cNvSpPr txBox="1"/>
          <p:nvPr/>
        </p:nvSpPr>
        <p:spPr>
          <a:xfrm>
            <a:off x="5055961" y="4260190"/>
            <a:ext cx="2393229" cy="235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420"/>
              </a:buClr>
              <a:buSzPts val="1200"/>
              <a:buFont typeface="Noto Sans TC"/>
              <a:buNone/>
            </a:pPr>
            <a:r>
              <a:rPr b="0" i="0" lang="zh-TW" sz="1200" u="none" cap="none" strike="noStrike">
                <a:solidFill>
                  <a:srgbClr val="2B2420"/>
                </a:solidFill>
                <a:latin typeface="Noto Sans TC"/>
                <a:ea typeface="Noto Sans TC"/>
                <a:cs typeface="Noto Sans TC"/>
                <a:sym typeface="Noto Sans TC"/>
              </a:rPr>
              <a:t>AI 問診報告 每月 3 次</a:t>
            </a:r>
            <a:endParaRPr b="0" i="0" sz="12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pic>
        <p:nvPicPr>
          <p:cNvPr descr="勾選" id="615" name="Google Shape;615;h7efd045f0b640493_12_2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35774" y="4559016"/>
            <a:ext cx="117958" cy="117958"/>
          </a:xfrm>
          <a:prstGeom prst="rect">
            <a:avLst/>
          </a:prstGeom>
          <a:noFill/>
          <a:ln>
            <a:noFill/>
          </a:ln>
        </p:spPr>
      </p:pic>
      <p:sp>
        <p:nvSpPr>
          <p:cNvPr id="616" name="Google Shape;616;h7efd045f0b640493_12_257"/>
          <p:cNvSpPr txBox="1"/>
          <p:nvPr/>
        </p:nvSpPr>
        <p:spPr>
          <a:xfrm>
            <a:off x="5055961" y="4496105"/>
            <a:ext cx="2393229" cy="235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420"/>
              </a:buClr>
              <a:buSzPts val="1200"/>
              <a:buFont typeface="Noto Sans TC"/>
              <a:buNone/>
            </a:pPr>
            <a:r>
              <a:rPr b="0" i="0" lang="zh-TW" sz="1200" u="none" cap="none" strike="noStrike">
                <a:solidFill>
                  <a:srgbClr val="2B2420"/>
                </a:solidFill>
                <a:latin typeface="Noto Sans TC"/>
                <a:ea typeface="Noto Sans TC"/>
                <a:cs typeface="Noto Sans TC"/>
                <a:sym typeface="Noto Sans TC"/>
              </a:rPr>
              <a:t>報告匯出 PDF</a:t>
            </a:r>
            <a:endParaRPr b="0" i="0" sz="12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pic>
        <p:nvPicPr>
          <p:cNvPr descr="勾選" id="617" name="Google Shape;617;h7efd045f0b640493_12_2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35774" y="4794931"/>
            <a:ext cx="117958" cy="117958"/>
          </a:xfrm>
          <a:prstGeom prst="rect">
            <a:avLst/>
          </a:prstGeom>
          <a:noFill/>
          <a:ln>
            <a:noFill/>
          </a:ln>
        </p:spPr>
      </p:pic>
      <p:sp>
        <p:nvSpPr>
          <p:cNvPr id="618" name="Google Shape;618;h7efd045f0b640493_12_257"/>
          <p:cNvSpPr txBox="1"/>
          <p:nvPr/>
        </p:nvSpPr>
        <p:spPr>
          <a:xfrm>
            <a:off x="5055961" y="4732020"/>
            <a:ext cx="2393229" cy="235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420"/>
              </a:buClr>
              <a:buSzPts val="1200"/>
              <a:buFont typeface="Noto Sans TC"/>
              <a:buNone/>
            </a:pPr>
            <a:r>
              <a:rPr b="0" i="0" lang="zh-TW" sz="1200" u="none" cap="none" strike="noStrike">
                <a:solidFill>
                  <a:srgbClr val="2B2420"/>
                </a:solidFill>
                <a:latin typeface="Noto Sans TC"/>
                <a:ea typeface="Noto Sans TC"/>
                <a:cs typeface="Noto Sans TC"/>
                <a:sym typeface="Noto Sans TC"/>
              </a:rPr>
              <a:t>家人共同編輯・支出紀錄</a:t>
            </a:r>
            <a:endParaRPr b="0" i="0" sz="12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pic>
        <p:nvPicPr>
          <p:cNvPr descr="勾選" id="619" name="Google Shape;619;h7efd045f0b640493_12_2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35774" y="5030846"/>
            <a:ext cx="117958" cy="117958"/>
          </a:xfrm>
          <a:prstGeom prst="rect">
            <a:avLst/>
          </a:prstGeom>
          <a:noFill/>
          <a:ln>
            <a:noFill/>
          </a:ln>
        </p:spPr>
      </p:pic>
      <p:sp>
        <p:nvSpPr>
          <p:cNvPr id="620" name="Google Shape;620;h7efd045f0b640493_12_257"/>
          <p:cNvSpPr txBox="1"/>
          <p:nvPr/>
        </p:nvSpPr>
        <p:spPr>
          <a:xfrm>
            <a:off x="5055961" y="4967935"/>
            <a:ext cx="2393229" cy="235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420"/>
              </a:buClr>
              <a:buSzPts val="1200"/>
              <a:buFont typeface="Noto Sans TC"/>
              <a:buNone/>
            </a:pPr>
            <a:r>
              <a:rPr b="0" i="0" lang="zh-TW" sz="1200" u="none" cap="none" strike="noStrike">
                <a:solidFill>
                  <a:srgbClr val="2B2420"/>
                </a:solidFill>
                <a:latin typeface="Noto Sans TC"/>
                <a:ea typeface="Noto Sans TC"/>
                <a:cs typeface="Noto Sans TC"/>
                <a:sym typeface="Noto Sans TC"/>
              </a:rPr>
              <a:t>拍照建檔不限次數</a:t>
            </a:r>
            <a:endParaRPr b="0" i="0" sz="12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621" name="Google Shape;621;h7efd045f0b640493_12_257"/>
          <p:cNvSpPr txBox="1"/>
          <p:nvPr/>
        </p:nvSpPr>
        <p:spPr>
          <a:xfrm>
            <a:off x="4820046" y="5368991"/>
            <a:ext cx="2629144" cy="235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44C"/>
              </a:buClr>
              <a:buSzPts val="1050"/>
              <a:buFont typeface="Noto Sans TC"/>
              <a:buNone/>
            </a:pPr>
            <a:r>
              <a:rPr b="0" i="0" lang="zh-TW" sz="1050" u="none" cap="none" strike="noStrike">
                <a:solidFill>
                  <a:srgbClr val="5E544C"/>
                </a:solidFill>
                <a:latin typeface="Noto Sans TC"/>
                <a:ea typeface="Noto Sans TC"/>
                <a:cs typeface="Noto Sans TC"/>
                <a:sym typeface="Noto Sans TC"/>
              </a:rPr>
              <a:t>無廣告</a:t>
            </a:r>
            <a:endParaRPr b="0" i="0" sz="10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622" name="Google Shape;622;h7efd045f0b640493_12_257"/>
          <p:cNvSpPr/>
          <p:nvPr/>
        </p:nvSpPr>
        <p:spPr>
          <a:xfrm>
            <a:off x="7842382" y="1806672"/>
            <a:ext cx="3022336" cy="3892601"/>
          </a:xfrm>
          <a:prstGeom prst="roundRect">
            <a:avLst>
              <a:gd fmla="val 3122" name="adj"/>
            </a:avLst>
          </a:prstGeom>
          <a:solidFill>
            <a:srgbClr val="2B24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h7efd045f0b640493_12_257"/>
          <p:cNvSpPr txBox="1"/>
          <p:nvPr/>
        </p:nvSpPr>
        <p:spPr>
          <a:xfrm>
            <a:off x="8078297" y="2026859"/>
            <a:ext cx="1572768" cy="3145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A27A"/>
              </a:buClr>
              <a:buSzPts val="1700"/>
              <a:buFont typeface="Noto Sans TC"/>
              <a:buNone/>
            </a:pPr>
            <a:r>
              <a:rPr b="1" i="0" lang="zh-TW" sz="1700" u="none" cap="none" strike="noStrike">
                <a:solidFill>
                  <a:srgbClr val="F0A27A"/>
                </a:solidFill>
                <a:latin typeface="Noto Sans TC"/>
                <a:ea typeface="Noto Sans TC"/>
                <a:cs typeface="Noto Sans TC"/>
                <a:sym typeface="Noto Sans TC"/>
              </a:rPr>
              <a:t>白金</a:t>
            </a:r>
            <a:endParaRPr b="0" i="0" sz="17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624" name="Google Shape;624;h7efd045f0b640493_12_257"/>
          <p:cNvSpPr txBox="1"/>
          <p:nvPr/>
        </p:nvSpPr>
        <p:spPr>
          <a:xfrm>
            <a:off x="8078297" y="2372868"/>
            <a:ext cx="2629144" cy="4561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3EE"/>
              </a:buClr>
              <a:buSzPts val="2600"/>
              <a:buFont typeface="Noto Sans TC"/>
              <a:buNone/>
            </a:pPr>
            <a:r>
              <a:rPr b="1" i="0" lang="zh-TW" sz="2600" u="none" cap="none" strike="noStrike">
                <a:solidFill>
                  <a:srgbClr val="F7F3EE"/>
                </a:solidFill>
                <a:latin typeface="Noto Sans TC"/>
                <a:ea typeface="Noto Sans TC"/>
                <a:cs typeface="Noto Sans TC"/>
                <a:sym typeface="Noto Sans TC"/>
              </a:rPr>
              <a:t>NT$100／月</a:t>
            </a:r>
            <a:endParaRPr b="0" i="0" sz="26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625" name="Google Shape;625;h7efd045f0b640493_12_257"/>
          <p:cNvSpPr txBox="1"/>
          <p:nvPr/>
        </p:nvSpPr>
        <p:spPr>
          <a:xfrm>
            <a:off x="8078297" y="2844698"/>
            <a:ext cx="2629144" cy="235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BCB0"/>
              </a:buClr>
              <a:buSzPts val="1050"/>
              <a:buFont typeface="Noto Sans TC"/>
              <a:buNone/>
            </a:pPr>
            <a:r>
              <a:rPr b="0" i="0" lang="zh-TW" sz="1050" u="none" cap="none" strike="noStrike">
                <a:solidFill>
                  <a:srgbClr val="C9BCB0"/>
                </a:solidFill>
                <a:latin typeface="Noto Sans TC"/>
                <a:ea typeface="Noto Sans TC"/>
                <a:cs typeface="Noto Sans TC"/>
                <a:sym typeface="Noto Sans TC"/>
              </a:rPr>
              <a:t>年繳 NT$1,000｜需要 AI 長期守護</a:t>
            </a:r>
            <a:endParaRPr b="0" i="0" sz="10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cxnSp>
        <p:nvCxnSpPr>
          <p:cNvPr id="626" name="Google Shape;626;h7efd045f0b640493_12_257"/>
          <p:cNvCxnSpPr/>
          <p:nvPr/>
        </p:nvCxnSpPr>
        <p:spPr>
          <a:xfrm>
            <a:off x="8078297" y="3182844"/>
            <a:ext cx="2550505" cy="0"/>
          </a:xfrm>
          <a:prstGeom prst="straightConnector1">
            <a:avLst/>
          </a:prstGeom>
          <a:noFill/>
          <a:ln cap="flat" cmpd="sng" w="12700">
            <a:solidFill>
              <a:srgbClr val="4A403A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勾選" id="627" name="Google Shape;627;h7efd045f0b640493_12_25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94025" y="3379440"/>
            <a:ext cx="117958" cy="117958"/>
          </a:xfrm>
          <a:prstGeom prst="rect">
            <a:avLst/>
          </a:prstGeom>
          <a:noFill/>
          <a:ln>
            <a:noFill/>
          </a:ln>
        </p:spPr>
      </p:pic>
      <p:sp>
        <p:nvSpPr>
          <p:cNvPr id="628" name="Google Shape;628;h7efd045f0b640493_12_257"/>
          <p:cNvSpPr txBox="1"/>
          <p:nvPr/>
        </p:nvSpPr>
        <p:spPr>
          <a:xfrm>
            <a:off x="8314212" y="3316529"/>
            <a:ext cx="2393229" cy="235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3EE"/>
              </a:buClr>
              <a:buSzPts val="1200"/>
              <a:buFont typeface="Noto Sans TC"/>
              <a:buNone/>
            </a:pPr>
            <a:r>
              <a:rPr b="0" i="0" lang="zh-TW" sz="1200" u="none" cap="none" strike="noStrike">
                <a:solidFill>
                  <a:srgbClr val="F7F3EE"/>
                </a:solidFill>
                <a:latin typeface="Noto Sans TC"/>
                <a:ea typeface="Noto Sans TC"/>
                <a:cs typeface="Noto Sans TC"/>
                <a:sym typeface="Noto Sans TC"/>
              </a:rPr>
              <a:t>包含高級版全部功能</a:t>
            </a:r>
            <a:endParaRPr b="0" i="0" sz="12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pic>
        <p:nvPicPr>
          <p:cNvPr descr="勾選" id="629" name="Google Shape;629;h7efd045f0b640493_12_25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94025" y="3615355"/>
            <a:ext cx="117958" cy="117958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h7efd045f0b640493_12_257"/>
          <p:cNvSpPr txBox="1"/>
          <p:nvPr/>
        </p:nvSpPr>
        <p:spPr>
          <a:xfrm>
            <a:off x="8314212" y="3552444"/>
            <a:ext cx="2393229" cy="235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3EE"/>
              </a:buClr>
              <a:buSzPts val="1200"/>
              <a:buFont typeface="Noto Sans TC"/>
              <a:buNone/>
            </a:pPr>
            <a:r>
              <a:rPr b="0" i="0" lang="zh-TW" sz="1200" u="none" cap="none" strike="noStrike">
                <a:solidFill>
                  <a:srgbClr val="F7F3EE"/>
                </a:solidFill>
                <a:latin typeface="Noto Sans TC"/>
                <a:ea typeface="Noto Sans TC"/>
                <a:cs typeface="Noto Sans TC"/>
                <a:sym typeface="Noto Sans TC"/>
              </a:rPr>
              <a:t>AI 問診報告 不限次數</a:t>
            </a:r>
            <a:endParaRPr b="0" i="0" sz="12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pic>
        <p:nvPicPr>
          <p:cNvPr descr="勾選" id="631" name="Google Shape;631;h7efd045f0b640493_12_25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94025" y="3851270"/>
            <a:ext cx="117958" cy="117958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h7efd045f0b640493_12_257"/>
          <p:cNvSpPr txBox="1"/>
          <p:nvPr/>
        </p:nvSpPr>
        <p:spPr>
          <a:xfrm>
            <a:off x="8314212" y="3788359"/>
            <a:ext cx="2393229" cy="235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3EE"/>
              </a:buClr>
              <a:buSzPts val="1200"/>
              <a:buFont typeface="Noto Sans TC"/>
              <a:buNone/>
            </a:pPr>
            <a:r>
              <a:rPr b="0" i="0" lang="zh-TW" sz="1200" u="none" cap="none" strike="noStrike">
                <a:solidFill>
                  <a:srgbClr val="F7F3EE"/>
                </a:solidFill>
                <a:latin typeface="Noto Sans TC"/>
                <a:ea typeface="Noto Sans TC"/>
                <a:cs typeface="Noto Sans TC"/>
                <a:sym typeface="Noto Sans TC"/>
              </a:rPr>
              <a:t>AI 日常紀錄輔助</a:t>
            </a:r>
            <a:endParaRPr b="0" i="0" sz="12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pic>
        <p:nvPicPr>
          <p:cNvPr descr="勾選" id="633" name="Google Shape;633;h7efd045f0b640493_12_25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94025" y="4087185"/>
            <a:ext cx="117958" cy="117958"/>
          </a:xfrm>
          <a:prstGeom prst="rect">
            <a:avLst/>
          </a:prstGeom>
          <a:noFill/>
          <a:ln>
            <a:noFill/>
          </a:ln>
        </p:spPr>
      </p:pic>
      <p:sp>
        <p:nvSpPr>
          <p:cNvPr id="634" name="Google Shape;634;h7efd045f0b640493_12_257"/>
          <p:cNvSpPr txBox="1"/>
          <p:nvPr/>
        </p:nvSpPr>
        <p:spPr>
          <a:xfrm>
            <a:off x="8314212" y="4024274"/>
            <a:ext cx="2393229" cy="235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3EE"/>
              </a:buClr>
              <a:buSzPts val="1200"/>
              <a:buFont typeface="Noto Sans TC"/>
              <a:buNone/>
            </a:pPr>
            <a:r>
              <a:rPr b="0" i="0" lang="zh-TW" sz="1200" u="none" cap="none" strike="noStrike">
                <a:solidFill>
                  <a:srgbClr val="F7F3EE"/>
                </a:solidFill>
                <a:latin typeface="Noto Sans TC"/>
                <a:ea typeface="Noto Sans TC"/>
                <a:cs typeface="Noto Sans TC"/>
                <a:sym typeface="Noto Sans TC"/>
              </a:rPr>
              <a:t>紀錄變化提醒，建議就醫時機</a:t>
            </a:r>
            <a:endParaRPr b="0" i="0" sz="12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pic>
        <p:nvPicPr>
          <p:cNvPr descr="勾選" id="635" name="Google Shape;635;h7efd045f0b640493_12_25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94025" y="4323100"/>
            <a:ext cx="117958" cy="117958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h7efd045f0b640493_12_257"/>
          <p:cNvSpPr txBox="1"/>
          <p:nvPr/>
        </p:nvSpPr>
        <p:spPr>
          <a:xfrm>
            <a:off x="8314212" y="4260190"/>
            <a:ext cx="2393229" cy="235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3EE"/>
              </a:buClr>
              <a:buSzPts val="1200"/>
              <a:buFont typeface="Noto Sans TC"/>
              <a:buNone/>
            </a:pPr>
            <a:r>
              <a:rPr b="0" i="0" lang="zh-TW" sz="1200" u="none" cap="none" strike="noStrike">
                <a:solidFill>
                  <a:srgbClr val="F7F3EE"/>
                </a:solidFill>
                <a:latin typeface="Noto Sans TC"/>
                <a:ea typeface="Noto Sans TC"/>
                <a:cs typeface="Noto Sans TC"/>
                <a:sym typeface="Noto Sans TC"/>
              </a:rPr>
              <a:t>就醫前重點整理</a:t>
            </a:r>
            <a:endParaRPr b="0" i="0" sz="12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pic>
        <p:nvPicPr>
          <p:cNvPr descr="勾選" id="637" name="Google Shape;637;h7efd045f0b640493_12_25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94025" y="4559016"/>
            <a:ext cx="117958" cy="117958"/>
          </a:xfrm>
          <a:prstGeom prst="rect">
            <a:avLst/>
          </a:prstGeom>
          <a:noFill/>
          <a:ln>
            <a:noFill/>
          </a:ln>
        </p:spPr>
      </p:pic>
      <p:sp>
        <p:nvSpPr>
          <p:cNvPr id="638" name="Google Shape;638;h7efd045f0b640493_12_257"/>
          <p:cNvSpPr txBox="1"/>
          <p:nvPr/>
        </p:nvSpPr>
        <p:spPr>
          <a:xfrm>
            <a:off x="8314212" y="4496105"/>
            <a:ext cx="2393229" cy="235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3EE"/>
              </a:buClr>
              <a:buSzPts val="1200"/>
              <a:buFont typeface="Noto Sans TC"/>
              <a:buNone/>
            </a:pPr>
            <a:r>
              <a:rPr b="0" i="0" lang="zh-TW" sz="1200" u="none" cap="none" strike="noStrike">
                <a:solidFill>
                  <a:srgbClr val="F7F3EE"/>
                </a:solidFill>
                <a:latin typeface="Noto Sans TC"/>
                <a:ea typeface="Noto Sans TC"/>
                <a:cs typeface="Noto Sans TC"/>
                <a:sym typeface="Noto Sans TC"/>
              </a:rPr>
              <a:t>歷次報告整合匯出</a:t>
            </a:r>
            <a:endParaRPr b="0" i="0" sz="12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pic>
        <p:nvPicPr>
          <p:cNvPr descr="勾選" id="639" name="Google Shape;639;h7efd045f0b640493_12_25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94025" y="4794931"/>
            <a:ext cx="117958" cy="117958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h7efd045f0b640493_12_257"/>
          <p:cNvSpPr txBox="1"/>
          <p:nvPr/>
        </p:nvSpPr>
        <p:spPr>
          <a:xfrm>
            <a:off x="8314212" y="4732020"/>
            <a:ext cx="2393229" cy="235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3EE"/>
              </a:buClr>
              <a:buSzPts val="1200"/>
              <a:buFont typeface="Noto Sans TC"/>
              <a:buNone/>
            </a:pPr>
            <a:r>
              <a:rPr b="0" i="0" lang="zh-TW" sz="1200" u="none" cap="none" strike="noStrike">
                <a:solidFill>
                  <a:srgbClr val="F7F3EE"/>
                </a:solidFill>
                <a:latin typeface="Noto Sans TC"/>
                <a:ea typeface="Noto Sans TC"/>
                <a:cs typeface="Noto Sans TC"/>
                <a:sym typeface="Noto Sans TC"/>
              </a:rPr>
              <a:t>餵藥影片</a:t>
            </a:r>
            <a:endParaRPr b="0" i="0" sz="12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641" name="Google Shape;641;h7efd045f0b640493_12_257"/>
          <p:cNvSpPr txBox="1"/>
          <p:nvPr/>
        </p:nvSpPr>
        <p:spPr>
          <a:xfrm>
            <a:off x="8078297" y="5368991"/>
            <a:ext cx="2629144" cy="235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BCB0"/>
              </a:buClr>
              <a:buSzPts val="1050"/>
              <a:buFont typeface="Noto Sans TC"/>
              <a:buNone/>
            </a:pPr>
            <a:r>
              <a:rPr b="0" i="0" lang="zh-TW" sz="1050" u="none" cap="none" strike="noStrike">
                <a:solidFill>
                  <a:srgbClr val="C9BCB0"/>
                </a:solidFill>
                <a:latin typeface="Noto Sans TC"/>
                <a:ea typeface="Noto Sans TC"/>
                <a:cs typeface="Noto Sans TC"/>
                <a:sym typeface="Noto Sans TC"/>
              </a:rPr>
              <a:t>無廣告</a:t>
            </a:r>
            <a:endParaRPr b="0" i="0" sz="10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642" name="Google Shape;642;h7efd045f0b640493_12_257"/>
          <p:cNvSpPr/>
          <p:nvPr/>
        </p:nvSpPr>
        <p:spPr>
          <a:xfrm>
            <a:off x="1325880" y="5801502"/>
            <a:ext cx="3022336" cy="330281"/>
          </a:xfrm>
          <a:prstGeom prst="roundRect">
            <a:avLst>
              <a:gd fmla="val 50000" name="adj"/>
            </a:avLst>
          </a:prstGeom>
          <a:solidFill>
            <a:srgbClr val="ECE5D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TC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pic>
        <p:nvPicPr>
          <p:cNvPr descr="優惠" id="643" name="Google Shape;643;h7efd045f0b640493_12_25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77523" y="5880141"/>
            <a:ext cx="173004" cy="173004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h7efd045f0b640493_12_257"/>
          <p:cNvSpPr txBox="1"/>
          <p:nvPr/>
        </p:nvSpPr>
        <p:spPr>
          <a:xfrm>
            <a:off x="1844893" y="5801502"/>
            <a:ext cx="2393229" cy="3302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420"/>
              </a:buClr>
              <a:buSzPts val="1200"/>
              <a:buFont typeface="Noto Sans TC"/>
              <a:buNone/>
            </a:pPr>
            <a:r>
              <a:rPr b="1" i="0" lang="zh-TW" sz="1200" u="none" cap="none" strike="noStrike">
                <a:solidFill>
                  <a:srgbClr val="2B2420"/>
                </a:solidFill>
                <a:latin typeface="Noto Sans TC"/>
                <a:ea typeface="Noto Sans TC"/>
                <a:cs typeface="Noto Sans TC"/>
                <a:sym typeface="Noto Sans TC"/>
              </a:rPr>
              <a:t>新用戶送白金 7 天試用</a:t>
            </a:r>
            <a:endParaRPr b="0" i="0" sz="12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645" name="Google Shape;645;h7efd045f0b640493_12_257"/>
          <p:cNvSpPr/>
          <p:nvPr/>
        </p:nvSpPr>
        <p:spPr>
          <a:xfrm>
            <a:off x="4584131" y="5801502"/>
            <a:ext cx="3022336" cy="330281"/>
          </a:xfrm>
          <a:prstGeom prst="roundRect">
            <a:avLst>
              <a:gd fmla="val 50000" name="adj"/>
            </a:avLst>
          </a:prstGeom>
          <a:solidFill>
            <a:srgbClr val="ECE5D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TC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pic>
        <p:nvPicPr>
          <p:cNvPr descr="優惠" id="646" name="Google Shape;646;h7efd045f0b640493_12_25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35774" y="5880141"/>
            <a:ext cx="173004" cy="173004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h7efd045f0b640493_12_257"/>
          <p:cNvSpPr txBox="1"/>
          <p:nvPr/>
        </p:nvSpPr>
        <p:spPr>
          <a:xfrm>
            <a:off x="5103144" y="5801502"/>
            <a:ext cx="2393229" cy="3302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420"/>
              </a:buClr>
              <a:buSzPts val="1200"/>
              <a:buFont typeface="Noto Sans TC"/>
              <a:buNone/>
            </a:pPr>
            <a:r>
              <a:rPr b="1" i="0" lang="zh-TW" sz="1200" u="none" cap="none" strike="noStrike">
                <a:solidFill>
                  <a:srgbClr val="2B2420"/>
                </a:solidFill>
                <a:latin typeface="Noto Sans TC"/>
                <a:ea typeface="Noto Sans TC"/>
                <a:cs typeface="Noto Sans TC"/>
                <a:sym typeface="Noto Sans TC"/>
              </a:rPr>
              <a:t>連續完成每日任務送導購商品</a:t>
            </a:r>
            <a:endParaRPr b="0" i="0" sz="12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648" name="Google Shape;648;h7efd045f0b640493_12_257"/>
          <p:cNvSpPr/>
          <p:nvPr/>
        </p:nvSpPr>
        <p:spPr>
          <a:xfrm>
            <a:off x="7842382" y="5801502"/>
            <a:ext cx="3022336" cy="330281"/>
          </a:xfrm>
          <a:prstGeom prst="roundRect">
            <a:avLst>
              <a:gd fmla="val 50000" name="adj"/>
            </a:avLst>
          </a:prstGeom>
          <a:solidFill>
            <a:srgbClr val="ECE5D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TC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pic>
        <p:nvPicPr>
          <p:cNvPr descr="優惠" id="649" name="Google Shape;649;h7efd045f0b640493_12_25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094025" y="5880141"/>
            <a:ext cx="173004" cy="173004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h7efd045f0b640493_12_257"/>
          <p:cNvSpPr txBox="1"/>
          <p:nvPr/>
        </p:nvSpPr>
        <p:spPr>
          <a:xfrm>
            <a:off x="8361396" y="5801502"/>
            <a:ext cx="2393229" cy="3302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420"/>
              </a:buClr>
              <a:buSzPts val="1200"/>
              <a:buFont typeface="Noto Sans TC"/>
              <a:buNone/>
            </a:pPr>
            <a:r>
              <a:rPr b="1" i="0" lang="zh-TW" sz="1200" u="none" cap="none" strike="noStrike">
                <a:solidFill>
                  <a:srgbClr val="2B2420"/>
                </a:solidFill>
                <a:latin typeface="Noto Sans TC"/>
                <a:ea typeface="Noto Sans TC"/>
                <a:cs typeface="Noto Sans TC"/>
                <a:sym typeface="Noto Sans TC"/>
              </a:rPr>
              <a:t>年繳等於送 2 個月</a:t>
            </a:r>
            <a:endParaRPr b="0" i="0" sz="12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651" name="Google Shape;651;h7efd045f0b640493_12_257"/>
          <p:cNvSpPr txBox="1"/>
          <p:nvPr/>
        </p:nvSpPr>
        <p:spPr>
          <a:xfrm>
            <a:off x="11497975" y="6234775"/>
            <a:ext cx="38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1</a:t>
            </a:r>
            <a:r>
              <a:rPr lang="zh-TW"/>
              <a:t>3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h7efd045f0b640493_12_337"/>
          <p:cNvSpPr txBox="1"/>
          <p:nvPr>
            <p:ph idx="1" type="body"/>
          </p:nvPr>
        </p:nvSpPr>
        <p:spPr>
          <a:xfrm>
            <a:off x="1325880" y="804672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</a:pPr>
            <a:r>
              <a:rPr b="1" lang="zh-TW" sz="1200">
                <a:solidFill>
                  <a:schemeClr val="accent5"/>
                </a:solidFill>
              </a:rPr>
              <a:t>宣傳通路</a:t>
            </a:r>
            <a:endParaRPr sz="1200"/>
          </a:p>
        </p:txBody>
      </p:sp>
      <p:sp>
        <p:nvSpPr>
          <p:cNvPr id="658" name="Google Shape;658;h7efd045f0b640493_12_337"/>
          <p:cNvSpPr txBox="1"/>
          <p:nvPr>
            <p:ph type="title"/>
          </p:nvPr>
        </p:nvSpPr>
        <p:spPr>
          <a:xfrm>
            <a:off x="1325880" y="1097280"/>
            <a:ext cx="95097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TC"/>
              <a:buNone/>
            </a:pPr>
            <a:r>
              <a:rPr b="1" lang="zh-TW" sz="2800">
                <a:solidFill>
                  <a:schemeClr val="dk1"/>
                </a:solidFill>
              </a:rPr>
              <a:t>用社群把飼主帶進來，用每日任務把飼主留下來</a:t>
            </a:r>
            <a:endParaRPr sz="2800"/>
          </a:p>
        </p:txBody>
      </p:sp>
      <p:sp>
        <p:nvSpPr>
          <p:cNvPr id="659" name="Google Shape;659;h7efd045f0b640493_12_337"/>
          <p:cNvSpPr/>
          <p:nvPr/>
        </p:nvSpPr>
        <p:spPr>
          <a:xfrm>
            <a:off x="2007085" y="1901038"/>
            <a:ext cx="1022299" cy="1022299"/>
          </a:xfrm>
          <a:prstGeom prst="ellipse">
            <a:avLst/>
          </a:prstGeom>
          <a:solidFill>
            <a:srgbClr val="F0A2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吸引用戶" id="660" name="Google Shape;660;h7efd045f0b640493_12_3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2320" y="2176272"/>
            <a:ext cx="471830" cy="471830"/>
          </a:xfrm>
          <a:prstGeom prst="rect">
            <a:avLst/>
          </a:prstGeom>
          <a:noFill/>
          <a:ln>
            <a:noFill/>
          </a:ln>
        </p:spPr>
      </p:pic>
      <p:sp>
        <p:nvSpPr>
          <p:cNvPr id="661" name="Google Shape;661;h7efd045f0b640493_12_337"/>
          <p:cNvSpPr/>
          <p:nvPr/>
        </p:nvSpPr>
        <p:spPr>
          <a:xfrm>
            <a:off x="2746286" y="1885310"/>
            <a:ext cx="298826" cy="298826"/>
          </a:xfrm>
          <a:prstGeom prst="ellipse">
            <a:avLst/>
          </a:prstGeom>
          <a:solidFill>
            <a:srgbClr val="B4572C"/>
          </a:solidFill>
          <a:ln cap="flat" cmpd="sng" w="25400">
            <a:solidFill>
              <a:srgbClr val="F8F5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DFA"/>
              </a:buClr>
              <a:buSzPts val="1100"/>
              <a:buFont typeface="Noto Sans TC"/>
              <a:buNone/>
            </a:pPr>
            <a:r>
              <a:rPr b="1" i="0" lang="zh-TW" sz="1100" u="none" cap="none" strike="noStrike">
                <a:solidFill>
                  <a:srgbClr val="FFFDFA"/>
                </a:solidFill>
                <a:latin typeface="Noto Sans TC"/>
                <a:ea typeface="Noto Sans TC"/>
                <a:cs typeface="Noto Sans TC"/>
                <a:sym typeface="Noto Sans TC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662" name="Google Shape;662;h7efd045f0b640493_12_337"/>
          <p:cNvSpPr txBox="1"/>
          <p:nvPr/>
        </p:nvSpPr>
        <p:spPr>
          <a:xfrm>
            <a:off x="1338659" y="3017703"/>
            <a:ext cx="2359152" cy="377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420"/>
              </a:buClr>
              <a:buSzPts val="1800"/>
              <a:buFont typeface="Noto Sans TC"/>
              <a:buNone/>
            </a:pPr>
            <a:r>
              <a:rPr b="1" i="0" lang="zh-TW" sz="1800" u="none" cap="none" strike="noStrike">
                <a:solidFill>
                  <a:srgbClr val="2B2420"/>
                </a:solidFill>
                <a:latin typeface="Noto Sans TC"/>
                <a:ea typeface="Noto Sans TC"/>
                <a:cs typeface="Noto Sans TC"/>
                <a:sym typeface="Noto Sans TC"/>
              </a:rPr>
              <a:t>吸引用戶</a:t>
            </a:r>
            <a:endParaRPr b="0" i="0" sz="18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663" name="Google Shape;663;h7efd045f0b640493_12_337"/>
          <p:cNvSpPr/>
          <p:nvPr/>
        </p:nvSpPr>
        <p:spPr>
          <a:xfrm>
            <a:off x="1456616" y="3513125"/>
            <a:ext cx="2123237" cy="503286"/>
          </a:xfrm>
          <a:prstGeom prst="roundRect">
            <a:avLst>
              <a:gd fmla="val 18750" name="adj"/>
            </a:avLst>
          </a:prstGeom>
          <a:solidFill>
            <a:srgbClr val="FFFDFA"/>
          </a:solidFill>
          <a:ln cap="flat" cmpd="sng" w="12700">
            <a:solidFill>
              <a:srgbClr val="E6DE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h7efd045f0b640493_12_337"/>
          <p:cNvSpPr txBox="1"/>
          <p:nvPr/>
        </p:nvSpPr>
        <p:spPr>
          <a:xfrm>
            <a:off x="1456616" y="3513125"/>
            <a:ext cx="2123237" cy="5032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420"/>
              </a:buClr>
              <a:buSzPts val="1250"/>
              <a:buFont typeface="Noto Sans TC"/>
              <a:buNone/>
            </a:pPr>
            <a:r>
              <a:rPr b="1" i="0" lang="zh-TW" sz="1250" u="none" cap="none" strike="noStrike">
                <a:solidFill>
                  <a:srgbClr val="2B2420"/>
                </a:solidFill>
                <a:latin typeface="Noto Sans TC"/>
                <a:ea typeface="Noto Sans TC"/>
                <a:cs typeface="Noto Sans TC"/>
                <a:sym typeface="Noto Sans TC"/>
              </a:rPr>
              <a:t>網紅入駐</a:t>
            </a:r>
            <a:endParaRPr b="0" i="0" sz="12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44C"/>
              </a:buClr>
              <a:buSzPts val="950"/>
              <a:buFont typeface="Noto Sans TC"/>
              <a:buNone/>
            </a:pPr>
            <a:r>
              <a:rPr b="0" i="0" lang="zh-TW" sz="950" u="none" cap="none" strike="noStrike">
                <a:solidFill>
                  <a:srgbClr val="5E544C"/>
                </a:solidFill>
                <a:latin typeface="Noto Sans TC"/>
                <a:ea typeface="Noto Sans TC"/>
                <a:cs typeface="Noto Sans TC"/>
                <a:sym typeface="Noto Sans TC"/>
              </a:rPr>
              <a:t>粉絲跟著網紅進來</a:t>
            </a:r>
            <a:endParaRPr b="0" i="0" sz="12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665" name="Google Shape;665;h7efd045f0b640493_12_337"/>
          <p:cNvSpPr/>
          <p:nvPr/>
        </p:nvSpPr>
        <p:spPr>
          <a:xfrm>
            <a:off x="1456616" y="4095049"/>
            <a:ext cx="2123237" cy="503286"/>
          </a:xfrm>
          <a:prstGeom prst="roundRect">
            <a:avLst>
              <a:gd fmla="val 18750" name="adj"/>
            </a:avLst>
          </a:prstGeom>
          <a:solidFill>
            <a:srgbClr val="FFFDFA"/>
          </a:solidFill>
          <a:ln cap="flat" cmpd="sng" w="12700">
            <a:solidFill>
              <a:srgbClr val="E6DE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h7efd045f0b640493_12_337"/>
          <p:cNvSpPr txBox="1"/>
          <p:nvPr/>
        </p:nvSpPr>
        <p:spPr>
          <a:xfrm>
            <a:off x="1456616" y="4095049"/>
            <a:ext cx="2123237" cy="5032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420"/>
              </a:buClr>
              <a:buSzPts val="1250"/>
              <a:buFont typeface="Noto Sans TC"/>
              <a:buNone/>
            </a:pPr>
            <a:r>
              <a:rPr b="1" i="0" lang="zh-TW" sz="1250" u="none" cap="none" strike="noStrike">
                <a:solidFill>
                  <a:srgbClr val="2B2420"/>
                </a:solidFill>
                <a:latin typeface="Noto Sans TC"/>
                <a:ea typeface="Noto Sans TC"/>
                <a:cs typeface="Noto Sans TC"/>
                <a:sym typeface="Noto Sans TC"/>
              </a:rPr>
              <a:t>社交全免費</a:t>
            </a:r>
            <a:endParaRPr b="0" i="0" sz="12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44C"/>
              </a:buClr>
              <a:buSzPts val="950"/>
              <a:buFont typeface="Noto Sans TC"/>
              <a:buNone/>
            </a:pPr>
            <a:r>
              <a:rPr b="0" i="0" lang="zh-TW" sz="950" u="none" cap="none" strike="noStrike">
                <a:solidFill>
                  <a:srgbClr val="5E544C"/>
                </a:solidFill>
                <a:latin typeface="Noto Sans TC"/>
                <a:ea typeface="Noto Sans TC"/>
                <a:cs typeface="Noto Sans TC"/>
                <a:sym typeface="Noto Sans TC"/>
              </a:rPr>
              <a:t>發文、按讚都不收費</a:t>
            </a:r>
            <a:endParaRPr b="0" i="0" sz="12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667" name="Google Shape;667;h7efd045f0b640493_12_337"/>
          <p:cNvSpPr/>
          <p:nvPr/>
        </p:nvSpPr>
        <p:spPr>
          <a:xfrm>
            <a:off x="3506130" y="2270638"/>
            <a:ext cx="408920" cy="28309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B457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h7efd045f0b640493_12_337"/>
          <p:cNvSpPr/>
          <p:nvPr/>
        </p:nvSpPr>
        <p:spPr>
          <a:xfrm>
            <a:off x="4391795" y="1901038"/>
            <a:ext cx="1022299" cy="1022299"/>
          </a:xfrm>
          <a:prstGeom prst="ellipse">
            <a:avLst/>
          </a:prstGeom>
          <a:solidFill>
            <a:srgbClr val="F0A2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每日回訪" id="669" name="Google Shape;669;h7efd045f0b640493_12_3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67029" y="2176272"/>
            <a:ext cx="471830" cy="471830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h7efd045f0b640493_12_337"/>
          <p:cNvSpPr/>
          <p:nvPr/>
        </p:nvSpPr>
        <p:spPr>
          <a:xfrm>
            <a:off x="5130996" y="1885310"/>
            <a:ext cx="298826" cy="298826"/>
          </a:xfrm>
          <a:prstGeom prst="ellipse">
            <a:avLst/>
          </a:prstGeom>
          <a:solidFill>
            <a:srgbClr val="B4572C"/>
          </a:solidFill>
          <a:ln cap="flat" cmpd="sng" w="25400">
            <a:solidFill>
              <a:srgbClr val="F8F5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DFA"/>
              </a:buClr>
              <a:buSzPts val="1100"/>
              <a:buFont typeface="Noto Sans TC"/>
              <a:buNone/>
            </a:pPr>
            <a:r>
              <a:rPr b="1" i="0" lang="zh-TW" sz="1100" u="none" cap="none" strike="noStrike">
                <a:solidFill>
                  <a:srgbClr val="FFFDFA"/>
                </a:solidFill>
                <a:latin typeface="Noto Sans TC"/>
                <a:ea typeface="Noto Sans TC"/>
                <a:cs typeface="Noto Sans TC"/>
                <a:sym typeface="Noto Sans TC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671" name="Google Shape;671;h7efd045f0b640493_12_337"/>
          <p:cNvSpPr txBox="1"/>
          <p:nvPr/>
        </p:nvSpPr>
        <p:spPr>
          <a:xfrm>
            <a:off x="3723368" y="3017703"/>
            <a:ext cx="2359152" cy="377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420"/>
              </a:buClr>
              <a:buSzPts val="1800"/>
              <a:buFont typeface="Noto Sans TC"/>
              <a:buNone/>
            </a:pPr>
            <a:r>
              <a:rPr b="1" i="0" lang="zh-TW" sz="1800" u="none" cap="none" strike="noStrike">
                <a:solidFill>
                  <a:srgbClr val="2B2420"/>
                </a:solidFill>
                <a:latin typeface="Noto Sans TC"/>
                <a:ea typeface="Noto Sans TC"/>
                <a:cs typeface="Noto Sans TC"/>
                <a:sym typeface="Noto Sans TC"/>
              </a:rPr>
              <a:t>每日回訪</a:t>
            </a:r>
            <a:endParaRPr b="0" i="0" sz="18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672" name="Google Shape;672;h7efd045f0b640493_12_337"/>
          <p:cNvSpPr/>
          <p:nvPr/>
        </p:nvSpPr>
        <p:spPr>
          <a:xfrm>
            <a:off x="3841326" y="3513125"/>
            <a:ext cx="2123237" cy="503286"/>
          </a:xfrm>
          <a:prstGeom prst="roundRect">
            <a:avLst>
              <a:gd fmla="val 18750" name="adj"/>
            </a:avLst>
          </a:prstGeom>
          <a:solidFill>
            <a:srgbClr val="FFFDFA"/>
          </a:solidFill>
          <a:ln cap="flat" cmpd="sng" w="12700">
            <a:solidFill>
              <a:srgbClr val="E6DE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h7efd045f0b640493_12_337"/>
          <p:cNvSpPr txBox="1"/>
          <p:nvPr/>
        </p:nvSpPr>
        <p:spPr>
          <a:xfrm>
            <a:off x="3841326" y="3513125"/>
            <a:ext cx="2123237" cy="5032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420"/>
              </a:buClr>
              <a:buSzPts val="1250"/>
              <a:buFont typeface="Noto Sans TC"/>
              <a:buNone/>
            </a:pPr>
            <a:r>
              <a:rPr b="1" i="0" lang="zh-TW" sz="1250" u="none" cap="none" strike="noStrike">
                <a:solidFill>
                  <a:srgbClr val="2B2420"/>
                </a:solidFill>
                <a:latin typeface="Noto Sans TC"/>
                <a:ea typeface="Noto Sans TC"/>
                <a:cs typeface="Noto Sans TC"/>
                <a:sym typeface="Noto Sans TC"/>
              </a:rPr>
              <a:t>每日任務</a:t>
            </a:r>
            <a:endParaRPr b="0" i="0" sz="12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44C"/>
              </a:buClr>
              <a:buSzPts val="950"/>
              <a:buFont typeface="Noto Sans TC"/>
              <a:buNone/>
            </a:pPr>
            <a:r>
              <a:rPr b="0" i="0" lang="zh-TW" sz="950" u="none" cap="none" strike="noStrike">
                <a:solidFill>
                  <a:srgbClr val="5E544C"/>
                </a:solidFill>
                <a:latin typeface="Noto Sans TC"/>
                <a:ea typeface="Noto Sans TC"/>
                <a:cs typeface="Noto Sans TC"/>
                <a:sym typeface="Noto Sans TC"/>
              </a:rPr>
              <a:t>登記寵物資訊領獎勵</a:t>
            </a:r>
            <a:endParaRPr b="0" i="0" sz="12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674" name="Google Shape;674;h7efd045f0b640493_12_337"/>
          <p:cNvSpPr/>
          <p:nvPr/>
        </p:nvSpPr>
        <p:spPr>
          <a:xfrm>
            <a:off x="3841326" y="4095049"/>
            <a:ext cx="2123237" cy="503286"/>
          </a:xfrm>
          <a:prstGeom prst="roundRect">
            <a:avLst>
              <a:gd fmla="val 18750" name="adj"/>
            </a:avLst>
          </a:prstGeom>
          <a:solidFill>
            <a:srgbClr val="FFFDFA"/>
          </a:solidFill>
          <a:ln cap="flat" cmpd="sng" w="12700">
            <a:solidFill>
              <a:srgbClr val="E6DE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h7efd045f0b640493_12_337"/>
          <p:cNvSpPr txBox="1"/>
          <p:nvPr/>
        </p:nvSpPr>
        <p:spPr>
          <a:xfrm>
            <a:off x="3841326" y="4095049"/>
            <a:ext cx="2123237" cy="5032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420"/>
              </a:buClr>
              <a:buSzPts val="1250"/>
              <a:buFont typeface="Noto Sans TC"/>
              <a:buNone/>
            </a:pPr>
            <a:r>
              <a:rPr b="1" i="0" lang="zh-TW" sz="1250" u="none" cap="none" strike="noStrike">
                <a:solidFill>
                  <a:srgbClr val="2B2420"/>
                </a:solidFill>
                <a:latin typeface="Noto Sans TC"/>
                <a:ea typeface="Noto Sans TC"/>
                <a:cs typeface="Noto Sans TC"/>
                <a:sym typeface="Noto Sans TC"/>
              </a:rPr>
              <a:t>貼文交流</a:t>
            </a:r>
            <a:endParaRPr b="0" i="0" sz="12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44C"/>
              </a:buClr>
              <a:buSzPts val="950"/>
              <a:buFont typeface="Noto Sans TC"/>
              <a:buNone/>
            </a:pPr>
            <a:r>
              <a:rPr b="0" i="0" lang="zh-TW" sz="950" u="none" cap="none" strike="noStrike">
                <a:solidFill>
                  <a:srgbClr val="5E544C"/>
                </a:solidFill>
                <a:latin typeface="Noto Sans TC"/>
                <a:ea typeface="Noto Sans TC"/>
                <a:cs typeface="Noto Sans TC"/>
                <a:sym typeface="Noto Sans TC"/>
              </a:rPr>
              <a:t>每天上來看同好動態</a:t>
            </a:r>
            <a:endParaRPr b="0" i="0" sz="12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676" name="Google Shape;676;h7efd045f0b640493_12_337"/>
          <p:cNvSpPr/>
          <p:nvPr/>
        </p:nvSpPr>
        <p:spPr>
          <a:xfrm>
            <a:off x="5890839" y="2270638"/>
            <a:ext cx="408920" cy="28309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B457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h7efd045f0b640493_12_337"/>
          <p:cNvSpPr/>
          <p:nvPr/>
        </p:nvSpPr>
        <p:spPr>
          <a:xfrm>
            <a:off x="6776504" y="1901038"/>
            <a:ext cx="1022299" cy="1022299"/>
          </a:xfrm>
          <a:prstGeom prst="ellipse">
            <a:avLst/>
          </a:prstGeom>
          <a:solidFill>
            <a:srgbClr val="2B24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產品教學" id="678" name="Google Shape;678;h7efd045f0b640493_12_3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51739" y="2176272"/>
            <a:ext cx="471830" cy="471830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h7efd045f0b640493_12_337"/>
          <p:cNvSpPr/>
          <p:nvPr/>
        </p:nvSpPr>
        <p:spPr>
          <a:xfrm>
            <a:off x="7515705" y="1885310"/>
            <a:ext cx="298826" cy="298826"/>
          </a:xfrm>
          <a:prstGeom prst="ellipse">
            <a:avLst/>
          </a:prstGeom>
          <a:solidFill>
            <a:srgbClr val="B4572C"/>
          </a:solidFill>
          <a:ln cap="flat" cmpd="sng" w="25400">
            <a:solidFill>
              <a:srgbClr val="F8F5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DFA"/>
              </a:buClr>
              <a:buSzPts val="1100"/>
              <a:buFont typeface="Noto Sans TC"/>
              <a:buNone/>
            </a:pPr>
            <a:r>
              <a:rPr b="1" i="0" lang="zh-TW" sz="1100" u="none" cap="none" strike="noStrike">
                <a:solidFill>
                  <a:srgbClr val="FFFDFA"/>
                </a:solidFill>
                <a:latin typeface="Noto Sans TC"/>
                <a:ea typeface="Noto Sans TC"/>
                <a:cs typeface="Noto Sans TC"/>
                <a:sym typeface="Noto Sans TC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680" name="Google Shape;680;h7efd045f0b640493_12_337"/>
          <p:cNvSpPr txBox="1"/>
          <p:nvPr/>
        </p:nvSpPr>
        <p:spPr>
          <a:xfrm>
            <a:off x="6108078" y="3017703"/>
            <a:ext cx="2359152" cy="377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420"/>
              </a:buClr>
              <a:buSzPts val="1800"/>
              <a:buFont typeface="Noto Sans TC"/>
              <a:buNone/>
            </a:pPr>
            <a:r>
              <a:rPr b="1" i="0" lang="zh-TW" sz="1800" u="none" cap="none" strike="noStrike">
                <a:solidFill>
                  <a:srgbClr val="2B2420"/>
                </a:solidFill>
                <a:latin typeface="Noto Sans TC"/>
                <a:ea typeface="Noto Sans TC"/>
                <a:cs typeface="Noto Sans TC"/>
                <a:sym typeface="Noto Sans TC"/>
              </a:rPr>
              <a:t>產品教學</a:t>
            </a:r>
            <a:endParaRPr b="0" i="0" sz="18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681" name="Google Shape;681;h7efd045f0b640493_12_337"/>
          <p:cNvSpPr/>
          <p:nvPr/>
        </p:nvSpPr>
        <p:spPr>
          <a:xfrm>
            <a:off x="6226035" y="3513125"/>
            <a:ext cx="2123237" cy="503286"/>
          </a:xfrm>
          <a:prstGeom prst="roundRect">
            <a:avLst>
              <a:gd fmla="val 18750" name="adj"/>
            </a:avLst>
          </a:prstGeom>
          <a:solidFill>
            <a:srgbClr val="2B24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h7efd045f0b640493_12_337"/>
          <p:cNvSpPr txBox="1"/>
          <p:nvPr/>
        </p:nvSpPr>
        <p:spPr>
          <a:xfrm>
            <a:off x="6226035" y="3513125"/>
            <a:ext cx="2123237" cy="5032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A27A"/>
              </a:buClr>
              <a:buSzPts val="1250"/>
              <a:buFont typeface="Noto Sans TC"/>
              <a:buNone/>
            </a:pPr>
            <a:r>
              <a:rPr b="1" i="0" lang="zh-TW" sz="1250" u="none" cap="none" strike="noStrike">
                <a:solidFill>
                  <a:srgbClr val="F0A27A"/>
                </a:solidFill>
                <a:latin typeface="Noto Sans TC"/>
                <a:ea typeface="Noto Sans TC"/>
                <a:cs typeface="Noto Sans TC"/>
                <a:sym typeface="Noto Sans TC"/>
              </a:rPr>
              <a:t>中化產品教學</a:t>
            </a:r>
            <a:endParaRPr b="0" i="0" sz="12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DCD2"/>
              </a:buClr>
              <a:buSzPts val="950"/>
              <a:buFont typeface="Noto Sans TC"/>
              <a:buNone/>
            </a:pPr>
            <a:r>
              <a:rPr b="0" i="0" lang="zh-TW" sz="950" u="none" cap="none" strike="noStrike">
                <a:solidFill>
                  <a:srgbClr val="E6DCD2"/>
                </a:solidFill>
                <a:latin typeface="Noto Sans TC"/>
                <a:ea typeface="Noto Sans TC"/>
                <a:cs typeface="Noto Sans TC"/>
                <a:sym typeface="Noto Sans TC"/>
              </a:rPr>
              <a:t>影片示範怎麼正確使用</a:t>
            </a:r>
            <a:endParaRPr b="0" i="0" sz="12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683" name="Google Shape;683;h7efd045f0b640493_12_337"/>
          <p:cNvSpPr/>
          <p:nvPr/>
        </p:nvSpPr>
        <p:spPr>
          <a:xfrm>
            <a:off x="6226035" y="4095049"/>
            <a:ext cx="2123237" cy="503286"/>
          </a:xfrm>
          <a:prstGeom prst="roundRect">
            <a:avLst>
              <a:gd fmla="val 18750" name="adj"/>
            </a:avLst>
          </a:prstGeom>
          <a:solidFill>
            <a:srgbClr val="2B24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h7efd045f0b640493_12_337"/>
          <p:cNvSpPr txBox="1"/>
          <p:nvPr/>
        </p:nvSpPr>
        <p:spPr>
          <a:xfrm>
            <a:off x="6226035" y="4095049"/>
            <a:ext cx="2123237" cy="5032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A27A"/>
              </a:buClr>
              <a:buSzPts val="1250"/>
              <a:buFont typeface="Noto Sans TC"/>
              <a:buNone/>
            </a:pPr>
            <a:r>
              <a:rPr b="1" i="0" lang="zh-TW" sz="1250" u="none" cap="none" strike="noStrike">
                <a:solidFill>
                  <a:srgbClr val="F0A27A"/>
                </a:solidFill>
                <a:latin typeface="Noto Sans TC"/>
                <a:ea typeface="Noto Sans TC"/>
                <a:cs typeface="Noto Sans TC"/>
                <a:sym typeface="Noto Sans TC"/>
              </a:rPr>
              <a:t>帶動產品銷量</a:t>
            </a:r>
            <a:endParaRPr b="0" i="0" sz="12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DCD2"/>
              </a:buClr>
              <a:buSzPts val="950"/>
              <a:buFont typeface="Noto Sans TC"/>
              <a:buNone/>
            </a:pPr>
            <a:r>
              <a:rPr b="0" i="0" lang="zh-TW" sz="950" u="none" cap="none" strike="noStrike">
                <a:solidFill>
                  <a:srgbClr val="E6DCD2"/>
                </a:solidFill>
                <a:latin typeface="Noto Sans TC"/>
                <a:ea typeface="Noto Sans TC"/>
                <a:cs typeface="Noto Sans TC"/>
                <a:sym typeface="Noto Sans TC"/>
              </a:rPr>
              <a:t>會用了，買的人就多</a:t>
            </a:r>
            <a:endParaRPr b="0" i="0" sz="12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685" name="Google Shape;685;h7efd045f0b640493_12_337"/>
          <p:cNvSpPr/>
          <p:nvPr/>
        </p:nvSpPr>
        <p:spPr>
          <a:xfrm>
            <a:off x="8275549" y="2270638"/>
            <a:ext cx="408920" cy="28309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B457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h7efd045f0b640493_12_337"/>
          <p:cNvSpPr/>
          <p:nvPr/>
        </p:nvSpPr>
        <p:spPr>
          <a:xfrm>
            <a:off x="9161214" y="1901038"/>
            <a:ext cx="1022299" cy="1022299"/>
          </a:xfrm>
          <a:prstGeom prst="ellipse">
            <a:avLst/>
          </a:prstGeom>
          <a:solidFill>
            <a:srgbClr val="2B24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廣告變現" id="687" name="Google Shape;687;h7efd045f0b640493_12_3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436448" y="2176272"/>
            <a:ext cx="471830" cy="471830"/>
          </a:xfrm>
          <a:prstGeom prst="rect">
            <a:avLst/>
          </a:prstGeom>
          <a:noFill/>
          <a:ln>
            <a:noFill/>
          </a:ln>
        </p:spPr>
      </p:pic>
      <p:sp>
        <p:nvSpPr>
          <p:cNvPr id="688" name="Google Shape;688;h7efd045f0b640493_12_337"/>
          <p:cNvSpPr/>
          <p:nvPr/>
        </p:nvSpPr>
        <p:spPr>
          <a:xfrm>
            <a:off x="9900415" y="1885310"/>
            <a:ext cx="298826" cy="298826"/>
          </a:xfrm>
          <a:prstGeom prst="ellipse">
            <a:avLst/>
          </a:prstGeom>
          <a:solidFill>
            <a:srgbClr val="B4572C"/>
          </a:solidFill>
          <a:ln cap="flat" cmpd="sng" w="25400">
            <a:solidFill>
              <a:srgbClr val="F8F5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DFA"/>
              </a:buClr>
              <a:buSzPts val="1100"/>
              <a:buFont typeface="Noto Sans TC"/>
              <a:buNone/>
            </a:pPr>
            <a:r>
              <a:rPr b="1" i="0" lang="zh-TW" sz="1100" u="none" cap="none" strike="noStrike">
                <a:solidFill>
                  <a:srgbClr val="FFFDFA"/>
                </a:solidFill>
                <a:latin typeface="Noto Sans TC"/>
                <a:ea typeface="Noto Sans TC"/>
                <a:cs typeface="Noto Sans TC"/>
                <a:sym typeface="Noto Sans TC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689" name="Google Shape;689;h7efd045f0b640493_12_337"/>
          <p:cNvSpPr txBox="1"/>
          <p:nvPr/>
        </p:nvSpPr>
        <p:spPr>
          <a:xfrm>
            <a:off x="8492787" y="3017703"/>
            <a:ext cx="2359152" cy="377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420"/>
              </a:buClr>
              <a:buSzPts val="1800"/>
              <a:buFont typeface="Noto Sans TC"/>
              <a:buNone/>
            </a:pPr>
            <a:r>
              <a:rPr b="1" i="0" lang="zh-TW" sz="1800" u="none" cap="none" strike="noStrike">
                <a:solidFill>
                  <a:srgbClr val="2B2420"/>
                </a:solidFill>
                <a:latin typeface="Noto Sans TC"/>
                <a:ea typeface="Noto Sans TC"/>
                <a:cs typeface="Noto Sans TC"/>
                <a:sym typeface="Noto Sans TC"/>
              </a:rPr>
              <a:t>廣告變現</a:t>
            </a:r>
            <a:endParaRPr b="0" i="0" sz="18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690" name="Google Shape;690;h7efd045f0b640493_12_337"/>
          <p:cNvSpPr/>
          <p:nvPr/>
        </p:nvSpPr>
        <p:spPr>
          <a:xfrm>
            <a:off x="8610745" y="3513125"/>
            <a:ext cx="2123237" cy="503286"/>
          </a:xfrm>
          <a:prstGeom prst="roundRect">
            <a:avLst>
              <a:gd fmla="val 18750" name="adj"/>
            </a:avLst>
          </a:prstGeom>
          <a:solidFill>
            <a:srgbClr val="2B24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h7efd045f0b640493_12_337"/>
          <p:cNvSpPr txBox="1"/>
          <p:nvPr/>
        </p:nvSpPr>
        <p:spPr>
          <a:xfrm>
            <a:off x="8610745" y="3513125"/>
            <a:ext cx="2123237" cy="5032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A27A"/>
              </a:buClr>
              <a:buSzPts val="1250"/>
              <a:buFont typeface="Noto Sans TC"/>
              <a:buNone/>
            </a:pPr>
            <a:r>
              <a:rPr b="1" i="0" lang="zh-TW" sz="1250" u="none" cap="none" strike="noStrike">
                <a:solidFill>
                  <a:srgbClr val="F0A27A"/>
                </a:solidFill>
                <a:latin typeface="Noto Sans TC"/>
                <a:ea typeface="Noto Sans TC"/>
                <a:cs typeface="Noto Sans TC"/>
                <a:sym typeface="Noto Sans TC"/>
              </a:rPr>
              <a:t>導購分潤</a:t>
            </a:r>
            <a:endParaRPr b="0" i="0" sz="12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DCD2"/>
              </a:buClr>
              <a:buSzPts val="950"/>
              <a:buFont typeface="Noto Sans TC"/>
              <a:buNone/>
            </a:pPr>
            <a:r>
              <a:rPr b="0" i="0" lang="zh-TW" sz="950" u="none" cap="none" strike="noStrike">
                <a:solidFill>
                  <a:srgbClr val="E6DCD2"/>
                </a:solidFill>
                <a:latin typeface="Noto Sans TC"/>
                <a:ea typeface="Noto Sans TC"/>
                <a:cs typeface="Noto Sans TC"/>
                <a:sym typeface="Noto Sans TC"/>
              </a:rPr>
              <a:t>網紅推薦用品，成交抽成</a:t>
            </a:r>
            <a:endParaRPr b="0" i="0" sz="12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692" name="Google Shape;692;h7efd045f0b640493_12_337"/>
          <p:cNvSpPr/>
          <p:nvPr/>
        </p:nvSpPr>
        <p:spPr>
          <a:xfrm>
            <a:off x="8610745" y="4095049"/>
            <a:ext cx="2123237" cy="503286"/>
          </a:xfrm>
          <a:prstGeom prst="roundRect">
            <a:avLst>
              <a:gd fmla="val 18750" name="adj"/>
            </a:avLst>
          </a:prstGeom>
          <a:solidFill>
            <a:srgbClr val="2B24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h7efd045f0b640493_12_337"/>
          <p:cNvSpPr txBox="1"/>
          <p:nvPr/>
        </p:nvSpPr>
        <p:spPr>
          <a:xfrm>
            <a:off x="8610745" y="4095049"/>
            <a:ext cx="2123237" cy="5032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A27A"/>
              </a:buClr>
              <a:buSzPts val="1250"/>
              <a:buFont typeface="Noto Sans TC"/>
              <a:buNone/>
            </a:pPr>
            <a:r>
              <a:rPr b="1" i="0" lang="zh-TW" sz="1250" u="none" cap="none" strike="noStrike">
                <a:solidFill>
                  <a:srgbClr val="F0A27A"/>
                </a:solidFill>
                <a:latin typeface="Noto Sans TC"/>
                <a:ea typeface="Noto Sans TC"/>
                <a:cs typeface="Noto Sans TC"/>
                <a:sym typeface="Noto Sans TC"/>
              </a:rPr>
              <a:t>精準廣告</a:t>
            </a:r>
            <a:endParaRPr b="0" i="0" sz="12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DCD2"/>
              </a:buClr>
              <a:buSzPts val="950"/>
              <a:buFont typeface="Noto Sans TC"/>
              <a:buNone/>
            </a:pPr>
            <a:r>
              <a:rPr b="0" i="0" lang="zh-TW" sz="950" u="none" cap="none" strike="noStrike">
                <a:solidFill>
                  <a:srgbClr val="E6DCD2"/>
                </a:solidFill>
                <a:latin typeface="Noto Sans TC"/>
                <a:ea typeface="Noto Sans TC"/>
                <a:cs typeface="Noto Sans TC"/>
                <a:sym typeface="Noto Sans TC"/>
              </a:rPr>
              <a:t>用品商依品種、年齡投放</a:t>
            </a:r>
            <a:endParaRPr b="0" i="0" sz="12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cxnSp>
        <p:nvCxnSpPr>
          <p:cNvPr id="694" name="Google Shape;694;h7efd045f0b640493_12_337"/>
          <p:cNvCxnSpPr/>
          <p:nvPr/>
        </p:nvCxnSpPr>
        <p:spPr>
          <a:xfrm>
            <a:off x="9672363" y="4676973"/>
            <a:ext cx="0" cy="298826"/>
          </a:xfrm>
          <a:prstGeom prst="straightConnector1">
            <a:avLst/>
          </a:prstGeom>
          <a:noFill/>
          <a:ln cap="flat" cmpd="sng" w="28575">
            <a:solidFill>
              <a:srgbClr val="B4572C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695" name="Google Shape;695;h7efd045f0b640493_12_337"/>
          <p:cNvCxnSpPr/>
          <p:nvPr/>
        </p:nvCxnSpPr>
        <p:spPr>
          <a:xfrm>
            <a:off x="2518235" y="4975799"/>
            <a:ext cx="7154128" cy="0"/>
          </a:xfrm>
          <a:prstGeom prst="straightConnector1">
            <a:avLst/>
          </a:prstGeom>
          <a:noFill/>
          <a:ln cap="flat" cmpd="sng" w="28575">
            <a:solidFill>
              <a:srgbClr val="B4572C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696" name="Google Shape;696;h7efd045f0b640493_12_337"/>
          <p:cNvCxnSpPr/>
          <p:nvPr/>
        </p:nvCxnSpPr>
        <p:spPr>
          <a:xfrm rot="10800000">
            <a:off x="2518235" y="4676973"/>
            <a:ext cx="0" cy="298826"/>
          </a:xfrm>
          <a:prstGeom prst="straightConnector1">
            <a:avLst/>
          </a:prstGeom>
          <a:noFill/>
          <a:ln cap="flat" cmpd="sng" w="28575">
            <a:solidFill>
              <a:srgbClr val="B4572C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697" name="Google Shape;697;h7efd045f0b640493_12_337"/>
          <p:cNvSpPr/>
          <p:nvPr/>
        </p:nvSpPr>
        <p:spPr>
          <a:xfrm>
            <a:off x="3736147" y="4787067"/>
            <a:ext cx="4718304" cy="377464"/>
          </a:xfrm>
          <a:prstGeom prst="roundRect">
            <a:avLst>
              <a:gd fmla="val 50000" name="adj"/>
            </a:avLst>
          </a:prstGeom>
          <a:solidFill>
            <a:srgbClr val="F8F5F0"/>
          </a:solidFill>
          <a:ln cap="flat" cmpd="sng" w="15875">
            <a:solidFill>
              <a:srgbClr val="B457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572C"/>
              </a:buClr>
              <a:buSzPts val="1200"/>
              <a:buFont typeface="Noto Sans TC"/>
              <a:buNone/>
            </a:pPr>
            <a:r>
              <a:rPr b="1" i="0" lang="zh-TW" sz="1200" u="none" cap="none" strike="noStrike">
                <a:solidFill>
                  <a:srgbClr val="B4572C"/>
                </a:solidFill>
                <a:latin typeface="Noto Sans TC"/>
                <a:ea typeface="Noto Sans TC"/>
                <a:cs typeface="Noto Sans TC"/>
                <a:sym typeface="Noto Sans TC"/>
              </a:rPr>
              <a:t>人越多 → 網紅與廣告主越想進來 → 內容越多 → 人更多</a:t>
            </a:r>
            <a:endParaRPr b="0" i="0" sz="12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698" name="Google Shape;698;h7efd045f0b640493_12_337"/>
          <p:cNvSpPr/>
          <p:nvPr/>
        </p:nvSpPr>
        <p:spPr>
          <a:xfrm>
            <a:off x="1325880" y="5439766"/>
            <a:ext cx="9538838" cy="550469"/>
          </a:xfrm>
          <a:prstGeom prst="roundRect">
            <a:avLst>
              <a:gd fmla="val 17143" name="adj"/>
            </a:avLst>
          </a:prstGeom>
          <a:solidFill>
            <a:srgbClr val="DDF0E9"/>
          </a:solidFill>
          <a:ln cap="flat" cmpd="sng" w="12700">
            <a:solidFill>
              <a:srgbClr val="BFE3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信任基礎" id="699" name="Google Shape;699;h7efd045f0b640493_12_33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546068" y="5549859"/>
            <a:ext cx="330281" cy="330281"/>
          </a:xfrm>
          <a:prstGeom prst="rect">
            <a:avLst/>
          </a:prstGeom>
          <a:noFill/>
          <a:ln>
            <a:noFill/>
          </a:ln>
        </p:spPr>
      </p:pic>
      <p:sp>
        <p:nvSpPr>
          <p:cNvPr id="700" name="Google Shape;700;h7efd045f0b640493_12_337"/>
          <p:cNvSpPr txBox="1"/>
          <p:nvPr/>
        </p:nvSpPr>
        <p:spPr>
          <a:xfrm>
            <a:off x="1994306" y="5439766"/>
            <a:ext cx="8752454" cy="5504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4F"/>
              </a:buClr>
              <a:buSzPts val="1400"/>
              <a:buFont typeface="Noto Sans TC"/>
              <a:buNone/>
            </a:pPr>
            <a:r>
              <a:rPr b="1" i="0" lang="zh-TW" sz="1400" u="none" cap="none" strike="noStrike">
                <a:solidFill>
                  <a:srgbClr val="00664F"/>
                </a:solidFill>
                <a:latin typeface="Noto Sans TC"/>
                <a:ea typeface="Noto Sans TC"/>
                <a:cs typeface="Noto Sans TC"/>
                <a:sym typeface="Noto Sans TC"/>
              </a:rPr>
              <a:t>信任基礎　</a:t>
            </a:r>
            <a:r>
              <a:rPr b="0" i="0" lang="zh-TW" sz="1400" u="none" cap="none" strike="noStrike">
                <a:solidFill>
                  <a:srgbClr val="2B2420"/>
                </a:solidFill>
                <a:latin typeface="Noto Sans TC"/>
                <a:ea typeface="Noto Sans TC"/>
                <a:cs typeface="Noto Sans TC"/>
                <a:sym typeface="Noto Sans TC"/>
              </a:rPr>
              <a:t>貼文可檢舉・廣告與業配標示清楚・不進問診與報告頁</a:t>
            </a:r>
            <a:endParaRPr b="0" i="0" sz="14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701" name="Google Shape;701;h7efd045f0b640493_12_337"/>
          <p:cNvSpPr txBox="1"/>
          <p:nvPr/>
        </p:nvSpPr>
        <p:spPr>
          <a:xfrm>
            <a:off x="11466500" y="6266250"/>
            <a:ext cx="38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1</a:t>
            </a:r>
            <a:r>
              <a:rPr lang="zh-TW"/>
              <a:t>4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h7efd045f0b640493_12_385"/>
          <p:cNvSpPr txBox="1"/>
          <p:nvPr>
            <p:ph idx="1" type="body"/>
          </p:nvPr>
        </p:nvSpPr>
        <p:spPr>
          <a:xfrm>
            <a:off x="1325880" y="804672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</a:pPr>
            <a:r>
              <a:rPr b="1" lang="zh-TW" sz="1200">
                <a:solidFill>
                  <a:schemeClr val="accent5"/>
                </a:solidFill>
              </a:rPr>
              <a:t>成本與效益評估</a:t>
            </a:r>
            <a:endParaRPr sz="1200"/>
          </a:p>
        </p:txBody>
      </p:sp>
      <p:sp>
        <p:nvSpPr>
          <p:cNvPr id="708" name="Google Shape;708;h7efd045f0b640493_12_385"/>
          <p:cNvSpPr txBox="1"/>
          <p:nvPr>
            <p:ph type="title"/>
          </p:nvPr>
        </p:nvSpPr>
        <p:spPr>
          <a:xfrm>
            <a:off x="1325880" y="1097280"/>
            <a:ext cx="95097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TC"/>
              <a:buNone/>
            </a:pPr>
            <a:r>
              <a:rPr b="1" lang="zh-TW" sz="2800">
                <a:solidFill>
                  <a:schemeClr val="dk1"/>
                </a:solidFill>
              </a:rPr>
              <a:t>前兩年投資，第 3 年起年獲利 190–260 萬，第 4 年回本</a:t>
            </a:r>
            <a:endParaRPr sz="2800"/>
          </a:p>
        </p:txBody>
      </p:sp>
      <p:sp>
        <p:nvSpPr>
          <p:cNvPr id="709" name="Google Shape;709;h7efd045f0b640493_12_385"/>
          <p:cNvSpPr/>
          <p:nvPr/>
        </p:nvSpPr>
        <p:spPr>
          <a:xfrm>
            <a:off x="1325880" y="1806672"/>
            <a:ext cx="5779922" cy="3892601"/>
          </a:xfrm>
          <a:prstGeom prst="roundRect">
            <a:avLst>
              <a:gd fmla="val 2424" name="adj"/>
            </a:avLst>
          </a:prstGeom>
          <a:solidFill>
            <a:srgbClr val="FFFDFA"/>
          </a:solidFill>
          <a:ln cap="flat" cmpd="sng" w="12700">
            <a:solidFill>
              <a:srgbClr val="E6DE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h7efd045f0b640493_12_385"/>
          <p:cNvSpPr txBox="1"/>
          <p:nvPr/>
        </p:nvSpPr>
        <p:spPr>
          <a:xfrm>
            <a:off x="1561795" y="1948221"/>
            <a:ext cx="3931920" cy="2830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420"/>
              </a:buClr>
              <a:buSzPts val="1450"/>
              <a:buFont typeface="Noto Sans TC"/>
              <a:buNone/>
            </a:pPr>
            <a:r>
              <a:rPr b="1" i="0" lang="zh-TW" sz="1450" u="none" cap="none" strike="noStrike">
                <a:solidFill>
                  <a:srgbClr val="2B2420"/>
                </a:solidFill>
                <a:latin typeface="Noto Sans TC"/>
                <a:ea typeface="Noto Sans TC"/>
                <a:cs typeface="Noto Sans TC"/>
                <a:sym typeface="Noto Sans TC"/>
              </a:rPr>
              <a:t>每年收益 vs. 營運成本</a:t>
            </a:r>
            <a:endParaRPr b="0" i="0" sz="14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711" name="Google Shape;711;h7efd045f0b640493_12_385"/>
          <p:cNvSpPr txBox="1"/>
          <p:nvPr/>
        </p:nvSpPr>
        <p:spPr>
          <a:xfrm>
            <a:off x="1561795" y="2215591"/>
            <a:ext cx="3931920" cy="235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44C"/>
              </a:buClr>
              <a:buSzPts val="1000"/>
              <a:buFont typeface="Noto Sans TC"/>
              <a:buNone/>
            </a:pPr>
            <a:r>
              <a:rPr b="0" i="0" lang="zh-TW" sz="1000" u="none" cap="none" strike="noStrike">
                <a:solidFill>
                  <a:srgbClr val="5E544C"/>
                </a:solidFill>
                <a:latin typeface="Noto Sans TC"/>
                <a:ea typeface="Noto Sans TC"/>
                <a:cs typeface="Noto Sans TC"/>
                <a:sym typeface="Noto Sans TC"/>
              </a:rPr>
              <a:t>單位：萬元</a:t>
            </a:r>
            <a:endParaRPr b="0" i="0" sz="10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712" name="Google Shape;712;h7efd045f0b640493_12_385"/>
          <p:cNvSpPr/>
          <p:nvPr/>
        </p:nvSpPr>
        <p:spPr>
          <a:xfrm>
            <a:off x="7302398" y="1806672"/>
            <a:ext cx="3562320" cy="2241194"/>
          </a:xfrm>
          <a:prstGeom prst="roundRect">
            <a:avLst>
              <a:gd fmla="val 4211" name="adj"/>
            </a:avLst>
          </a:prstGeom>
          <a:solidFill>
            <a:srgbClr val="FFFDFA"/>
          </a:solidFill>
          <a:ln cap="flat" cmpd="sng" w="12700">
            <a:solidFill>
              <a:srgbClr val="E6DE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h7efd045f0b640493_12_385"/>
          <p:cNvSpPr txBox="1"/>
          <p:nvPr/>
        </p:nvSpPr>
        <p:spPr>
          <a:xfrm>
            <a:off x="7498994" y="1948221"/>
            <a:ext cx="1965960" cy="2830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420"/>
              </a:buClr>
              <a:buSzPts val="1450"/>
              <a:buFont typeface="Noto Sans TC"/>
              <a:buNone/>
            </a:pPr>
            <a:r>
              <a:rPr b="1" i="0" lang="zh-TW" sz="1450" u="none" cap="none" strike="noStrike">
                <a:solidFill>
                  <a:srgbClr val="2B2420"/>
                </a:solidFill>
                <a:latin typeface="Noto Sans TC"/>
                <a:ea typeface="Noto Sans TC"/>
                <a:cs typeface="Noto Sans TC"/>
                <a:sym typeface="Noto Sans TC"/>
              </a:rPr>
              <a:t>累計損益</a:t>
            </a:r>
            <a:endParaRPr b="0" i="0" sz="14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714" name="Google Shape;714;h7efd045f0b640493_12_385"/>
          <p:cNvSpPr txBox="1"/>
          <p:nvPr/>
        </p:nvSpPr>
        <p:spPr>
          <a:xfrm>
            <a:off x="7498994" y="2215591"/>
            <a:ext cx="3145536" cy="235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44C"/>
              </a:buClr>
              <a:buSzPts val="1000"/>
              <a:buFont typeface="Noto Sans TC"/>
              <a:buNone/>
            </a:pPr>
            <a:r>
              <a:rPr b="0" i="0" lang="zh-TW" sz="1000" u="none" cap="none" strike="noStrike">
                <a:solidFill>
                  <a:srgbClr val="5E544C"/>
                </a:solidFill>
                <a:latin typeface="Noto Sans TC"/>
                <a:ea typeface="Noto Sans TC"/>
                <a:cs typeface="Noto Sans TC"/>
                <a:sym typeface="Noto Sans TC"/>
              </a:rPr>
              <a:t>已扣除開發費 200 萬</a:t>
            </a:r>
            <a:endParaRPr b="0" i="0" sz="10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715" name="Google Shape;715;h7efd045f0b640493_12_385"/>
          <p:cNvSpPr/>
          <p:nvPr/>
        </p:nvSpPr>
        <p:spPr>
          <a:xfrm>
            <a:off x="7302398" y="4165824"/>
            <a:ext cx="3562320" cy="1533449"/>
          </a:xfrm>
          <a:prstGeom prst="roundRect">
            <a:avLst>
              <a:gd fmla="val 6154" name="adj"/>
            </a:avLst>
          </a:prstGeom>
          <a:solidFill>
            <a:srgbClr val="2B24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h7efd045f0b640493_12_385"/>
          <p:cNvSpPr txBox="1"/>
          <p:nvPr/>
        </p:nvSpPr>
        <p:spPr>
          <a:xfrm>
            <a:off x="7498994" y="4275917"/>
            <a:ext cx="3145536" cy="25164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3EE"/>
              </a:buClr>
              <a:buSzPts val="1200"/>
              <a:buFont typeface="Noto Sans TC"/>
              <a:buNone/>
            </a:pPr>
            <a:r>
              <a:rPr b="1" i="0" lang="zh-TW" sz="1200" u="none" cap="none" strike="noStrike">
                <a:solidFill>
                  <a:srgbClr val="F7F3EE"/>
                </a:solidFill>
                <a:latin typeface="Noto Sans TC"/>
                <a:ea typeface="Noto Sans TC"/>
                <a:cs typeface="Noto Sans TC"/>
                <a:sym typeface="Noto Sans TC"/>
              </a:rPr>
              <a:t>預期效益｜飼主用戶</a:t>
            </a:r>
            <a:endParaRPr b="0" i="0" sz="12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717" name="Google Shape;717;h7efd045f0b640493_12_385"/>
          <p:cNvSpPr txBox="1"/>
          <p:nvPr/>
        </p:nvSpPr>
        <p:spPr>
          <a:xfrm>
            <a:off x="7498994" y="4574743"/>
            <a:ext cx="1494130" cy="5504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A27A"/>
              </a:buClr>
              <a:buSzPts val="3250"/>
              <a:buFont typeface="Noto Sans TC"/>
              <a:buNone/>
            </a:pPr>
            <a:r>
              <a:rPr b="1" lang="zh-TW" sz="3250">
                <a:solidFill>
                  <a:srgbClr val="F0A27A"/>
                </a:solidFill>
                <a:latin typeface="Noto Sans TC"/>
                <a:ea typeface="Noto Sans TC"/>
                <a:cs typeface="Noto Sans TC"/>
                <a:sym typeface="Noto Sans TC"/>
              </a:rPr>
              <a:t>21</a:t>
            </a:r>
            <a:r>
              <a:rPr b="1" i="0" lang="zh-TW" sz="3250" u="none" cap="none" strike="noStrike">
                <a:solidFill>
                  <a:srgbClr val="F0A27A"/>
                </a:solidFill>
                <a:latin typeface="Noto Sans TC"/>
                <a:ea typeface="Noto Sans TC"/>
                <a:cs typeface="Noto Sans TC"/>
                <a:sym typeface="Noto Sans TC"/>
              </a:rPr>
              <a:t> 萬</a:t>
            </a:r>
            <a:endParaRPr b="0" i="0" sz="32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718" name="Google Shape;718;h7efd045f0b640493_12_385"/>
          <p:cNvSpPr txBox="1"/>
          <p:nvPr/>
        </p:nvSpPr>
        <p:spPr>
          <a:xfrm>
            <a:off x="7498994" y="5140940"/>
            <a:ext cx="1651406" cy="220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DCD2"/>
              </a:buClr>
              <a:buSzPts val="1000"/>
              <a:buFont typeface="Noto Sans TC"/>
              <a:buNone/>
            </a:pPr>
            <a:r>
              <a:rPr b="0" i="0" lang="zh-TW" sz="1000" u="none" cap="none" strike="noStrike">
                <a:solidFill>
                  <a:srgbClr val="E6DCD2"/>
                </a:solidFill>
                <a:latin typeface="Noto Sans TC"/>
                <a:ea typeface="Noto Sans TC"/>
                <a:cs typeface="Noto Sans TC"/>
                <a:sym typeface="Noto Sans TC"/>
              </a:rPr>
              <a:t>位飼主用戶（第 3 年）</a:t>
            </a:r>
            <a:endParaRPr b="0" i="0" sz="10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719" name="Google Shape;719;h7efd045f0b640493_12_385"/>
          <p:cNvSpPr/>
          <p:nvPr/>
        </p:nvSpPr>
        <p:spPr>
          <a:xfrm>
            <a:off x="9071762" y="5153718"/>
            <a:ext cx="361737" cy="34404"/>
          </a:xfrm>
          <a:prstGeom prst="rect">
            <a:avLst/>
          </a:prstGeom>
          <a:solidFill>
            <a:srgbClr val="8A6F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h7efd045f0b640493_12_385"/>
          <p:cNvSpPr txBox="1"/>
          <p:nvPr/>
        </p:nvSpPr>
        <p:spPr>
          <a:xfrm>
            <a:off x="8953805" y="4941395"/>
            <a:ext cx="597652" cy="1965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3EE"/>
              </a:buClr>
              <a:buSzPts val="950"/>
              <a:buFont typeface="Noto Sans TC"/>
              <a:buNone/>
            </a:pPr>
            <a:r>
              <a:rPr b="1" lang="zh-TW" sz="950">
                <a:solidFill>
                  <a:srgbClr val="F7F3EE"/>
                </a:solidFill>
                <a:latin typeface="Noto Sans TC"/>
                <a:ea typeface="Noto Sans TC"/>
                <a:cs typeface="Noto Sans TC"/>
                <a:sym typeface="Noto Sans TC"/>
              </a:rPr>
              <a:t>1.5</a:t>
            </a:r>
            <a:r>
              <a:rPr b="1" i="0" lang="zh-TW" sz="950" u="none" cap="none" strike="noStrike">
                <a:solidFill>
                  <a:srgbClr val="F7F3EE"/>
                </a:solidFill>
                <a:latin typeface="Noto Sans TC"/>
                <a:ea typeface="Noto Sans TC"/>
                <a:cs typeface="Noto Sans TC"/>
                <a:sym typeface="Noto Sans TC"/>
              </a:rPr>
              <a:t> 萬</a:t>
            </a:r>
            <a:endParaRPr b="0" i="0" sz="9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721" name="Google Shape;721;h7efd045f0b640493_12_385"/>
          <p:cNvSpPr txBox="1"/>
          <p:nvPr/>
        </p:nvSpPr>
        <p:spPr>
          <a:xfrm>
            <a:off x="8953805" y="5211714"/>
            <a:ext cx="597652" cy="1730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BCB0"/>
              </a:buClr>
              <a:buSzPts val="850"/>
              <a:buFont typeface="Noto Sans TC"/>
              <a:buNone/>
            </a:pPr>
            <a:r>
              <a:rPr b="0" i="0" lang="zh-TW" sz="850" u="none" cap="none" strike="noStrike">
                <a:solidFill>
                  <a:srgbClr val="C9BCB0"/>
                </a:solidFill>
                <a:latin typeface="Noto Sans TC"/>
                <a:ea typeface="Noto Sans TC"/>
                <a:cs typeface="Noto Sans TC"/>
                <a:sym typeface="Noto Sans TC"/>
              </a:rPr>
              <a:t>第1年</a:t>
            </a:r>
            <a:endParaRPr b="0" i="0" sz="8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722" name="Google Shape;722;h7efd045f0b640493_12_385"/>
          <p:cNvSpPr/>
          <p:nvPr/>
        </p:nvSpPr>
        <p:spPr>
          <a:xfrm>
            <a:off x="9637959" y="5050506"/>
            <a:ext cx="361737" cy="137617"/>
          </a:xfrm>
          <a:prstGeom prst="rect">
            <a:avLst/>
          </a:prstGeom>
          <a:solidFill>
            <a:srgbClr val="8A6F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h7efd045f0b640493_12_385"/>
          <p:cNvSpPr txBox="1"/>
          <p:nvPr/>
        </p:nvSpPr>
        <p:spPr>
          <a:xfrm>
            <a:off x="9520001" y="4838182"/>
            <a:ext cx="597652" cy="1965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3EE"/>
              </a:buClr>
              <a:buSzPts val="950"/>
              <a:buFont typeface="Noto Sans TC"/>
              <a:buNone/>
            </a:pPr>
            <a:r>
              <a:rPr b="1" lang="zh-TW" sz="950">
                <a:solidFill>
                  <a:srgbClr val="F7F3EE"/>
                </a:solidFill>
                <a:latin typeface="Noto Sans TC"/>
                <a:ea typeface="Noto Sans TC"/>
                <a:cs typeface="Noto Sans TC"/>
                <a:sym typeface="Noto Sans TC"/>
              </a:rPr>
              <a:t>6.5</a:t>
            </a:r>
            <a:r>
              <a:rPr b="1" i="0" lang="zh-TW" sz="950" u="none" cap="none" strike="noStrike">
                <a:solidFill>
                  <a:srgbClr val="F7F3EE"/>
                </a:solidFill>
                <a:latin typeface="Noto Sans TC"/>
                <a:ea typeface="Noto Sans TC"/>
                <a:cs typeface="Noto Sans TC"/>
                <a:sym typeface="Noto Sans TC"/>
              </a:rPr>
              <a:t>萬</a:t>
            </a:r>
            <a:endParaRPr b="0" i="0" sz="9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724" name="Google Shape;724;h7efd045f0b640493_12_385"/>
          <p:cNvSpPr txBox="1"/>
          <p:nvPr/>
        </p:nvSpPr>
        <p:spPr>
          <a:xfrm>
            <a:off x="9520001" y="5211714"/>
            <a:ext cx="597652" cy="1730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BCB0"/>
              </a:buClr>
              <a:buSzPts val="850"/>
              <a:buFont typeface="Noto Sans TC"/>
              <a:buNone/>
            </a:pPr>
            <a:r>
              <a:rPr b="0" i="0" lang="zh-TW" sz="850" u="none" cap="none" strike="noStrike">
                <a:solidFill>
                  <a:srgbClr val="C9BCB0"/>
                </a:solidFill>
                <a:latin typeface="Noto Sans TC"/>
                <a:ea typeface="Noto Sans TC"/>
                <a:cs typeface="Noto Sans TC"/>
                <a:sym typeface="Noto Sans TC"/>
              </a:rPr>
              <a:t>第2年</a:t>
            </a:r>
            <a:endParaRPr b="0" i="0" sz="8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725" name="Google Shape;725;h7efd045f0b640493_12_385"/>
          <p:cNvSpPr/>
          <p:nvPr/>
        </p:nvSpPr>
        <p:spPr>
          <a:xfrm>
            <a:off x="10204155" y="4637654"/>
            <a:ext cx="361737" cy="550469"/>
          </a:xfrm>
          <a:prstGeom prst="rect">
            <a:avLst/>
          </a:prstGeom>
          <a:solidFill>
            <a:srgbClr val="F0A2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h7efd045f0b640493_12_385"/>
          <p:cNvSpPr txBox="1"/>
          <p:nvPr/>
        </p:nvSpPr>
        <p:spPr>
          <a:xfrm>
            <a:off x="10086198" y="4425330"/>
            <a:ext cx="597652" cy="1965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3EE"/>
              </a:buClr>
              <a:buSzPts val="950"/>
              <a:buFont typeface="Noto Sans TC"/>
              <a:buNone/>
            </a:pPr>
            <a:r>
              <a:rPr b="1" lang="zh-TW" sz="950">
                <a:solidFill>
                  <a:srgbClr val="F7F3EE"/>
                </a:solidFill>
                <a:latin typeface="Noto Sans TC"/>
                <a:ea typeface="Noto Sans TC"/>
                <a:cs typeface="Noto Sans TC"/>
                <a:sym typeface="Noto Sans TC"/>
              </a:rPr>
              <a:t>21.3</a:t>
            </a:r>
            <a:r>
              <a:rPr b="1" i="0" lang="zh-TW" sz="950" u="none" cap="none" strike="noStrike">
                <a:solidFill>
                  <a:srgbClr val="F7F3EE"/>
                </a:solidFill>
                <a:latin typeface="Noto Sans TC"/>
                <a:ea typeface="Noto Sans TC"/>
                <a:cs typeface="Noto Sans TC"/>
                <a:sym typeface="Noto Sans TC"/>
              </a:rPr>
              <a:t> 萬</a:t>
            </a:r>
            <a:endParaRPr b="0" i="0" sz="9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727" name="Google Shape;727;h7efd045f0b640493_12_385"/>
          <p:cNvSpPr txBox="1"/>
          <p:nvPr/>
        </p:nvSpPr>
        <p:spPr>
          <a:xfrm>
            <a:off x="10086198" y="5211714"/>
            <a:ext cx="597652" cy="1730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BCB0"/>
              </a:buClr>
              <a:buSzPts val="850"/>
              <a:buFont typeface="Noto Sans TC"/>
              <a:buNone/>
            </a:pPr>
            <a:r>
              <a:rPr b="0" i="0" lang="zh-TW" sz="850" u="none" cap="none" strike="noStrike">
                <a:solidFill>
                  <a:srgbClr val="C9BCB0"/>
                </a:solidFill>
                <a:latin typeface="Noto Sans TC"/>
                <a:ea typeface="Noto Sans TC"/>
                <a:cs typeface="Noto Sans TC"/>
                <a:sym typeface="Noto Sans TC"/>
              </a:rPr>
              <a:t>第3年</a:t>
            </a:r>
            <a:endParaRPr b="0" i="0" sz="8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728" name="Google Shape;728;h7efd045f0b640493_12_385"/>
          <p:cNvSpPr txBox="1"/>
          <p:nvPr/>
        </p:nvSpPr>
        <p:spPr>
          <a:xfrm>
            <a:off x="7498994" y="5424038"/>
            <a:ext cx="3247766" cy="220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BCB0"/>
              </a:buClr>
              <a:buSzPts val="900"/>
              <a:buFont typeface="Noto Sans TC"/>
              <a:buNone/>
            </a:pPr>
            <a:r>
              <a:rPr b="0" i="0" lang="zh-TW" sz="900" u="none" cap="none" strike="noStrike">
                <a:solidFill>
                  <a:srgbClr val="C9BCB0"/>
                </a:solidFill>
                <a:latin typeface="Noto Sans TC"/>
                <a:ea typeface="Noto Sans TC"/>
                <a:cs typeface="Noto Sans TC"/>
                <a:sym typeface="Noto Sans TC"/>
              </a:rPr>
              <a:t>全台約 </a:t>
            </a:r>
            <a:r>
              <a:rPr lang="zh-TW" sz="900">
                <a:solidFill>
                  <a:srgbClr val="C9BCB0"/>
                </a:solidFill>
                <a:latin typeface="Noto Sans TC"/>
                <a:ea typeface="Noto Sans TC"/>
                <a:cs typeface="Noto Sans TC"/>
                <a:sym typeface="Noto Sans TC"/>
              </a:rPr>
              <a:t>213</a:t>
            </a:r>
            <a:r>
              <a:rPr b="0" i="0" lang="zh-TW" sz="900" u="none" cap="none" strike="noStrike">
                <a:solidFill>
                  <a:srgbClr val="C9BCB0"/>
                </a:solidFill>
                <a:latin typeface="Noto Sans TC"/>
                <a:ea typeface="Noto Sans TC"/>
                <a:cs typeface="Noto Sans TC"/>
                <a:sym typeface="Noto Sans TC"/>
              </a:rPr>
              <a:t>萬位飼主 × 滲透率 10%</a:t>
            </a:r>
            <a:endParaRPr b="0" i="0" sz="9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729" name="Google Shape;729;h7efd045f0b640493_12_385"/>
          <p:cNvSpPr txBox="1"/>
          <p:nvPr/>
        </p:nvSpPr>
        <p:spPr>
          <a:xfrm>
            <a:off x="1325880" y="5832958"/>
            <a:ext cx="9538838" cy="235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44C"/>
              </a:buClr>
              <a:buSzPts val="900"/>
              <a:buFont typeface="Noto Sans TC"/>
              <a:buNone/>
            </a:pPr>
            <a:r>
              <a:rPr b="0" i="0" lang="zh-TW" sz="900" u="none" cap="none" strike="noStrike">
                <a:solidFill>
                  <a:srgbClr val="5E544C"/>
                </a:solidFill>
                <a:latin typeface="Noto Sans TC"/>
                <a:ea typeface="Noto Sans TC"/>
                <a:cs typeface="Noto Sans TC"/>
                <a:sym typeface="Noto Sans TC"/>
              </a:rPr>
              <a:t>推估：全台約 320 萬隻犬貓 ≈ </a:t>
            </a:r>
            <a:r>
              <a:rPr lang="zh-TW" sz="900">
                <a:solidFill>
                  <a:srgbClr val="5E544C"/>
                </a:solidFill>
                <a:latin typeface="Noto Sans TC"/>
                <a:ea typeface="Noto Sans TC"/>
                <a:cs typeface="Noto Sans TC"/>
                <a:sym typeface="Noto Sans TC"/>
              </a:rPr>
              <a:t>213</a:t>
            </a:r>
            <a:r>
              <a:rPr b="0" i="0" lang="zh-TW" sz="900" u="none" cap="none" strike="noStrike">
                <a:solidFill>
                  <a:srgbClr val="5E544C"/>
                </a:solidFill>
                <a:latin typeface="Noto Sans TC"/>
                <a:ea typeface="Noto Sans TC"/>
                <a:cs typeface="Noto Sans TC"/>
                <a:sym typeface="Noto Sans TC"/>
              </a:rPr>
              <a:t>萬位飼主；用戶第 1–3 年1.5 、</a:t>
            </a:r>
            <a:r>
              <a:rPr lang="zh-TW" sz="900">
                <a:solidFill>
                  <a:srgbClr val="5E544C"/>
                </a:solidFill>
                <a:latin typeface="Noto Sans TC"/>
                <a:ea typeface="Noto Sans TC"/>
                <a:cs typeface="Noto Sans TC"/>
                <a:sym typeface="Noto Sans TC"/>
              </a:rPr>
              <a:t>6.5</a:t>
            </a:r>
            <a:r>
              <a:rPr b="0" i="0" lang="zh-TW" sz="900" u="none" cap="none" strike="noStrike">
                <a:solidFill>
                  <a:srgbClr val="5E544C"/>
                </a:solidFill>
                <a:latin typeface="Noto Sans TC"/>
                <a:ea typeface="Noto Sans TC"/>
                <a:cs typeface="Noto Sans TC"/>
                <a:sym typeface="Noto Sans TC"/>
              </a:rPr>
              <a:t>、</a:t>
            </a:r>
            <a:r>
              <a:rPr lang="zh-TW" sz="900">
                <a:solidFill>
                  <a:srgbClr val="5E544C"/>
                </a:solidFill>
                <a:latin typeface="Noto Sans TC"/>
                <a:ea typeface="Noto Sans TC"/>
                <a:cs typeface="Noto Sans TC"/>
                <a:sym typeface="Noto Sans TC"/>
              </a:rPr>
              <a:t>21.3</a:t>
            </a:r>
            <a:r>
              <a:rPr b="0" i="0" lang="zh-TW" sz="900" u="none" cap="none" strike="noStrike">
                <a:solidFill>
                  <a:srgbClr val="5E544C"/>
                </a:solidFill>
                <a:latin typeface="Noto Sans TC"/>
                <a:ea typeface="Noto Sans TC"/>
                <a:cs typeface="Noto Sans TC"/>
                <a:sym typeface="Noto Sans TC"/>
              </a:rPr>
              <a:t> 萬，第 4–5 年滲透率 11%、12%（飼主年增 3.45%）；成本取中間值；廣告每千次曝光 US$3；開發費 200 萬。</a:t>
            </a:r>
            <a:endParaRPr sz="900">
              <a:solidFill>
                <a:srgbClr val="5E544C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730" name="Google Shape;730;h7efd045f0b640493_12_385"/>
          <p:cNvSpPr txBox="1"/>
          <p:nvPr/>
        </p:nvSpPr>
        <p:spPr>
          <a:xfrm>
            <a:off x="11487475" y="6280175"/>
            <a:ext cx="38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1</a:t>
            </a:r>
            <a:r>
              <a:rPr lang="zh-TW"/>
              <a:t>5</a:t>
            </a:r>
            <a:endParaRPr/>
          </a:p>
        </p:txBody>
      </p:sp>
      <p:pic>
        <p:nvPicPr>
          <p:cNvPr id="731" name="Google Shape;731;h7efd045f0b640493_12_385" title="圖表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3975" y="2651300"/>
            <a:ext cx="4822410" cy="2981838"/>
          </a:xfrm>
          <a:prstGeom prst="rect">
            <a:avLst/>
          </a:prstGeom>
          <a:noFill/>
          <a:ln>
            <a:noFill/>
          </a:ln>
        </p:spPr>
      </p:pic>
      <p:pic>
        <p:nvPicPr>
          <p:cNvPr id="732" name="Google Shape;732;h7efd045f0b640493_12_385" title="圖表"/>
          <p:cNvPicPr preferRelativeResize="0"/>
          <p:nvPr/>
        </p:nvPicPr>
        <p:blipFill rotWithShape="1">
          <a:blip r:embed="rId4">
            <a:alphaModFix/>
          </a:blip>
          <a:srcRect b="2258" l="1854" r="4966" t="8513"/>
          <a:stretch/>
        </p:blipFill>
        <p:spPr>
          <a:xfrm>
            <a:off x="7479338" y="2472502"/>
            <a:ext cx="3184849" cy="14521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自訂設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Zhonghua Warm">
  <a:themeElements>
    <a:clrScheme name="Zhonghua Warm">
      <a:dk1>
        <a:srgbClr val="2B2420"/>
      </a:dk1>
      <a:lt1>
        <a:srgbClr val="FFFDFA"/>
      </a:lt1>
      <a:dk2>
        <a:srgbClr val="5E544C"/>
      </a:dk2>
      <a:lt2>
        <a:srgbClr val="F8F5F0"/>
      </a:lt2>
      <a:accent1>
        <a:srgbClr val="C2410C"/>
      </a:accent1>
      <a:accent2>
        <a:srgbClr val="00876A"/>
      </a:accent2>
      <a:accent3>
        <a:srgbClr val="8A817A"/>
      </a:accent3>
      <a:accent4>
        <a:srgbClr val="5B8DB0"/>
      </a:accent4>
      <a:accent5>
        <a:srgbClr val="B4572C"/>
      </a:accent5>
      <a:accent6>
        <a:srgbClr val="F0A27A"/>
      </a:accent6>
      <a:hlink>
        <a:srgbClr val="1E5AA8"/>
      </a:hlink>
      <a:folHlink>
        <a:srgbClr val="5B8DB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Zhonghua Warm">
  <a:themeElements>
    <a:clrScheme name="Zhonghua Warm">
      <a:dk1>
        <a:srgbClr val="2B2420"/>
      </a:dk1>
      <a:lt1>
        <a:srgbClr val="FFFDFA"/>
      </a:lt1>
      <a:dk2>
        <a:srgbClr val="5E544C"/>
      </a:dk2>
      <a:lt2>
        <a:srgbClr val="F7F3EE"/>
      </a:lt2>
      <a:accent1>
        <a:srgbClr val="C2410C"/>
      </a:accent1>
      <a:accent2>
        <a:srgbClr val="00876A"/>
      </a:accent2>
      <a:accent3>
        <a:srgbClr val="8A817A"/>
      </a:accent3>
      <a:accent4>
        <a:srgbClr val="5B8DB0"/>
      </a:accent4>
      <a:accent5>
        <a:srgbClr val="B4572C"/>
      </a:accent5>
      <a:accent6>
        <a:srgbClr val="F0A27A"/>
      </a:accent6>
      <a:hlink>
        <a:srgbClr val="1E5AA8"/>
      </a:hlink>
      <a:folHlink>
        <a:srgbClr val="5B8DB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Zhonghua Warm">
  <a:themeElements>
    <a:clrScheme name="Zhonghua Warm">
      <a:dk1>
        <a:srgbClr val="2B2420"/>
      </a:dk1>
      <a:lt1>
        <a:srgbClr val="FFFDFA"/>
      </a:lt1>
      <a:dk2>
        <a:srgbClr val="5E544C"/>
      </a:dk2>
      <a:lt2>
        <a:srgbClr val="F7F3EE"/>
      </a:lt2>
      <a:accent1>
        <a:srgbClr val="C2410C"/>
      </a:accent1>
      <a:accent2>
        <a:srgbClr val="00876A"/>
      </a:accent2>
      <a:accent3>
        <a:srgbClr val="8A817A"/>
      </a:accent3>
      <a:accent4>
        <a:srgbClr val="5B8DB0"/>
      </a:accent4>
      <a:accent5>
        <a:srgbClr val="B4572C"/>
      </a:accent5>
      <a:accent6>
        <a:srgbClr val="F0A27A"/>
      </a:accent6>
      <a:hlink>
        <a:srgbClr val="1E5AA8"/>
      </a:hlink>
      <a:folHlink>
        <a:srgbClr val="5B8DB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2026-07-15T01:46:38Z</dcterms:created>
  <dc:creator>王之妤</dc:creator>
</cp:coreProperties>
</file>